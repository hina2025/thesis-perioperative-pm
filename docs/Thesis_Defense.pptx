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9538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(0:00–0:30):
"Good morning, respected examiners, Dr. Mahmood, faculty members, and colleagues. My name is Hina Farheen, and today I will present my Master's thesis on Surgical Process Discovery for Scheduling Optimisation. This work applies process mining to real perioperative data from the Aga Khan University Hospital in Karachi, with the goal of improving surgical scheduling through data-driven workflow understanding. The presentation will take approximately 20 to 22 minutes, and I welcome your questions at the end."
TIME: 30 seconds.
POTENTIAL QUESTIONS:
Q: "Why this specific hospital?"
A: "AKUH is a major tertiary care institution in Karachi with digitized perioperative records spanning multiple years. Dr. Asad Latif, an anesthesiologist there, provided the dataset and clinical guidance from the earliest stages of this research."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(0:30–1:00):
"I'll begin by framing the operational problem — why surgical scheduling is so difficult and costly. Then the three research gaps this thesis addresses and our four research questions. I'll briefly position the work in the literature before diving into the core methodological contribution: the Bayesian Heuristic Miner. The results section covers both structural discovery and temporal analysis from 162,000 real surgical cases. Finally: recommendations, contributions, limitations, and future work."
TIME: 30 seconds. Trace the six cards left-to-right, top-to-bottom with your hand.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(1:00–2:00):
"Let me make this concrete. Two surgeons at the same hospital, both scheduled for what the system treats as the same 45-minute procedure. Surgeon A consistently takes 75 minutes — every case pushes the whole day back. Surgeon B finishes in 20 — but the next patient isn't ready, so the OR sits empty for 25 minutes. Both situations waste the same scarce resource. This isn't hypothetical; it's daily reality in most tertiary hospitals, including AKUH where our data comes from. The OR represents 16 to 20 percent of total hospital budget, yet scheduling relies on fixed estimates that ignore this variability."
EMPHASIS: Pause after "both situations waste the same scarce resource." Gesture at the two timeline bars.
POTENTIAL QUESTIONS:
Q: "Is this problem specific to AKUH or universal?"
A: "The literature confirms it's universal. Van Veen-Berkx et al. (2015) documented utilisation problems across sixteen Dutch hospitals. Celik et al. (2025) confirm it remains a top-cited challenge in digitized surgical departments. AKUH faces the same structural pressures, typically with less slack than higher-resource settings."
CAUTION: If you quote the 16–20% budget figure with an author name, double-check the citation first — in the thesis text it appears next to one of the swapped Schwendimann/Martinez-Millana citations (see Defense Preparation Guide, Part 2). Safest phrasing: state the number without attributing it to a specific author.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(2:00–3:00):
"Beneath the scheduling symptom, I identified three deeper gaps. First, no data-derived baseline of the real surgical process — hospitals have the WHO Surgical Safety Checklist on paper, but nobody has analyzed what the hospital information system actually recorded across 162,000 cases. Second, no principled way to separate meaningful rare events from noise. Some rare transitions are genuine clinical exceptions — an emergency case bypassing elective preoperative steps. Others are data-entry inconsistencies. A frequency count cannot tell the difference. Third, no quantified picture of where delays concentrate. A five-minute delay recurring in a high-volume transition carries far larger cumulative cost than a dramatic but rare multi-hour delay."
EMPHASIS: Slow down on Gap 2 — it is the core motivation. Use hand gestures to separate the three gaps. Build to the banner at the bottom.
TIME: 1 minute.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(3:00–4:00):
"These gaps translate into four research questions. RQ1: can process mining discover a reliable baseline model — not just hospital-wide, but broken down by thirteen specialties, four theatre locations, and individual high-volume surgeons? RQ2 is the methodological heart of this thesis: can a statistically calibrated dependency measure give us justified confidence in rare transitions? RQ3 connects structure to timing — where do delays concentrate, and for whom? RQ4 keeps this from being purely academic: what can the hospital's scheduling and quality teams actually do with the findings?"
EMPHASIS: Physically point to RQ2 when calling it "the methodological heart." Brief pause after each RQ.
TIME: 1 minute.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(4:00–5:00):
"The literature review followed PRISMA across five databases. From 167 initial records we synthesized 16 final studies. The field shows distinct publication waves — peaks in 2015, 2019, and 2025 — rather than smooth growth. Venues split roughly evenly between technical and clinical, reflecting the genuinely interdisciplinary nature of the area. The critical finding: despite the Heuristic Miner being one of the most widely used discovery algorithms in clinical settings, no prior published work modifies its pairwise dependency calculation to account for sample size during discovery itself. Existing Bayesian treatments either replace the entire formalism with Bayesian Networks — Moreira 2015 — or add a probabilistic layer after discovery is complete — Janssenswillen 2020. Neither intervenes at the point where edges are first selected. That is the gap this thesis addresses."
EMPHASIS: Slow down on the key finding — this is the novelty claim. Make "during" vs "after" discovery unmistakable.
TIME: 1 minute.
POTENTIAL QUESTIONS:
Q: "Only 16 studies — enough to claim a gap?"
A: "The search deliberately targeted a narrow intersection: process mining in perioperative settings, statistical treatments of discovery uncertainty, and algorithm comparisons. That intersection is small by design; the 16 studies cover it comprehensively. The gap claim is precise and falsifiable — I verified it against each study individually, and the Santos et al. 2025 tertiary review independently confirms it."
Q: "What if a relevant paper appeared after your review?"
A: "An inherent limitation of any review. The most recent studies cited — Aversano et al. and Santos et al., both 2025 — were published during the review window and confirm the gap remained open. Anything published since submission would be incorporated in future work."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(5:00–6:00):
"The methodology is three connected stages, not three independent analyses. Stage 1 establishes a frequency-based baseline with the classical Heuristic Miner — the dominant pathway, about seventeen edges, near-linear from Admission to Discharge. Stage 2 is the core contribution: we replace the classical dependency measure with a Bayesian posterior mean, which surfaces nearly double the edges — critically, structured into confirmed core, high-confidence exceptions, and review-class edges. Stage 3 annotates the structural backbone with durations, using both mean and median to avoid the misleading conclusions either statistic alone produces. The connecting logic: the same statistical concern applied to two aspects of the same data — how much confidence does a transition deserve, and how much time does it cost?"
EMPHASIS: Trace the pipeline left to right with your hand. Pause on Stage 2: "this is where the innovation lives." Say "connected stages, not independent analyses" explicitly.
TIME: 1 minute.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(6:00–7:00):
"Before showing the fix, let me show the failure precisely. The classical dependency measure is a frequency ratio. It treats every pair of counts as equally reliable regardless of absolute scale: a transition observed fourteen times and one observed a hundred and sixty thousand times can receive numerically similar scores if their ratios are similar. Statistically, we should place far less confidence in fourteen observations. The +1 in the denominator is a fixed, ad-hoc correction that does not scale with evidence. And the measure has no way to encode clinical knowledge — that some sequences, like Prep Start to Incision, are near-deterministic by design. In our log, activity pairs differ in evidence by four orders of magnitude, and the measure is completely blind to that."
EMPHASIS: This slide sets up the contribution — let the 14 vs 160,000 contrast breathe.
TIME: 1 minute. [This intuition slide was in Claude's original deck; Kimi compressed it into bullets — restored here because it makes the next slide land.]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(7:00–9:00) — SLOW DOWN, THIS IS THE TECHNICAL CORE:
"Our solution treats the true transition probability as an unknown quantity to be estimated with appropriate uncertainty. We model the observed forward count as a Binomial outcome and place a Beta prior over the unknown probability. Because Beta is conjugate to Binomial, the posterior is available in closed form — no simulation needed — and the whole computation stays at O(N plus k-squared); with fifteen activities, k-squared is just 225 pairs, negligible. The posterior mean becomes the new dependency score.
The priors are domain-informed: alpha five, beta one for near-deterministic sequences like Prep Start to Incision; three-one for the cleaning sub-process; two-one for rare-but-important transitions; and neutral one-one for everything else. When the observed count is large relative to the prior, the posterior converges to the classical formula — so the modification is conservative by design. It leaves the dominant backbone essentially unchanged and only improves how rare transitions are handled."
EMPHASIS: Point to each formula component. Land hard on "conservative by design." Explain why closed form matters (tractability at scale — vs MCMC).
TIME: 2 minutes.
POTENTIAL QUESTIONS:
Q: "Why Beta-Binomial, not another Bayesian model?"
A: "Conjugacy gives a closed-form posterior — MCMC across 225 activity pairs on 162,000 cases would be computationally prohibitive, and Janssenswillen et al. only afford it post-hoc. The posterior mean has a natural interpretation as a weighted average of prior belief and data. And both the Beta and the resulting score are naturally bounded, matching the classical measure's range."
Q: "Aren't the priors circular — you assumed the pathway you found?"
A: "Two answers. First, magnitude: core-pathway counts are in the tens of thousands to hundreds of thousands, so an alpha of five is numerically negligible there — the data completely dominates. Second, the interesting findings — the five exception patterns — emerged on transitions carrying NEUTRAL one-one priors. The priors did not put them there."
Q: "How sensitive are results to the prior values?"
A: HONEST ANSWER — do not claim a formal sensitivity analysis (none was run): "I did not run a formal sensitivity analysis, and I list that as a limitation with prior elicitation as future work. But the convergence property bounds the risk analytically: for any pair with substantial counts the prior contribution vanishes, and the review-class edges are explicitly flagged for clinical validation rather than asserted — so prior misspecification cannot silently create false core findings."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(9:00–10:00):
"Two complementary paths. The depth-first path applies the full three-stage pipeline to all 162,286 cases — directly answering RQ1 through RQ3 at institution level. The breadth-first path repeats the identical pipeline across twenty-two subgroup re-runs: thirteen specialties, four theatre locations, and the five highest-volume surgeons — testing whether findings generalize beyond the aggregate and feeding RQ4. Both paths use identical tools and parameters, ensuring comparability, and converge on the results and recommendations."
TIME: 1 minute.
POTENTIAL QUESTIONS:
Q: "Why thresholds θ_dep = 0.5 and θ_freq = 10?"
A: "These are standard values in the Heuristic Miner literature, and 0.5 is also the pm4py library default — so the baseline is evaluated on its own home turf, not handicapped. Importantly, both models use the SAME thresholds, so the comparison isolates the effect of the dependency measure itself." (Do NOT claim a threshold sensitivity analysis was run — it wasn't; if pressed, acknowledge it as a reasonable robustness check for future work.)
Q: "Why no cross-validation?"
A: "Process discovery is unsupervised — there is no ground-truth model to hold out. The standard evaluation is to measure the discovered model against the log on fitness, precision, generalization, and simplicity, which is what we do."
Q: "Aren't the subgroup results overfitting?"
A: "Two safeguards: identical parameters across all 22 re-runs, and the observed result is stability — even the busiest single surgeon's model is nearly identical to the institution-wide backbone. Overfitting would show as divergent structures and collapsing metrics; we see neither."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(10:00–11:00):
"The data comes from AKUH's combined clinical systems — CCMS, ADT, HIMS, pharmacy, and blood bank — with fifteen timestamped perioperative milestones from Admission to Discharge. The raw extract had 445,897 cases. Cleaning was rigorous: we require a recorded incision timestamp; remove chronologically impossible timestamps — the largest single step, over 150,000 cases, indicating default or malformed values in the source system rather than anything surgical; fix post-discharge timestamps; apply a date filter; and reconstruct missing specialty labels by keyword matching on procedure descriptions. Final dataset: 162,286 cases. I want to be transparent: that is a 64 percent loss, and it is a real limitation — the representativeness of retained versus excluded cases cannot be fully verified."
EMPHASIS: Do not rush the 64% admission — volunteering it earns credibility before examiners raise it.
TIME: 1 minute.
POTENTIAL QUESTIONS:
Q: "With two-thirds of the data discarded, how can we trust the findings?"
A: "The majority of losses were chronologically impossible timestamps — perioperative events recorded before admission — which points to system defaults, not clinical selection. 162,286 cases still makes this one of the larger perioperative process mining studies in the literature. The core pathway is stable across all 22 subgroup re-runs, and the key temporal finding is independently corroborated in unrelated Turkish hospital data. Still, replication with cleaner source data would strengthen confidence, and fixing timestamp capture is literally our first governance recommendation."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(11:00–13:00):
"The baseline produced seventeen edges — a clean near-linear pathway. The Bayesian model produced thirty-two, nearly double. But the critical difference is not the count, it's the STRUCTURE. Ten edges carry full confidence of one-point-zero — the confirmed core. Five more are high-confidence exceptions we can name and interpret: cases skipping from Admission directly to Patient In; skipping the Timeout before Recovery In; and most significantly, over one thousand cases where incision was recorded BEFORE the WHO Surgical Safety Checklist sign-out Timeout. The baseline cannot surface this because it has no mechanism for confidence in rare transitions. The remaining seventeen edges are low-frequency — fourteen to twenty-three cases each — and are explicitly flagged for clinical review rather than asserted as fact. That is the direct answer to RQ2: the Bayesian measure doesn't just change numbers, it changes what we can SAY about the data."
EMPHASIS: Pause on "thirty-two, nearly double." Slow right down on exception 5 — it is the most clinically significant finding of the thesis. Repeat "flagged for review, not asserted as fact."
TIME: 2 minutes.
POTENTIAL QUESTIONS:
Q: "32 edges vs 17 — isn't that just more complexity?"
A: "More edges, but more structured. The baseline's 17 are undifferentiated — you cannot tell which are reliable. The Bayesian 32 are categorized: 10 confirmed core, 5 interpreted exceptions, 17 flagged for review. And the F-measure rising from 0.854 to 0.896 confirms the net effect is more accurate, not merely more complex."
Q: "How do you explain Incision-before-Timeout?"
A: "Three possibilities: documentation lag — performed correctly, logged late; genuine protocol deviation; or a system artifact in what the timestamp field captures. The log alone cannot distinguish them — which is exactly why the recommendation is a targeted chart review, not a conclusion of wrongdoing. The finding is robust enough to warrant investigation; that is the honest claim."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(13:00–13:45):
"These are the actual discovered models from the thesis. On the left, the baseline: a clean spine. On the right, the Bayesian model: the same spine — deliberately preserved by the convergence property — plus the exception structure around it. Note that both were mined from the same log with the same thresholds; the only change is the dependency measure. Everything you see added on the right is what statistical calibration made visible."
EMPHASIS: Physically point at the identical backbone in both maps first, THEN at the additional edges — this visually proves "conservative by design."
TIME: 45 seconds. [Kimi's deck described these results but included no actual thesis figures — restored from Claude's deck: showing YOUR real outputs matters enormously in a viva.]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(13:45–15:30):
"The temporal analysis reveals a finding both dramatic and operationally critical. For Patient Sent to Discharge, the MEAN is ten days — the MEDIAN is ten minutes. [PAUSE 2–3 SECONDS.] This is not a typo. The typical case completes in minutes; a small number of extreme cases — likely administrative discharge delays, not clinical ones — drag the mean to ten days. If the hospital reports only the mean, every scheduling decision built on that number is wrong.
The pattern differs by specialty. Cardiac surgery is genuinely long at almost every step — three hours incision to dressing, thirty-six minutes through recovery, seven days recovery to discharge. Ophthalmology's delays are confined almost entirely to the shared admission-side issue. So: intraoperative and recovery delay is specialty-specific; admission-side delay is institution-wide. And this is independently corroborated — Özdağoğlu and colleagues, different hospital, different country, different algorithm, same mean-median gap."
EMPHASIS: The 10-days/10-minutes contrast is your most memorable moment — deliver it slowly with a real pause. Point at each number.
TIME: ~1.75 minutes.
POTENTIAL QUESTIONS:
Q: "Couldn't the divergence be a data artifact?"
A: "Three lines of evidence say otherwise. Clinical plausibility — it appears on transitions with clear operational interpretations, not randomly. Internal consistency — the same pattern recurs across specialties and locations. And independent corroboration — Özdağoğlu et al. found the identical phenomenon in unrelated data with a different algorithm. Artifacts remain possible for individual values, which is why timestamp quality is our first recommendation."
Q: "Why 7 days recovery-to-discharge for cardiac?"
A: "It plausibly reflects genuine clinical reality — extended monitoring, step-down care, comorbid discharge planning. The point is not that seven days is surprising; it's that scheduling must account for it: booking a cardiac case without confirming downstream bed availability disrupts the schedule even when the OR itself runs perfectly."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(15:30–16:15):
"The breadth-first runs confirm the structural backbone is stable across all subgroups — but timing is not. Top row: cardiac versus ophthalmology, the same fifteen activities on completely different clocks. Bottom row: average surgery time per surgeon at two locations. Notice the rankings are not stable — a surgeon who is relatively fast in the Main OR is not necessarily fast in Same Day Care. This matters for scheduling: surgeon identity alone is an incomplete predictor; it interacts with location and case mix. This aligns with Bartek et al. 2019, where surgeon identity contributed around thirteen percent of duration variability and surgeon-specific models cut overage substantially."
EMPHASIS: The instability of surgeon rankings across locations is the non-obvious insight — most people assume "fast surgeon is fast everywhere."
TIME: 45 seconds. [These are the thesis's own breadth-first figures — Kimi's deck had no slide for the surgeon×location results at all, despite them motivating the entire scheduling story.]
POTENTIAL QUESTIONS:
Q: "Why only 5 surgeons?"
A: "Volume constraints — discovery needs sufficient cases per subgroup for reliability. The top five collectively represent a substantial share of total volume; below that, per-surgeon logs get too thin for meaningful models. The scope is process discovery, not individual surgeon profiling."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(16:15–17:45):
"The Bayesian model outperforms the baseline on every metric except simplicity, where the decrease is a deliberate, acknowledged trade-off — we retain more edges to capture interpretable exceptions. Fitness improves because the model replays more real behavior. Precision improves — meaning the added edges reflect genuine transitions, not overgeneralization. Generalization improves — we are not overfitting. F-measure rises nearly five percent.
The comparison with my Thesis I work is instructive. Thesis I modified the Alpha Miner with HARD constraints on the public BPIC2011 log — if a transition violated a clinical rule it was discarded regardless of frequency. That proved over-restrictive: fitness and generalization dropped below baseline. This thesis takes the opposite approach — soft probabilistic calibration that discounts rather than discards — and improves across the board. I also ran classical Alpha on this log: it produced a model with 0.580 density and 0.273 determinism versus the Heuristic family's 0.104 and 0.818 — structurally unusable for clinical interpretation — confirming the Heuristic Miner as the right base algorithm."
EMPHASIS: "Discounts rather than discards" is the sentence that summarizes the methodological lesson between the two theses. Precision rising DESPITE more edges is the counterintuitive point — flag it.
TIME: 1.5 minutes.
POTENTIAL QUESTIONS:
Q: "How can precision rise when you add edges?"
A: "Precision penalizes behavior the model allows but the log doesn't contain. The added edges correspond to behavior that IS in the log — the exceptions — so allowing them reduces the mismatch. Extra edges lower precision only when they license unobserved behavior; these don't."
Q: "Why not Fuzzy Miner?"
A: "Fuzzy Miner filters by significance/correlation for visualization — related but different. It provides no sample-size-aware confidence per edge, so it cannot distinguish a confirmed rare pathway from noise. Özdağoğlu et al. used it and could describe the same temporal pattern, but not calibrate structural confidence. The approaches are complementary."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(17:45–18:45):
"Sixteen recommendations in four categories. Structural: make the Bayesian-confirmed pathway the official reference, and — most important — a targeted chart review of the thousand-plus incision-before-Timeout cases, which has a direct patient-safety dimension. Temporal: report median alongside mean everywhere; prioritize improvement by frequency times delay, not by drama. Specialty-level: different buffers per specialty; confirm a recovery bed before booking cardiac cases. Governance: fix timestamp quality FIRST, then dashboards, then alerts — alerts built on unreliable data generate false alarms and destroy clinical trust. Critically, most of these need no new capital or tooling — only changes to how data the hospital already collects is reported, reviewed, and acted upon. The thesis also documents five options that were considered and deliberately NOT adopted, with reasons."
EMPHASIS: Highlight R3 (safety) and R5 (mean-median). "No new tooling" is the operational-realism claim — say it plainly.
TIME: 1 minute.
POTENTIAL QUESTIONS:
Q: "What resistance would you expect from clinical staff?"
A: "Three kinds. 'We already know this' — data-derived confirmation is what converts anecdote into resource decisions. 'The data is wrong' — a fair concern, which is why data quality is recommendation one. 'This is surveillance' — the analysis is at process level, not individual blame, and the framing is system improvement."
Q: "How would implementation actually proceed?"
A: "Phased, per R13: data quality first with IT, then specialty dashboards, then alerts with named owners. Even the smallest step — reporting median alongside mean — could be adopted almost immediately and would already prevent materially misleading numbers." (If asked for exact timelines, give ranges as opinion, not thesis content — the thesis does not specify implementation durations.)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(18:45–20:00):
"Four contributions. First, the Bayesian extension to the Heuristic Miner's dependency measure — to our knowledge the first to embed calibration during discovery itself. Second, scale: 162,000 real cases, the first log-derived characterization of surgical process behavior at this institution. Third, the connected structural-temporal framework — the same statistical reasoning underlying both frequency confidence and duration confidence. Fourth, sixteen operationally realistic recommendations the hospital can act on directly.
And equally clearly, the limitations. The priors are analyst-assumed, not formally elicited — the most important theoretical limitation. We lost 64 percent of the raw data in cleaning and cannot fully verify representativeness. It is a single-institution study. We analyze process timing only, with no linkage to outcomes or severity. And there is no standardized benchmark for calibrated dependency measures, limiting external comparability."
EMPHASIS: Confident on contributions, humble on limitations. Do NOT rush the limitations — examiners reward honesty here. Note the thesis text says "four contributions" but §6.4 lists three — know your four cleanly (this list) in case an examiner counts.
TIME: 1.25 minutes.
POTENTIAL QUESTIONS:
Q: "Is this sufficient for a Master's thesis?"
A: "The contribution spans three levels — methodological (a novel algorithmic extension with derivation, complexity analysis, and implementation), empirical (one of the larger real-world perioperative logs in the literature), and practical (sixteen usable recommendations). The methodological layer alone would qualify; the other two add value."
Q: "What would it take to publish?"
A: "Two additions: formal prior elicitation with clinicians, and validation on at least one more institution. Then it would suit a venue like the Journal of Biomedical Informatics or the International Conference on Process Mining."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(20:00–21:00):
"Five directions, each following from a limitation. First and most important: formal prior elicitation — asking surgical and anesthetic staff what proportions they expect before seeing data, replacing my analyst defaults with genuine clinical expertise. Second, a hierarchical Bayesian model that learns priors from the data's own structure. Third, the dedicated chart review of the checklist-sequencing cases — the log alone cannot distinguish documentation lag from real deviation. Fourth, multi-institutional validation. Fifth, deploying the dashboard on the live feed in the phased order: data quality, then dashboard, then alerts."
EMPHASIS: Item 1 connects to the main limitation — make that link explicit. Item 3 connects to the headline finding.
TIME: 1 minute.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(21:00–22:00):
"To conclude, three takeaways. One: surgical scheduling can be grounded in data rather than guesswork — 162,000 cases resolve into an 83 percent canonical pathway and five named, interpretable exception categories, not undifferentiated noise. Two: statistical calibration during discovery changes what we can say about rare events — it surfaced a checklist-sequencing deviation the frequency-only baseline completely missed. Three: mean and median together prevent materially misleading conclusions — a ten-day mean versus a ten-minute median is not a statistical curiosity, it is an operational disaster if only the mean is reported.
[SLOWLY:] A well-targeted statistical correction to an existing, trusted discovery algorithm, applied to data a hospital already collects, can surface specific, actionable findings that neither informal clinical experience nor an uncorrected frequency count could reveal.
Thank you. I'm happy to take your questions."
EMPHASIS: Deliver the closing line slowly. Eye contact with each examiner. "Thank you" confident, not apologetic. Open posture for Q&amp;A.
TIME: 1 minute.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STANCE:
- Listen fully; repeat the question back ("So your question is whether…") to buy thinking time.
- Structure answers: "Three points. First… Second… Third…"
- If unsure: "I don't have a confident answer, but my reasoning is…" — never bluff.
- Plain-language fallback for the method (for a skeptical clinician): "The prior is a clinical hunch; the data is what actually happened; the posterior is the updated belief. With lots of data the hunch stops mattering."
TOP 5 QUESTIONS TO EXPECT:
1. Defend the 64% case loss → system-default timestamps, stability across 22 re-runs, external corroboration, R13.
2. Why Beta-Binomial specifically → conjugacy/closed form at scale, interpretability, bounded.
3. What is genuinely novel → intervention point: DURING discovery (vs Moreira: replaces formalism; Janssenswillen: after discovery).
4. Prior circularity → α=5 vs counts of 10,000+; exceptions emerged on NEUTRAL priors.
5. Why no clinical outcome linkage → scope separation is deliberate and literature-endorsed (Celik et al. 2025); outcomes = future work.
KEY NUMBERS CARD: 162,286 final | 445,897 raw (64% loss) | 17→32 edges | 10 core = 1.000 | 5 exceptions | 1,003 Incision-before-Timeout (0.948) | 83/17 split | 10d vs 10min | F: 0.854→0.896 | precision 0.781→0.834 | 13 specialties, 4 locations, 5 surgeons, 22 re-runs | θdep=0.5, θfreq=10 | k=15, k²=225 | priors 5/1, 3/1, 2/1, 1/1.</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65D"/>
        </a:solidFill>
        <a:effectLst/>
      </p:bgPr>
    </p:bg>
    <p:spTree>
      <p:nvGrpSpPr>
        <p:cNvPr id="1" name=""/>
        <p:cNvGrpSpPr/>
        <p:nvPr/>
      </p:nvGrpSpPr>
      <p:grpSpPr>
        <a:xfrm>
          <a:off x="0" y="0"/>
          <a:ext cx="0" cy="0"/>
          <a:chOff x="0" y="0"/>
          <a:chExt cx="0" cy="0"/>
        </a:xfrm>
      </p:grpSpPr>
      <p:sp>
        <p:nvSpPr>
          <p:cNvPr id="2" name="Shape 0"/>
          <p:cNvSpPr/>
          <p:nvPr/>
        </p:nvSpPr>
        <p:spPr>
          <a:xfrm>
            <a:off x="7498080" y="0"/>
            <a:ext cx="4690872" cy="6858000"/>
          </a:xfrm>
          <a:prstGeom prst="rect">
            <a:avLst/>
          </a:prstGeom>
          <a:solidFill>
            <a:srgbClr val="2C5282">
              <a:alpha val="65000"/>
            </a:srgbClr>
          </a:solidFill>
          <a:ln/>
        </p:spPr>
        <p:txBody>
          <a:bodyPr/>
          <a:lstStyle/>
          <a:p>
            <a:endParaRPr lang="en-US"/>
          </a:p>
        </p:txBody>
      </p:sp>
      <p:sp>
        <p:nvSpPr>
          <p:cNvPr id="3" name="Shape 1"/>
          <p:cNvSpPr/>
          <p:nvPr/>
        </p:nvSpPr>
        <p:spPr>
          <a:xfrm>
            <a:off x="9692640" y="0"/>
            <a:ext cx="2496312" cy="6858000"/>
          </a:xfrm>
          <a:prstGeom prst="rect">
            <a:avLst/>
          </a:prstGeom>
          <a:solidFill>
            <a:srgbClr val="3B6EA5">
              <a:alpha val="45000"/>
            </a:srgbClr>
          </a:solidFill>
          <a:ln/>
        </p:spPr>
        <p:txBody>
          <a:bodyPr/>
          <a:lstStyle/>
          <a:p>
            <a:endParaRPr lang="en-US"/>
          </a:p>
        </p:txBody>
      </p:sp>
      <p:sp>
        <p:nvSpPr>
          <p:cNvPr id="4" name="Text 2"/>
          <p:cNvSpPr/>
          <p:nvPr/>
        </p:nvSpPr>
        <p:spPr>
          <a:xfrm>
            <a:off x="822960" y="1005840"/>
            <a:ext cx="10515600" cy="365760"/>
          </a:xfrm>
          <a:prstGeom prst="rect">
            <a:avLst/>
          </a:prstGeom>
          <a:noFill/>
          <a:ln/>
        </p:spPr>
        <p:txBody>
          <a:bodyPr wrap="square" rtlCol="0" anchor="ctr"/>
          <a:lstStyle/>
          <a:p>
            <a:pPr marL="0" indent="0">
              <a:buNone/>
            </a:pPr>
            <a:r>
              <a:rPr lang="en-US" sz="1200" b="1" kern="0" spc="200" dirty="0">
                <a:solidFill>
                  <a:srgbClr val="90CDF4"/>
                </a:solidFill>
                <a:latin typeface="Segoe UI" pitchFamily="34" charset="0"/>
                <a:ea typeface="Segoe UI" pitchFamily="34" charset="-122"/>
                <a:cs typeface="Segoe UI" pitchFamily="34" charset="-120"/>
              </a:rPr>
              <a:t>M A S T E R   O F   S C I E N C E   I N   D A T A   S C I E N C E</a:t>
            </a:r>
            <a:endParaRPr lang="en-US" sz="1200" dirty="0"/>
          </a:p>
        </p:txBody>
      </p:sp>
      <p:sp>
        <p:nvSpPr>
          <p:cNvPr id="5" name="Text 3"/>
          <p:cNvSpPr/>
          <p:nvPr/>
        </p:nvSpPr>
        <p:spPr>
          <a:xfrm>
            <a:off x="777240" y="1417320"/>
            <a:ext cx="10607040" cy="1737360"/>
          </a:xfrm>
          <a:prstGeom prst="rect">
            <a:avLst/>
          </a:prstGeom>
          <a:noFill/>
          <a:ln/>
        </p:spPr>
        <p:txBody>
          <a:bodyPr wrap="square" rtlCol="0" anchor="ctr"/>
          <a:lstStyle/>
          <a:p>
            <a:pPr marL="0" indent="0">
              <a:lnSpc>
                <a:spcPts val="4600"/>
              </a:lnSpc>
              <a:buNone/>
            </a:pPr>
            <a:r>
              <a:rPr lang="en-US" sz="4000" b="1" dirty="0">
                <a:solidFill>
                  <a:srgbClr val="FFFFFF"/>
                </a:solidFill>
                <a:latin typeface="Segoe UI" pitchFamily="34" charset="0"/>
                <a:ea typeface="Segoe UI" pitchFamily="34" charset="-122"/>
                <a:cs typeface="Segoe UI" pitchFamily="34" charset="-120"/>
              </a:rPr>
              <a:t>Surgical Process Discovery for</a:t>
            </a:r>
            <a:endParaRPr lang="en-US" sz="4000" dirty="0"/>
          </a:p>
          <a:p>
            <a:pPr marL="0" indent="0">
              <a:lnSpc>
                <a:spcPts val="4600"/>
              </a:lnSpc>
              <a:buNone/>
            </a:pPr>
            <a:r>
              <a:rPr lang="en-US" sz="4000" b="1" dirty="0">
                <a:solidFill>
                  <a:srgbClr val="FFFFFF"/>
                </a:solidFill>
                <a:latin typeface="Segoe UI" pitchFamily="34" charset="0"/>
                <a:ea typeface="Segoe UI" pitchFamily="34" charset="-122"/>
                <a:cs typeface="Segoe UI" pitchFamily="34" charset="-120"/>
              </a:rPr>
              <a:t>Scheduling Optimisation</a:t>
            </a:r>
            <a:endParaRPr lang="en-US" sz="4000" dirty="0"/>
          </a:p>
        </p:txBody>
      </p:sp>
      <p:sp>
        <p:nvSpPr>
          <p:cNvPr id="6" name="Text 4"/>
          <p:cNvSpPr/>
          <p:nvPr/>
        </p:nvSpPr>
        <p:spPr>
          <a:xfrm>
            <a:off x="822960" y="3200400"/>
            <a:ext cx="10515600" cy="502920"/>
          </a:xfrm>
          <a:prstGeom prst="rect">
            <a:avLst/>
          </a:prstGeom>
          <a:noFill/>
          <a:ln/>
        </p:spPr>
        <p:txBody>
          <a:bodyPr wrap="square" rtlCol="0" anchor="ctr"/>
          <a:lstStyle/>
          <a:p>
            <a:pPr marL="0" indent="0">
              <a:buNone/>
            </a:pPr>
            <a:r>
              <a:rPr lang="en-US" sz="2000" dirty="0">
                <a:solidFill>
                  <a:srgbClr val="BEE3F8"/>
                </a:solidFill>
                <a:latin typeface="Segoe UI" pitchFamily="34" charset="0"/>
                <a:ea typeface="Segoe UI" pitchFamily="34" charset="-122"/>
                <a:cs typeface="Segoe UI" pitchFamily="34" charset="-120"/>
              </a:rPr>
              <a:t>Structural and Temporal Analysis of Perioperative Workflow</a:t>
            </a:r>
            <a:endParaRPr lang="en-US" sz="2000" dirty="0"/>
          </a:p>
        </p:txBody>
      </p:sp>
      <p:sp>
        <p:nvSpPr>
          <p:cNvPr id="7" name="Shape 5"/>
          <p:cNvSpPr/>
          <p:nvPr/>
        </p:nvSpPr>
        <p:spPr>
          <a:xfrm>
            <a:off x="3310128" y="4224528"/>
            <a:ext cx="0" cy="777240"/>
          </a:xfrm>
          <a:prstGeom prst="line">
            <a:avLst/>
          </a:prstGeom>
          <a:noFill/>
          <a:ln w="12700">
            <a:solidFill>
              <a:srgbClr val="63B3ED"/>
            </a:solidFill>
            <a:prstDash val="solid"/>
          </a:ln>
        </p:spPr>
        <p:txBody>
          <a:bodyPr/>
          <a:lstStyle/>
          <a:p>
            <a:endParaRPr lang="en-US"/>
          </a:p>
        </p:txBody>
      </p:sp>
      <p:sp>
        <p:nvSpPr>
          <p:cNvPr id="8" name="Text 6"/>
          <p:cNvSpPr/>
          <p:nvPr/>
        </p:nvSpPr>
        <p:spPr>
          <a:xfrm>
            <a:off x="822960" y="4224528"/>
            <a:ext cx="2377440" cy="822960"/>
          </a:xfrm>
          <a:prstGeom prst="rect">
            <a:avLst/>
          </a:prstGeom>
          <a:noFill/>
          <a:ln/>
        </p:spPr>
        <p:txBody>
          <a:bodyPr wrap="square" rtlCol="0" anchor="ctr"/>
          <a:lstStyle/>
          <a:p>
            <a:pPr marL="0" indent="0">
              <a:lnSpc>
                <a:spcPct val="115000"/>
              </a:lnSpc>
              <a:buNone/>
            </a:pPr>
            <a:r>
              <a:rPr lang="en-US" sz="1600" b="1" dirty="0">
                <a:solidFill>
                  <a:srgbClr val="FFFFFF"/>
                </a:solidFill>
                <a:latin typeface="Segoe UI" pitchFamily="34" charset="0"/>
                <a:ea typeface="Segoe UI" pitchFamily="34" charset="-122"/>
                <a:cs typeface="Segoe UI" pitchFamily="34" charset="-120"/>
              </a:rPr>
              <a:t>Hina Farheen
</a:t>
            </a:r>
            <a:r>
              <a:rPr lang="en-US" sz="1200" dirty="0">
                <a:solidFill>
                  <a:srgbClr val="BEE3F8"/>
                </a:solidFill>
                <a:latin typeface="Segoe UI" pitchFamily="34" charset="0"/>
                <a:ea typeface="Segoe UI" pitchFamily="34" charset="-122"/>
                <a:cs typeface="Segoe UI" pitchFamily="34" charset="-120"/>
              </a:rPr>
              <a:t>Student ID: 29402</a:t>
            </a:r>
            <a:endParaRPr lang="en-US" sz="1600" dirty="0"/>
          </a:p>
        </p:txBody>
      </p:sp>
      <p:sp>
        <p:nvSpPr>
          <p:cNvPr id="9" name="Text 7"/>
          <p:cNvSpPr/>
          <p:nvPr/>
        </p:nvSpPr>
        <p:spPr>
          <a:xfrm>
            <a:off x="3520440" y="4224528"/>
            <a:ext cx="3291840" cy="822960"/>
          </a:xfrm>
          <a:prstGeom prst="rect">
            <a:avLst/>
          </a:prstGeom>
          <a:noFill/>
          <a:ln/>
        </p:spPr>
        <p:txBody>
          <a:bodyPr wrap="square" rtlCol="0" anchor="ctr"/>
          <a:lstStyle/>
          <a:p>
            <a:pPr marL="0" indent="0">
              <a:lnSpc>
                <a:spcPct val="115000"/>
              </a:lnSpc>
              <a:buNone/>
            </a:pPr>
            <a:r>
              <a:rPr lang="en-US" sz="1200" dirty="0">
                <a:solidFill>
                  <a:srgbClr val="BEE3F8"/>
                </a:solidFill>
                <a:latin typeface="Segoe UI" pitchFamily="34" charset="0"/>
                <a:ea typeface="Segoe UI" pitchFamily="34" charset="-122"/>
                <a:cs typeface="Segoe UI" pitchFamily="34" charset="-120"/>
              </a:rPr>
              <a:t>Supervised by
</a:t>
            </a:r>
            <a:r>
              <a:rPr lang="en-US" sz="1500" b="1" dirty="0">
                <a:solidFill>
                  <a:srgbClr val="FFFFFF"/>
                </a:solidFill>
                <a:latin typeface="Segoe UI" pitchFamily="34" charset="0"/>
                <a:ea typeface="Segoe UI" pitchFamily="34" charset="-122"/>
                <a:cs typeface="Segoe UI" pitchFamily="34" charset="-120"/>
              </a:rPr>
              <a:t>Dr. Tariq Mahmood</a:t>
            </a:r>
            <a:endParaRPr lang="en-US" sz="1200" dirty="0"/>
          </a:p>
        </p:txBody>
      </p:sp>
      <p:sp>
        <p:nvSpPr>
          <p:cNvPr id="10" name="Text 8"/>
          <p:cNvSpPr/>
          <p:nvPr/>
        </p:nvSpPr>
        <p:spPr>
          <a:xfrm>
            <a:off x="822960" y="5349240"/>
            <a:ext cx="8229600" cy="365760"/>
          </a:xfrm>
          <a:prstGeom prst="rect">
            <a:avLst/>
          </a:prstGeom>
          <a:noFill/>
          <a:ln/>
        </p:spPr>
        <p:txBody>
          <a:bodyPr wrap="square" rtlCol="0" anchor="ctr"/>
          <a:lstStyle/>
          <a:p>
            <a:pPr marL="0" indent="0">
              <a:buNone/>
            </a:pPr>
            <a:r>
              <a:rPr lang="en-US" sz="1250" dirty="0">
                <a:solidFill>
                  <a:srgbClr val="BEE3F8"/>
                </a:solidFill>
                <a:latin typeface="Segoe UI" pitchFamily="34" charset="0"/>
                <a:ea typeface="Segoe UI" pitchFamily="34" charset="-122"/>
                <a:cs typeface="Segoe UI" pitchFamily="34" charset="-120"/>
              </a:rPr>
              <a:t>Institute of Business Administration (IBA), Karachi  |  Fall 2025</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92608"/>
            <a:ext cx="64008" cy="475488"/>
          </a:xfrm>
          <a:prstGeom prst="rect">
            <a:avLst/>
          </a:prstGeom>
          <a:solidFill>
            <a:srgbClr val="3182CE"/>
          </a:solidFill>
          <a:ln/>
        </p:spPr>
        <p:txBody>
          <a:bodyPr/>
          <a:lstStyle/>
          <a:p>
            <a:endParaRPr lang="en-US"/>
          </a:p>
        </p:txBody>
      </p:sp>
      <p:sp>
        <p:nvSpPr>
          <p:cNvPr id="3" name="Text 1"/>
          <p:cNvSpPr/>
          <p:nvPr/>
        </p:nvSpPr>
        <p:spPr>
          <a:xfrm>
            <a:off x="566928" y="237744"/>
            <a:ext cx="11155680" cy="585216"/>
          </a:xfrm>
          <a:prstGeom prst="rect">
            <a:avLst/>
          </a:prstGeom>
          <a:noFill/>
          <a:ln/>
        </p:spPr>
        <p:txBody>
          <a:bodyPr wrap="square" rtlCol="0" anchor="ctr"/>
          <a:lstStyle/>
          <a:p>
            <a:pPr marL="0" indent="0" algn="l">
              <a:buNone/>
            </a:pPr>
            <a:r>
              <a:rPr lang="en-US" sz="2500" b="1" dirty="0">
                <a:solidFill>
                  <a:srgbClr val="1A365D"/>
                </a:solidFill>
                <a:latin typeface="Segoe UI" pitchFamily="34" charset="0"/>
                <a:ea typeface="Segoe UI" pitchFamily="34" charset="-122"/>
                <a:cs typeface="Segoe UI" pitchFamily="34" charset="-120"/>
              </a:rPr>
              <a:t>📋  Agenda</a:t>
            </a:r>
            <a:endParaRPr lang="en-US" sz="2500" dirty="0"/>
          </a:p>
        </p:txBody>
      </p:sp>
      <p:sp>
        <p:nvSpPr>
          <p:cNvPr id="4" name="Shape 2"/>
          <p:cNvSpPr/>
          <p:nvPr/>
        </p:nvSpPr>
        <p:spPr>
          <a:xfrm>
            <a:off x="411480" y="1143000"/>
            <a:ext cx="5559552" cy="1298448"/>
          </a:xfrm>
          <a:prstGeom prst="roundRect">
            <a:avLst>
              <a:gd name="adj" fmla="val 5634"/>
            </a:avLst>
          </a:prstGeom>
          <a:solidFill>
            <a:srgbClr val="EBF8FF"/>
          </a:solidFill>
          <a:ln w="9525">
            <a:solidFill>
              <a:srgbClr val="E2E8F0"/>
            </a:solidFill>
            <a:prstDash val="solid"/>
          </a:ln>
        </p:spPr>
        <p:txBody>
          <a:bodyPr/>
          <a:lstStyle/>
          <a:p>
            <a:endParaRPr lang="en-US"/>
          </a:p>
        </p:txBody>
      </p:sp>
      <p:sp>
        <p:nvSpPr>
          <p:cNvPr id="5" name="Shape 3"/>
          <p:cNvSpPr/>
          <p:nvPr/>
        </p:nvSpPr>
        <p:spPr>
          <a:xfrm>
            <a:off x="411480" y="1143000"/>
            <a:ext cx="64008" cy="1298448"/>
          </a:xfrm>
          <a:prstGeom prst="roundRect">
            <a:avLst>
              <a:gd name="adj" fmla="val 42857"/>
            </a:avLst>
          </a:prstGeom>
          <a:solidFill>
            <a:srgbClr val="3182CE"/>
          </a:solidFill>
          <a:ln/>
        </p:spPr>
        <p:txBody>
          <a:bodyPr/>
          <a:lstStyle/>
          <a:p>
            <a:endParaRPr lang="en-US"/>
          </a:p>
        </p:txBody>
      </p:sp>
      <p:sp>
        <p:nvSpPr>
          <p:cNvPr id="6" name="Text 4"/>
          <p:cNvSpPr/>
          <p:nvPr/>
        </p:nvSpPr>
        <p:spPr>
          <a:xfrm>
            <a:off x="667512" y="1271016"/>
            <a:ext cx="5212080" cy="384048"/>
          </a:xfrm>
          <a:prstGeom prst="rect">
            <a:avLst/>
          </a:prstGeom>
          <a:noFill/>
          <a:ln/>
        </p:spPr>
        <p:txBody>
          <a:bodyPr wrap="square" rtlCol="0" anchor="ctr"/>
          <a:lstStyle/>
          <a:p>
            <a:pPr marL="0" indent="0">
              <a:buNone/>
            </a:pPr>
            <a:r>
              <a:rPr lang="en-US" sz="1450" b="1" dirty="0">
                <a:solidFill>
                  <a:srgbClr val="3182CE"/>
                </a:solidFill>
                <a:latin typeface="Segoe UI" pitchFamily="34" charset="0"/>
                <a:ea typeface="Segoe UI" pitchFamily="34" charset="-122"/>
                <a:cs typeface="Segoe UI" pitchFamily="34" charset="-120"/>
              </a:rPr>
              <a:t>1. MOTIVATION &amp; CONTEXT</a:t>
            </a:r>
            <a:endParaRPr lang="en-US" sz="1450" dirty="0"/>
          </a:p>
        </p:txBody>
      </p:sp>
      <p:sp>
        <p:nvSpPr>
          <p:cNvPr id="7" name="Text 5"/>
          <p:cNvSpPr/>
          <p:nvPr/>
        </p:nvSpPr>
        <p:spPr>
          <a:xfrm>
            <a:off x="667512" y="1691640"/>
            <a:ext cx="5212080" cy="594360"/>
          </a:xfrm>
          <a:prstGeom prst="rect">
            <a:avLst/>
          </a:prstGeom>
          <a:noFill/>
          <a:ln/>
        </p:spPr>
        <p:txBody>
          <a:bodyPr wrap="square" rtlCol="0" anchor="ctr"/>
          <a:lstStyle/>
          <a:p>
            <a:pPr marL="0" indent="0">
              <a:buNone/>
            </a:pPr>
            <a:r>
              <a:rPr lang="en-US" sz="1150" dirty="0">
                <a:solidFill>
                  <a:srgbClr val="4A5568"/>
                </a:solidFill>
                <a:latin typeface="Segoe UI" pitchFamily="34" charset="0"/>
                <a:ea typeface="Segoe UI" pitchFamily="34" charset="-122"/>
                <a:cs typeface="Segoe UI" pitchFamily="34" charset="-120"/>
              </a:rPr>
              <a:t>The scheduling problem in surgical departments</a:t>
            </a:r>
            <a:endParaRPr lang="en-US" sz="1150" dirty="0"/>
          </a:p>
        </p:txBody>
      </p:sp>
      <p:sp>
        <p:nvSpPr>
          <p:cNvPr id="8" name="Shape 6"/>
          <p:cNvSpPr/>
          <p:nvPr/>
        </p:nvSpPr>
        <p:spPr>
          <a:xfrm>
            <a:off x="6217920" y="1143000"/>
            <a:ext cx="5559552" cy="1298448"/>
          </a:xfrm>
          <a:prstGeom prst="roundRect">
            <a:avLst>
              <a:gd name="adj" fmla="val 5634"/>
            </a:avLst>
          </a:prstGeom>
          <a:solidFill>
            <a:srgbClr val="E6FFFA"/>
          </a:solidFill>
          <a:ln w="9525">
            <a:solidFill>
              <a:srgbClr val="E2E8F0"/>
            </a:solidFill>
            <a:prstDash val="solid"/>
          </a:ln>
        </p:spPr>
        <p:txBody>
          <a:bodyPr/>
          <a:lstStyle/>
          <a:p>
            <a:endParaRPr lang="en-US"/>
          </a:p>
        </p:txBody>
      </p:sp>
      <p:sp>
        <p:nvSpPr>
          <p:cNvPr id="9" name="Shape 7"/>
          <p:cNvSpPr/>
          <p:nvPr/>
        </p:nvSpPr>
        <p:spPr>
          <a:xfrm>
            <a:off x="6217920" y="1143000"/>
            <a:ext cx="64008" cy="1298448"/>
          </a:xfrm>
          <a:prstGeom prst="roundRect">
            <a:avLst>
              <a:gd name="adj" fmla="val 42857"/>
            </a:avLst>
          </a:prstGeom>
          <a:solidFill>
            <a:srgbClr val="319795"/>
          </a:solidFill>
          <a:ln/>
        </p:spPr>
        <p:txBody>
          <a:bodyPr/>
          <a:lstStyle/>
          <a:p>
            <a:endParaRPr lang="en-US"/>
          </a:p>
        </p:txBody>
      </p:sp>
      <p:sp>
        <p:nvSpPr>
          <p:cNvPr id="10" name="Text 8"/>
          <p:cNvSpPr/>
          <p:nvPr/>
        </p:nvSpPr>
        <p:spPr>
          <a:xfrm>
            <a:off x="6473952" y="1271016"/>
            <a:ext cx="5212080" cy="384048"/>
          </a:xfrm>
          <a:prstGeom prst="rect">
            <a:avLst/>
          </a:prstGeom>
          <a:noFill/>
          <a:ln/>
        </p:spPr>
        <p:txBody>
          <a:bodyPr wrap="square" rtlCol="0" anchor="ctr"/>
          <a:lstStyle/>
          <a:p>
            <a:pPr marL="0" indent="0">
              <a:buNone/>
            </a:pPr>
            <a:r>
              <a:rPr lang="en-US" sz="1450" b="1" dirty="0">
                <a:solidFill>
                  <a:srgbClr val="319795"/>
                </a:solidFill>
                <a:latin typeface="Segoe UI" pitchFamily="34" charset="0"/>
                <a:ea typeface="Segoe UI" pitchFamily="34" charset="-122"/>
                <a:cs typeface="Segoe UI" pitchFamily="34" charset="-120"/>
              </a:rPr>
              <a:t>2. RESEARCH GAPS &amp; QUESTIONS</a:t>
            </a:r>
            <a:endParaRPr lang="en-US" sz="1450" dirty="0"/>
          </a:p>
        </p:txBody>
      </p:sp>
      <p:sp>
        <p:nvSpPr>
          <p:cNvPr id="11" name="Text 9"/>
          <p:cNvSpPr/>
          <p:nvPr/>
        </p:nvSpPr>
        <p:spPr>
          <a:xfrm>
            <a:off x="6473952" y="1691640"/>
            <a:ext cx="5212080" cy="594360"/>
          </a:xfrm>
          <a:prstGeom prst="rect">
            <a:avLst/>
          </a:prstGeom>
          <a:noFill/>
          <a:ln/>
        </p:spPr>
        <p:txBody>
          <a:bodyPr wrap="square" rtlCol="0" anchor="ctr"/>
          <a:lstStyle/>
          <a:p>
            <a:pPr marL="0" indent="0">
              <a:buNone/>
            </a:pPr>
            <a:r>
              <a:rPr lang="en-US" sz="1150" dirty="0">
                <a:solidFill>
                  <a:srgbClr val="4A5568"/>
                </a:solidFill>
                <a:latin typeface="Segoe UI" pitchFamily="34" charset="0"/>
                <a:ea typeface="Segoe UI" pitchFamily="34" charset="-122"/>
                <a:cs typeface="Segoe UI" pitchFamily="34" charset="-120"/>
              </a:rPr>
              <a:t>Three critical gaps in current practice</a:t>
            </a:r>
            <a:endParaRPr lang="en-US" sz="1150" dirty="0"/>
          </a:p>
        </p:txBody>
      </p:sp>
      <p:sp>
        <p:nvSpPr>
          <p:cNvPr id="12" name="Shape 10"/>
          <p:cNvSpPr/>
          <p:nvPr/>
        </p:nvSpPr>
        <p:spPr>
          <a:xfrm>
            <a:off x="411480" y="2624328"/>
            <a:ext cx="5559552" cy="1298448"/>
          </a:xfrm>
          <a:prstGeom prst="roundRect">
            <a:avLst>
              <a:gd name="adj" fmla="val 5634"/>
            </a:avLst>
          </a:prstGeom>
          <a:solidFill>
            <a:srgbClr val="FFFAF0"/>
          </a:solidFill>
          <a:ln w="9525">
            <a:solidFill>
              <a:srgbClr val="E2E8F0"/>
            </a:solidFill>
            <a:prstDash val="solid"/>
          </a:ln>
        </p:spPr>
        <p:txBody>
          <a:bodyPr/>
          <a:lstStyle/>
          <a:p>
            <a:endParaRPr lang="en-US"/>
          </a:p>
        </p:txBody>
      </p:sp>
      <p:sp>
        <p:nvSpPr>
          <p:cNvPr id="13" name="Shape 11"/>
          <p:cNvSpPr/>
          <p:nvPr/>
        </p:nvSpPr>
        <p:spPr>
          <a:xfrm>
            <a:off x="411480" y="2624328"/>
            <a:ext cx="64008" cy="1298448"/>
          </a:xfrm>
          <a:prstGeom prst="roundRect">
            <a:avLst>
              <a:gd name="adj" fmla="val 42857"/>
            </a:avLst>
          </a:prstGeom>
          <a:solidFill>
            <a:srgbClr val="DD6B20"/>
          </a:solidFill>
          <a:ln/>
        </p:spPr>
        <p:txBody>
          <a:bodyPr/>
          <a:lstStyle/>
          <a:p>
            <a:endParaRPr lang="en-US"/>
          </a:p>
        </p:txBody>
      </p:sp>
      <p:sp>
        <p:nvSpPr>
          <p:cNvPr id="14" name="Text 12"/>
          <p:cNvSpPr/>
          <p:nvPr/>
        </p:nvSpPr>
        <p:spPr>
          <a:xfrm>
            <a:off x="667512" y="2752344"/>
            <a:ext cx="5212080" cy="384048"/>
          </a:xfrm>
          <a:prstGeom prst="rect">
            <a:avLst/>
          </a:prstGeom>
          <a:noFill/>
          <a:ln/>
        </p:spPr>
        <p:txBody>
          <a:bodyPr wrap="square" rtlCol="0" anchor="ctr"/>
          <a:lstStyle/>
          <a:p>
            <a:pPr marL="0" indent="0">
              <a:buNone/>
            </a:pPr>
            <a:r>
              <a:rPr lang="en-US" sz="1450" b="1" dirty="0">
                <a:solidFill>
                  <a:srgbClr val="DD6B20"/>
                </a:solidFill>
                <a:latin typeface="Segoe UI" pitchFamily="34" charset="0"/>
                <a:ea typeface="Segoe UI" pitchFamily="34" charset="-122"/>
                <a:cs typeface="Segoe UI" pitchFamily="34" charset="-120"/>
              </a:rPr>
              <a:t>3. PROPOSED METHODOLOGY  </a:t>
            </a:r>
            <a:endParaRPr lang="en-US" sz="1450" dirty="0"/>
          </a:p>
        </p:txBody>
      </p:sp>
      <p:sp>
        <p:nvSpPr>
          <p:cNvPr id="15" name="Text 13"/>
          <p:cNvSpPr/>
          <p:nvPr/>
        </p:nvSpPr>
        <p:spPr>
          <a:xfrm>
            <a:off x="667512" y="3172968"/>
            <a:ext cx="5212080" cy="594360"/>
          </a:xfrm>
          <a:prstGeom prst="rect">
            <a:avLst/>
          </a:prstGeom>
          <a:noFill/>
          <a:ln/>
        </p:spPr>
        <p:txBody>
          <a:bodyPr wrap="square" rtlCol="0" anchor="ctr"/>
          <a:lstStyle/>
          <a:p>
            <a:pPr marL="0" indent="0">
              <a:buNone/>
            </a:pPr>
            <a:r>
              <a:rPr lang="en-US" sz="1150" dirty="0">
                <a:solidFill>
                  <a:srgbClr val="4A5568"/>
                </a:solidFill>
                <a:latin typeface="Segoe UI" pitchFamily="34" charset="0"/>
                <a:ea typeface="Segoe UI" pitchFamily="34" charset="-122"/>
                <a:cs typeface="Segoe UI" pitchFamily="34" charset="-120"/>
              </a:rPr>
              <a:t>Bayesian Heuristic Miner — core contribution</a:t>
            </a:r>
            <a:endParaRPr lang="en-US" sz="1150" dirty="0"/>
          </a:p>
        </p:txBody>
      </p:sp>
      <p:sp>
        <p:nvSpPr>
          <p:cNvPr id="16" name="Shape 14"/>
          <p:cNvSpPr/>
          <p:nvPr/>
        </p:nvSpPr>
        <p:spPr>
          <a:xfrm>
            <a:off x="6217920" y="2624328"/>
            <a:ext cx="5559552" cy="1298448"/>
          </a:xfrm>
          <a:prstGeom prst="roundRect">
            <a:avLst>
              <a:gd name="adj" fmla="val 5634"/>
            </a:avLst>
          </a:prstGeom>
          <a:solidFill>
            <a:srgbClr val="F0FFF4"/>
          </a:solidFill>
          <a:ln w="9525">
            <a:solidFill>
              <a:srgbClr val="E2E8F0"/>
            </a:solidFill>
            <a:prstDash val="solid"/>
          </a:ln>
        </p:spPr>
        <p:txBody>
          <a:bodyPr/>
          <a:lstStyle/>
          <a:p>
            <a:endParaRPr lang="en-US"/>
          </a:p>
        </p:txBody>
      </p:sp>
      <p:sp>
        <p:nvSpPr>
          <p:cNvPr id="17" name="Shape 15"/>
          <p:cNvSpPr/>
          <p:nvPr/>
        </p:nvSpPr>
        <p:spPr>
          <a:xfrm>
            <a:off x="6217920" y="2624328"/>
            <a:ext cx="64008" cy="1298448"/>
          </a:xfrm>
          <a:prstGeom prst="roundRect">
            <a:avLst>
              <a:gd name="adj" fmla="val 42857"/>
            </a:avLst>
          </a:prstGeom>
          <a:solidFill>
            <a:srgbClr val="38A169"/>
          </a:solidFill>
          <a:ln/>
        </p:spPr>
        <p:txBody>
          <a:bodyPr/>
          <a:lstStyle/>
          <a:p>
            <a:endParaRPr lang="en-US"/>
          </a:p>
        </p:txBody>
      </p:sp>
      <p:sp>
        <p:nvSpPr>
          <p:cNvPr id="18" name="Text 16"/>
          <p:cNvSpPr/>
          <p:nvPr/>
        </p:nvSpPr>
        <p:spPr>
          <a:xfrm>
            <a:off x="6473952" y="2752344"/>
            <a:ext cx="5212080" cy="384048"/>
          </a:xfrm>
          <a:prstGeom prst="rect">
            <a:avLst/>
          </a:prstGeom>
          <a:noFill/>
          <a:ln/>
        </p:spPr>
        <p:txBody>
          <a:bodyPr wrap="square" rtlCol="0" anchor="ctr"/>
          <a:lstStyle/>
          <a:p>
            <a:pPr marL="0" indent="0">
              <a:buNone/>
            </a:pPr>
            <a:r>
              <a:rPr lang="en-US" sz="1450" b="1" dirty="0">
                <a:solidFill>
                  <a:srgbClr val="38A169"/>
                </a:solidFill>
                <a:latin typeface="Segoe UI" pitchFamily="34" charset="0"/>
                <a:ea typeface="Segoe UI" pitchFamily="34" charset="-122"/>
                <a:cs typeface="Segoe UI" pitchFamily="34" charset="-120"/>
              </a:rPr>
              <a:t>4. EXPERIMENTAL RESULTS</a:t>
            </a:r>
            <a:endParaRPr lang="en-US" sz="1450" dirty="0"/>
          </a:p>
        </p:txBody>
      </p:sp>
      <p:sp>
        <p:nvSpPr>
          <p:cNvPr id="19" name="Text 17"/>
          <p:cNvSpPr/>
          <p:nvPr/>
        </p:nvSpPr>
        <p:spPr>
          <a:xfrm>
            <a:off x="6473952" y="3172968"/>
            <a:ext cx="5212080" cy="594360"/>
          </a:xfrm>
          <a:prstGeom prst="rect">
            <a:avLst/>
          </a:prstGeom>
          <a:noFill/>
          <a:ln/>
        </p:spPr>
        <p:txBody>
          <a:bodyPr wrap="square" rtlCol="0" anchor="ctr"/>
          <a:lstStyle/>
          <a:p>
            <a:pPr marL="0" indent="0">
              <a:buNone/>
            </a:pPr>
            <a:r>
              <a:rPr lang="en-US" sz="1150" dirty="0">
                <a:solidFill>
                  <a:srgbClr val="4A5568"/>
                </a:solidFill>
                <a:latin typeface="Segoe UI" pitchFamily="34" charset="0"/>
                <a:ea typeface="Segoe UI" pitchFamily="34" charset="-122"/>
                <a:cs typeface="Segoe UI" pitchFamily="34" charset="-120"/>
              </a:rPr>
              <a:t>Structural &amp; temporal findings from 162K cases</a:t>
            </a:r>
            <a:endParaRPr lang="en-US" sz="1150" dirty="0"/>
          </a:p>
        </p:txBody>
      </p:sp>
      <p:sp>
        <p:nvSpPr>
          <p:cNvPr id="20" name="Shape 18"/>
          <p:cNvSpPr/>
          <p:nvPr/>
        </p:nvSpPr>
        <p:spPr>
          <a:xfrm>
            <a:off x="411480" y="4105656"/>
            <a:ext cx="5559552" cy="1298448"/>
          </a:xfrm>
          <a:prstGeom prst="roundRect">
            <a:avLst>
              <a:gd name="adj" fmla="val 5634"/>
            </a:avLst>
          </a:prstGeom>
          <a:solidFill>
            <a:srgbClr val="FAF5FF"/>
          </a:solidFill>
          <a:ln w="9525">
            <a:solidFill>
              <a:srgbClr val="E2E8F0"/>
            </a:solidFill>
            <a:prstDash val="solid"/>
          </a:ln>
        </p:spPr>
        <p:txBody>
          <a:bodyPr/>
          <a:lstStyle/>
          <a:p>
            <a:endParaRPr lang="en-US"/>
          </a:p>
        </p:txBody>
      </p:sp>
      <p:sp>
        <p:nvSpPr>
          <p:cNvPr id="21" name="Shape 19"/>
          <p:cNvSpPr/>
          <p:nvPr/>
        </p:nvSpPr>
        <p:spPr>
          <a:xfrm>
            <a:off x="411480" y="4105656"/>
            <a:ext cx="64008" cy="1298448"/>
          </a:xfrm>
          <a:prstGeom prst="roundRect">
            <a:avLst>
              <a:gd name="adj" fmla="val 42857"/>
            </a:avLst>
          </a:prstGeom>
          <a:solidFill>
            <a:srgbClr val="805AD5"/>
          </a:solidFill>
          <a:ln/>
        </p:spPr>
        <p:txBody>
          <a:bodyPr/>
          <a:lstStyle/>
          <a:p>
            <a:endParaRPr lang="en-US"/>
          </a:p>
        </p:txBody>
      </p:sp>
      <p:sp>
        <p:nvSpPr>
          <p:cNvPr id="22" name="Text 20"/>
          <p:cNvSpPr/>
          <p:nvPr/>
        </p:nvSpPr>
        <p:spPr>
          <a:xfrm>
            <a:off x="667512" y="4233672"/>
            <a:ext cx="5212080" cy="384048"/>
          </a:xfrm>
          <a:prstGeom prst="rect">
            <a:avLst/>
          </a:prstGeom>
          <a:noFill/>
          <a:ln/>
        </p:spPr>
        <p:txBody>
          <a:bodyPr wrap="square" rtlCol="0" anchor="ctr"/>
          <a:lstStyle/>
          <a:p>
            <a:pPr marL="0" indent="0">
              <a:buNone/>
            </a:pPr>
            <a:r>
              <a:rPr lang="en-US" sz="1450" b="1" dirty="0">
                <a:solidFill>
                  <a:srgbClr val="805AD5"/>
                </a:solidFill>
                <a:latin typeface="Segoe UI" pitchFamily="34" charset="0"/>
                <a:ea typeface="Segoe UI" pitchFamily="34" charset="-122"/>
                <a:cs typeface="Segoe UI" pitchFamily="34" charset="-120"/>
              </a:rPr>
              <a:t>5. RECOMMENDATIONS &amp; IMPACT</a:t>
            </a:r>
            <a:endParaRPr lang="en-US" sz="1450" dirty="0"/>
          </a:p>
        </p:txBody>
      </p:sp>
      <p:sp>
        <p:nvSpPr>
          <p:cNvPr id="23" name="Text 21"/>
          <p:cNvSpPr/>
          <p:nvPr/>
        </p:nvSpPr>
        <p:spPr>
          <a:xfrm>
            <a:off x="667512" y="4654296"/>
            <a:ext cx="5212080" cy="594360"/>
          </a:xfrm>
          <a:prstGeom prst="rect">
            <a:avLst/>
          </a:prstGeom>
          <a:noFill/>
          <a:ln/>
        </p:spPr>
        <p:txBody>
          <a:bodyPr wrap="square" rtlCol="0" anchor="ctr"/>
          <a:lstStyle/>
          <a:p>
            <a:pPr marL="0" indent="0">
              <a:buNone/>
            </a:pPr>
            <a:r>
              <a:rPr lang="en-US" sz="1150" dirty="0">
                <a:solidFill>
                  <a:srgbClr val="4A5568"/>
                </a:solidFill>
                <a:latin typeface="Segoe UI" pitchFamily="34" charset="0"/>
                <a:ea typeface="Segoe UI" pitchFamily="34" charset="-122"/>
                <a:cs typeface="Segoe UI" pitchFamily="34" charset="-120"/>
              </a:rPr>
              <a:t>16 actionable scheduling improvements</a:t>
            </a:r>
            <a:endParaRPr lang="en-US" sz="1150" dirty="0"/>
          </a:p>
        </p:txBody>
      </p:sp>
      <p:sp>
        <p:nvSpPr>
          <p:cNvPr id="24" name="Shape 22"/>
          <p:cNvSpPr/>
          <p:nvPr/>
        </p:nvSpPr>
        <p:spPr>
          <a:xfrm>
            <a:off x="6217920" y="4105656"/>
            <a:ext cx="5559552" cy="1298448"/>
          </a:xfrm>
          <a:prstGeom prst="roundRect">
            <a:avLst>
              <a:gd name="adj" fmla="val 5634"/>
            </a:avLst>
          </a:prstGeom>
          <a:solidFill>
            <a:srgbClr val="F7FAFC"/>
          </a:solidFill>
          <a:ln w="9525">
            <a:solidFill>
              <a:srgbClr val="E2E8F0"/>
            </a:solidFill>
            <a:prstDash val="solid"/>
          </a:ln>
        </p:spPr>
        <p:txBody>
          <a:bodyPr/>
          <a:lstStyle/>
          <a:p>
            <a:endParaRPr lang="en-US"/>
          </a:p>
        </p:txBody>
      </p:sp>
      <p:sp>
        <p:nvSpPr>
          <p:cNvPr id="25" name="Shape 23"/>
          <p:cNvSpPr/>
          <p:nvPr/>
        </p:nvSpPr>
        <p:spPr>
          <a:xfrm>
            <a:off x="6217920" y="4105656"/>
            <a:ext cx="64008" cy="1298448"/>
          </a:xfrm>
          <a:prstGeom prst="roundRect">
            <a:avLst>
              <a:gd name="adj" fmla="val 42857"/>
            </a:avLst>
          </a:prstGeom>
          <a:solidFill>
            <a:srgbClr val="2C5282"/>
          </a:solidFill>
          <a:ln/>
        </p:spPr>
        <p:txBody>
          <a:bodyPr/>
          <a:lstStyle/>
          <a:p>
            <a:endParaRPr lang="en-US"/>
          </a:p>
        </p:txBody>
      </p:sp>
      <p:sp>
        <p:nvSpPr>
          <p:cNvPr id="26" name="Text 24"/>
          <p:cNvSpPr/>
          <p:nvPr/>
        </p:nvSpPr>
        <p:spPr>
          <a:xfrm>
            <a:off x="6473952" y="4233672"/>
            <a:ext cx="5212080" cy="384048"/>
          </a:xfrm>
          <a:prstGeom prst="rect">
            <a:avLst/>
          </a:prstGeom>
          <a:noFill/>
          <a:ln/>
        </p:spPr>
        <p:txBody>
          <a:bodyPr wrap="square" rtlCol="0" anchor="ctr"/>
          <a:lstStyle/>
          <a:p>
            <a:pPr marL="0" indent="0">
              <a:buNone/>
            </a:pPr>
            <a:r>
              <a:rPr lang="en-US" sz="1450" b="1" dirty="0">
                <a:solidFill>
                  <a:srgbClr val="1A365D"/>
                </a:solidFill>
                <a:latin typeface="Segoe UI" pitchFamily="34" charset="0"/>
                <a:ea typeface="Segoe UI" pitchFamily="34" charset="-122"/>
                <a:cs typeface="Segoe UI" pitchFamily="34" charset="-120"/>
              </a:rPr>
              <a:t>6. CONCLUSIONS &amp; FUTURE WORK</a:t>
            </a:r>
            <a:endParaRPr lang="en-US" sz="1450" dirty="0"/>
          </a:p>
        </p:txBody>
      </p:sp>
      <p:sp>
        <p:nvSpPr>
          <p:cNvPr id="27" name="Text 25"/>
          <p:cNvSpPr/>
          <p:nvPr/>
        </p:nvSpPr>
        <p:spPr>
          <a:xfrm>
            <a:off x="6473952" y="4654296"/>
            <a:ext cx="5212080" cy="594360"/>
          </a:xfrm>
          <a:prstGeom prst="rect">
            <a:avLst/>
          </a:prstGeom>
          <a:noFill/>
          <a:ln/>
        </p:spPr>
        <p:txBody>
          <a:bodyPr wrap="square" rtlCol="0" anchor="ctr"/>
          <a:lstStyle/>
          <a:p>
            <a:pPr marL="0" indent="0">
              <a:buNone/>
            </a:pPr>
            <a:r>
              <a:rPr lang="en-US" sz="1150" dirty="0">
                <a:solidFill>
                  <a:srgbClr val="4A5568"/>
                </a:solidFill>
                <a:latin typeface="Segoe UI" pitchFamily="34" charset="0"/>
                <a:ea typeface="Segoe UI" pitchFamily="34" charset="-122"/>
                <a:cs typeface="Segoe UI" pitchFamily="34" charset="-120"/>
              </a:rPr>
              <a:t>Contributions, limitations, and next steps</a:t>
            </a:r>
            <a:endParaRPr lang="en-US" sz="1150" dirty="0"/>
          </a:p>
        </p:txBody>
      </p:sp>
      <p:sp>
        <p:nvSpPr>
          <p:cNvPr id="28" name="Shape 26"/>
          <p:cNvSpPr/>
          <p:nvPr/>
        </p:nvSpPr>
        <p:spPr>
          <a:xfrm>
            <a:off x="411480" y="5760720"/>
            <a:ext cx="11365992" cy="502920"/>
          </a:xfrm>
          <a:prstGeom prst="roundRect">
            <a:avLst>
              <a:gd name="adj" fmla="val 14545"/>
            </a:avLst>
          </a:prstGeom>
          <a:solidFill>
            <a:srgbClr val="1A365D"/>
          </a:solidFill>
          <a:ln/>
        </p:spPr>
        <p:txBody>
          <a:bodyPr/>
          <a:lstStyle/>
          <a:p>
            <a:endParaRPr lang="en-US"/>
          </a:p>
        </p:txBody>
      </p:sp>
      <p:sp>
        <p:nvSpPr>
          <p:cNvPr id="29" name="Text 27"/>
          <p:cNvSpPr/>
          <p:nvPr/>
        </p:nvSpPr>
        <p:spPr>
          <a:xfrm>
            <a:off x="548640" y="5760720"/>
            <a:ext cx="11091672" cy="502920"/>
          </a:xfrm>
          <a:prstGeom prst="rect">
            <a:avLst/>
          </a:prstGeom>
          <a:noFill/>
          <a:ln/>
        </p:spPr>
        <p:txBody>
          <a:bodyPr wrap="square" rtlCol="0" anchor="ctr"/>
          <a:lstStyle/>
          <a:p>
            <a:pPr marL="0" indent="0" algn="ctr">
              <a:buNone/>
            </a:pPr>
            <a:r>
              <a:rPr lang="en-US" sz="1250" b="1" dirty="0">
                <a:solidFill>
                  <a:srgbClr val="FFFFFF"/>
                </a:solidFill>
                <a:latin typeface="Segoe UI" pitchFamily="34" charset="0"/>
                <a:ea typeface="Segoe UI" pitchFamily="34" charset="-122"/>
                <a:cs typeface="Segoe UI" pitchFamily="34" charset="-120"/>
              </a:rPr>
              <a:t>Target: 20–25 minutes   |   Focus: Methodological novelty + operational impact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92608"/>
            <a:ext cx="64008" cy="475488"/>
          </a:xfrm>
          <a:prstGeom prst="rect">
            <a:avLst/>
          </a:prstGeom>
          <a:solidFill>
            <a:srgbClr val="E53E3E"/>
          </a:solidFill>
          <a:ln/>
        </p:spPr>
        <p:txBody>
          <a:bodyPr/>
          <a:lstStyle/>
          <a:p>
            <a:endParaRPr lang="en-US"/>
          </a:p>
        </p:txBody>
      </p:sp>
      <p:sp>
        <p:nvSpPr>
          <p:cNvPr id="3" name="Text 1"/>
          <p:cNvSpPr/>
          <p:nvPr/>
        </p:nvSpPr>
        <p:spPr>
          <a:xfrm>
            <a:off x="566928" y="237744"/>
            <a:ext cx="11155680" cy="585216"/>
          </a:xfrm>
          <a:prstGeom prst="rect">
            <a:avLst/>
          </a:prstGeom>
          <a:noFill/>
          <a:ln/>
        </p:spPr>
        <p:txBody>
          <a:bodyPr wrap="square" rtlCol="0" anchor="ctr"/>
          <a:lstStyle/>
          <a:p>
            <a:pPr marL="0" indent="0" algn="l">
              <a:buNone/>
            </a:pPr>
            <a:r>
              <a:rPr lang="en-US" sz="2500" b="1" dirty="0">
                <a:solidFill>
                  <a:srgbClr val="1A365D"/>
                </a:solidFill>
                <a:latin typeface="Segoe UI" pitchFamily="34" charset="0"/>
                <a:ea typeface="Segoe UI" pitchFamily="34" charset="-122"/>
                <a:cs typeface="Segoe UI" pitchFamily="34" charset="-120"/>
              </a:rPr>
              <a:t>🔴  The Scheduling Problem</a:t>
            </a:r>
            <a:endParaRPr lang="en-US" sz="2500" dirty="0"/>
          </a:p>
        </p:txBody>
      </p:sp>
      <p:sp>
        <p:nvSpPr>
          <p:cNvPr id="4" name="Shape 2"/>
          <p:cNvSpPr/>
          <p:nvPr/>
        </p:nvSpPr>
        <p:spPr>
          <a:xfrm>
            <a:off x="411480" y="1188720"/>
            <a:ext cx="4937760" cy="1691640"/>
          </a:xfrm>
          <a:prstGeom prst="roundRect">
            <a:avLst>
              <a:gd name="adj" fmla="val 4324"/>
            </a:avLst>
          </a:prstGeom>
          <a:solidFill>
            <a:srgbClr val="FFF5F5"/>
          </a:solidFill>
          <a:ln w="9525">
            <a:solidFill>
              <a:srgbClr val="E2E8F0"/>
            </a:solidFill>
            <a:prstDash val="solid"/>
          </a:ln>
        </p:spPr>
        <p:txBody>
          <a:bodyPr/>
          <a:lstStyle/>
          <a:p>
            <a:endParaRPr lang="en-US"/>
          </a:p>
        </p:txBody>
      </p:sp>
      <p:sp>
        <p:nvSpPr>
          <p:cNvPr id="5" name="Shape 3"/>
          <p:cNvSpPr/>
          <p:nvPr/>
        </p:nvSpPr>
        <p:spPr>
          <a:xfrm>
            <a:off x="411480" y="1188720"/>
            <a:ext cx="64008" cy="1691640"/>
          </a:xfrm>
          <a:prstGeom prst="roundRect">
            <a:avLst>
              <a:gd name="adj" fmla="val 42857"/>
            </a:avLst>
          </a:prstGeom>
          <a:solidFill>
            <a:srgbClr val="E53E3E"/>
          </a:solidFill>
          <a:ln/>
        </p:spPr>
        <p:txBody>
          <a:bodyPr/>
          <a:lstStyle/>
          <a:p>
            <a:endParaRPr lang="en-US"/>
          </a:p>
        </p:txBody>
      </p:sp>
      <p:sp>
        <p:nvSpPr>
          <p:cNvPr id="6" name="Text 4"/>
          <p:cNvSpPr/>
          <p:nvPr/>
        </p:nvSpPr>
        <p:spPr>
          <a:xfrm>
            <a:off x="658368" y="1316736"/>
            <a:ext cx="4480560" cy="329184"/>
          </a:xfrm>
          <a:prstGeom prst="rect">
            <a:avLst/>
          </a:prstGeom>
          <a:noFill/>
          <a:ln/>
        </p:spPr>
        <p:txBody>
          <a:bodyPr wrap="square" rtlCol="0" anchor="ctr"/>
          <a:lstStyle/>
          <a:p>
            <a:pPr marL="0" indent="0">
              <a:buNone/>
            </a:pPr>
            <a:r>
              <a:rPr lang="en-US" sz="1400" b="1" dirty="0">
                <a:solidFill>
                  <a:srgbClr val="E53E3E"/>
                </a:solidFill>
                <a:latin typeface="Segoe UI" pitchFamily="34" charset="0"/>
                <a:ea typeface="Segoe UI" pitchFamily="34" charset="-122"/>
                <a:cs typeface="Segoe UI" pitchFamily="34" charset="-120"/>
              </a:rPr>
              <a:t>Surgeon A — Overrun</a:t>
            </a:r>
            <a:endParaRPr lang="en-US" sz="1400" dirty="0"/>
          </a:p>
        </p:txBody>
      </p:sp>
      <p:sp>
        <p:nvSpPr>
          <p:cNvPr id="7" name="Shape 5"/>
          <p:cNvSpPr/>
          <p:nvPr/>
        </p:nvSpPr>
        <p:spPr>
          <a:xfrm>
            <a:off x="685800" y="1755648"/>
            <a:ext cx="2148840" cy="384048"/>
          </a:xfrm>
          <a:prstGeom prst="roundRect">
            <a:avLst>
              <a:gd name="adj" fmla="val 14286"/>
            </a:avLst>
          </a:prstGeom>
          <a:solidFill>
            <a:srgbClr val="3182CE"/>
          </a:solidFill>
          <a:ln/>
        </p:spPr>
        <p:txBody>
          <a:bodyPr/>
          <a:lstStyle/>
          <a:p>
            <a:endParaRPr lang="en-US"/>
          </a:p>
        </p:txBody>
      </p:sp>
      <p:sp>
        <p:nvSpPr>
          <p:cNvPr id="8" name="Text 6"/>
          <p:cNvSpPr/>
          <p:nvPr/>
        </p:nvSpPr>
        <p:spPr>
          <a:xfrm>
            <a:off x="685800" y="1755648"/>
            <a:ext cx="2148840" cy="384048"/>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Planned 45 min</a:t>
            </a:r>
            <a:endParaRPr lang="en-US" sz="1100" dirty="0"/>
          </a:p>
        </p:txBody>
      </p:sp>
      <p:sp>
        <p:nvSpPr>
          <p:cNvPr id="9" name="Shape 7"/>
          <p:cNvSpPr/>
          <p:nvPr/>
        </p:nvSpPr>
        <p:spPr>
          <a:xfrm>
            <a:off x="2889504" y="1755648"/>
            <a:ext cx="1463040" cy="384048"/>
          </a:xfrm>
          <a:prstGeom prst="roundRect">
            <a:avLst>
              <a:gd name="adj" fmla="val 14286"/>
            </a:avLst>
          </a:prstGeom>
          <a:solidFill>
            <a:srgbClr val="E53E3E"/>
          </a:solidFill>
          <a:ln/>
        </p:spPr>
        <p:txBody>
          <a:bodyPr/>
          <a:lstStyle/>
          <a:p>
            <a:endParaRPr lang="en-US"/>
          </a:p>
        </p:txBody>
      </p:sp>
      <p:sp>
        <p:nvSpPr>
          <p:cNvPr id="10" name="Text 8"/>
          <p:cNvSpPr/>
          <p:nvPr/>
        </p:nvSpPr>
        <p:spPr>
          <a:xfrm>
            <a:off x="2889504" y="1755648"/>
            <a:ext cx="1463040" cy="384048"/>
          </a:xfrm>
          <a:prstGeom prst="rect">
            <a:avLst/>
          </a:prstGeom>
          <a:noFill/>
          <a:ln/>
        </p:spPr>
        <p:txBody>
          <a:bodyPr wrap="square" rtlCol="0" anchor="ctr"/>
          <a:lstStyle/>
          <a:p>
            <a:pPr marL="0" indent="0" algn="ctr">
              <a:buNone/>
            </a:pPr>
            <a:r>
              <a:rPr lang="en-US" sz="1050" b="1" dirty="0">
                <a:solidFill>
                  <a:srgbClr val="FFFFFF"/>
                </a:solidFill>
                <a:latin typeface="Segoe UI" pitchFamily="34" charset="0"/>
                <a:ea typeface="Segoe UI" pitchFamily="34" charset="-122"/>
                <a:cs typeface="Segoe UI" pitchFamily="34" charset="-120"/>
              </a:rPr>
              <a:t>Overrun 30 min</a:t>
            </a:r>
            <a:endParaRPr lang="en-US" sz="1050" dirty="0"/>
          </a:p>
        </p:txBody>
      </p:sp>
      <p:sp>
        <p:nvSpPr>
          <p:cNvPr id="11" name="Text 9"/>
          <p:cNvSpPr/>
          <p:nvPr/>
        </p:nvSpPr>
        <p:spPr>
          <a:xfrm>
            <a:off x="658368" y="2267712"/>
            <a:ext cx="4480560" cy="457200"/>
          </a:xfrm>
          <a:prstGeom prst="rect">
            <a:avLst/>
          </a:prstGeom>
          <a:noFill/>
          <a:ln/>
        </p:spPr>
        <p:txBody>
          <a:bodyPr wrap="square" rtlCol="0" anchor="ctr"/>
          <a:lstStyle/>
          <a:p>
            <a:pPr marL="0" indent="0">
              <a:buNone/>
            </a:pPr>
            <a:r>
              <a:rPr lang="en-US" sz="1100" dirty="0">
                <a:solidFill>
                  <a:srgbClr val="4A5568"/>
                </a:solidFill>
                <a:latin typeface="Segoe UI" pitchFamily="34" charset="0"/>
                <a:ea typeface="Segoe UI" pitchFamily="34" charset="-122"/>
                <a:cs typeface="Segoe UI" pitchFamily="34" charset="-120"/>
              </a:rPr>
              <a:t>Delays cascade through all subsequent cases</a:t>
            </a:r>
            <a:endParaRPr lang="en-US" sz="1100" dirty="0"/>
          </a:p>
        </p:txBody>
      </p:sp>
      <p:sp>
        <p:nvSpPr>
          <p:cNvPr id="12" name="Shape 10"/>
          <p:cNvSpPr/>
          <p:nvPr/>
        </p:nvSpPr>
        <p:spPr>
          <a:xfrm>
            <a:off x="411480" y="3063240"/>
            <a:ext cx="4937760" cy="1691640"/>
          </a:xfrm>
          <a:prstGeom prst="roundRect">
            <a:avLst>
              <a:gd name="adj" fmla="val 4324"/>
            </a:avLst>
          </a:prstGeom>
          <a:solidFill>
            <a:srgbClr val="F0FFF4"/>
          </a:solidFill>
          <a:ln w="9525">
            <a:solidFill>
              <a:srgbClr val="E2E8F0"/>
            </a:solidFill>
            <a:prstDash val="solid"/>
          </a:ln>
        </p:spPr>
        <p:txBody>
          <a:bodyPr/>
          <a:lstStyle/>
          <a:p>
            <a:endParaRPr lang="en-US"/>
          </a:p>
        </p:txBody>
      </p:sp>
      <p:sp>
        <p:nvSpPr>
          <p:cNvPr id="13" name="Shape 11"/>
          <p:cNvSpPr/>
          <p:nvPr/>
        </p:nvSpPr>
        <p:spPr>
          <a:xfrm>
            <a:off x="411480" y="3063240"/>
            <a:ext cx="64008" cy="1691640"/>
          </a:xfrm>
          <a:prstGeom prst="roundRect">
            <a:avLst>
              <a:gd name="adj" fmla="val 42857"/>
            </a:avLst>
          </a:prstGeom>
          <a:solidFill>
            <a:srgbClr val="38A169"/>
          </a:solidFill>
          <a:ln/>
        </p:spPr>
        <p:txBody>
          <a:bodyPr/>
          <a:lstStyle/>
          <a:p>
            <a:endParaRPr lang="en-US"/>
          </a:p>
        </p:txBody>
      </p:sp>
      <p:sp>
        <p:nvSpPr>
          <p:cNvPr id="14" name="Text 12"/>
          <p:cNvSpPr/>
          <p:nvPr/>
        </p:nvSpPr>
        <p:spPr>
          <a:xfrm>
            <a:off x="658368" y="3191256"/>
            <a:ext cx="4480560" cy="329184"/>
          </a:xfrm>
          <a:prstGeom prst="rect">
            <a:avLst/>
          </a:prstGeom>
          <a:noFill/>
          <a:ln/>
        </p:spPr>
        <p:txBody>
          <a:bodyPr wrap="square" rtlCol="0" anchor="ctr"/>
          <a:lstStyle/>
          <a:p>
            <a:pPr marL="0" indent="0">
              <a:buNone/>
            </a:pPr>
            <a:r>
              <a:rPr lang="en-US" sz="1400" b="1" dirty="0">
                <a:solidFill>
                  <a:srgbClr val="38A169"/>
                </a:solidFill>
                <a:latin typeface="Segoe UI" pitchFamily="34" charset="0"/>
                <a:ea typeface="Segoe UI" pitchFamily="34" charset="-122"/>
                <a:cs typeface="Segoe UI" pitchFamily="34" charset="-120"/>
              </a:rPr>
              <a:t>Surgeon B — Early Finish</a:t>
            </a:r>
            <a:endParaRPr lang="en-US" sz="1400" dirty="0"/>
          </a:p>
        </p:txBody>
      </p:sp>
      <p:sp>
        <p:nvSpPr>
          <p:cNvPr id="15" name="Shape 13"/>
          <p:cNvSpPr/>
          <p:nvPr/>
        </p:nvSpPr>
        <p:spPr>
          <a:xfrm>
            <a:off x="685800" y="3630168"/>
            <a:ext cx="1417320" cy="384048"/>
          </a:xfrm>
          <a:prstGeom prst="roundRect">
            <a:avLst>
              <a:gd name="adj" fmla="val 14286"/>
            </a:avLst>
          </a:prstGeom>
          <a:solidFill>
            <a:srgbClr val="38A169"/>
          </a:solidFill>
          <a:ln/>
        </p:spPr>
        <p:txBody>
          <a:bodyPr/>
          <a:lstStyle/>
          <a:p>
            <a:endParaRPr lang="en-US"/>
          </a:p>
        </p:txBody>
      </p:sp>
      <p:sp>
        <p:nvSpPr>
          <p:cNvPr id="16" name="Text 14"/>
          <p:cNvSpPr/>
          <p:nvPr/>
        </p:nvSpPr>
        <p:spPr>
          <a:xfrm>
            <a:off x="685800" y="3630168"/>
            <a:ext cx="1417320" cy="384048"/>
          </a:xfrm>
          <a:prstGeom prst="rect">
            <a:avLst/>
          </a:prstGeom>
          <a:noFill/>
          <a:ln/>
        </p:spPr>
        <p:txBody>
          <a:bodyPr wrap="square" rtlCol="0" anchor="ctr"/>
          <a:lstStyle/>
          <a:p>
            <a:pPr marL="0" indent="0" algn="ctr">
              <a:buNone/>
            </a:pPr>
            <a:r>
              <a:rPr lang="en-US" sz="1050" b="1" dirty="0">
                <a:solidFill>
                  <a:srgbClr val="FFFFFF"/>
                </a:solidFill>
                <a:latin typeface="Segoe UI" pitchFamily="34" charset="0"/>
                <a:ea typeface="Segoe UI" pitchFamily="34" charset="-122"/>
                <a:cs typeface="Segoe UI" pitchFamily="34" charset="-120"/>
              </a:rPr>
              <a:t>Done 20 min</a:t>
            </a:r>
            <a:endParaRPr lang="en-US" sz="1050" dirty="0"/>
          </a:p>
        </p:txBody>
      </p:sp>
      <p:sp>
        <p:nvSpPr>
          <p:cNvPr id="17" name="Shape 15"/>
          <p:cNvSpPr/>
          <p:nvPr/>
        </p:nvSpPr>
        <p:spPr>
          <a:xfrm>
            <a:off x="2157984" y="3630168"/>
            <a:ext cx="1691640" cy="384048"/>
          </a:xfrm>
          <a:prstGeom prst="roundRect">
            <a:avLst>
              <a:gd name="adj" fmla="val 14286"/>
            </a:avLst>
          </a:prstGeom>
          <a:solidFill>
            <a:srgbClr val="FC8181"/>
          </a:solidFill>
          <a:ln/>
        </p:spPr>
        <p:txBody>
          <a:bodyPr/>
          <a:lstStyle/>
          <a:p>
            <a:endParaRPr lang="en-US"/>
          </a:p>
        </p:txBody>
      </p:sp>
      <p:sp>
        <p:nvSpPr>
          <p:cNvPr id="18" name="Text 16"/>
          <p:cNvSpPr/>
          <p:nvPr/>
        </p:nvSpPr>
        <p:spPr>
          <a:xfrm>
            <a:off x="2157984" y="3630168"/>
            <a:ext cx="1691640" cy="384048"/>
          </a:xfrm>
          <a:prstGeom prst="rect">
            <a:avLst/>
          </a:prstGeom>
          <a:noFill/>
          <a:ln/>
        </p:spPr>
        <p:txBody>
          <a:bodyPr wrap="square" rtlCol="0" anchor="ctr"/>
          <a:lstStyle/>
          <a:p>
            <a:pPr marL="0" indent="0" algn="ctr">
              <a:buNone/>
            </a:pPr>
            <a:r>
              <a:rPr lang="en-US" sz="1050" b="1" dirty="0">
                <a:solidFill>
                  <a:srgbClr val="FFFFFF"/>
                </a:solidFill>
                <a:latin typeface="Segoe UI" pitchFamily="34" charset="0"/>
                <a:ea typeface="Segoe UI" pitchFamily="34" charset="-122"/>
                <a:cs typeface="Segoe UI" pitchFamily="34" charset="-120"/>
              </a:rPr>
              <a:t>Idle 25 min</a:t>
            </a:r>
            <a:endParaRPr lang="en-US" sz="1050" dirty="0"/>
          </a:p>
        </p:txBody>
      </p:sp>
      <p:sp>
        <p:nvSpPr>
          <p:cNvPr id="19" name="Text 17"/>
          <p:cNvSpPr/>
          <p:nvPr/>
        </p:nvSpPr>
        <p:spPr>
          <a:xfrm>
            <a:off x="658368" y="4142232"/>
            <a:ext cx="4480560" cy="457200"/>
          </a:xfrm>
          <a:prstGeom prst="rect">
            <a:avLst/>
          </a:prstGeom>
          <a:noFill/>
          <a:ln/>
        </p:spPr>
        <p:txBody>
          <a:bodyPr wrap="square" rtlCol="0" anchor="ctr"/>
          <a:lstStyle/>
          <a:p>
            <a:pPr marL="0" indent="0">
              <a:buNone/>
            </a:pPr>
            <a:r>
              <a:rPr lang="en-US" sz="1100" dirty="0">
                <a:solidFill>
                  <a:srgbClr val="4A5568"/>
                </a:solidFill>
                <a:latin typeface="Segoe UI" pitchFamily="34" charset="0"/>
                <a:ea typeface="Segoe UI" pitchFamily="34" charset="-122"/>
                <a:cs typeface="Segoe UI" pitchFamily="34" charset="-120"/>
              </a:rPr>
              <a:t>OR sits empty — wasted capacity</a:t>
            </a:r>
            <a:endParaRPr lang="en-US" sz="1100" dirty="0"/>
          </a:p>
        </p:txBody>
      </p:sp>
      <p:sp>
        <p:nvSpPr>
          <p:cNvPr id="20" name="Text 18"/>
          <p:cNvSpPr/>
          <p:nvPr/>
        </p:nvSpPr>
        <p:spPr>
          <a:xfrm>
            <a:off x="5669280" y="1234440"/>
            <a:ext cx="6080760" cy="2377440"/>
          </a:xfrm>
          <a:prstGeom prst="rect">
            <a:avLst/>
          </a:prstGeom>
          <a:noFill/>
          <a:ln/>
        </p:spPr>
        <p:txBody>
          <a:bodyPr wrap="square" rtlCol="0" anchor="t"/>
          <a:lstStyle/>
          <a:p>
            <a:pPr marL="0" indent="0">
              <a:lnSpc>
                <a:spcPct val="112000"/>
              </a:lnSpc>
              <a:buNone/>
            </a:pPr>
            <a:r>
              <a:rPr lang="en-US" sz="1300" b="1" dirty="0">
                <a:solidFill>
                  <a:srgbClr val="1A202C"/>
                </a:solidFill>
                <a:latin typeface="Segoe UI" pitchFamily="34" charset="0"/>
                <a:ea typeface="Segoe UI" pitchFamily="34" charset="-122"/>
                <a:cs typeface="Segoe UI" pitchFamily="34" charset="-120"/>
              </a:rPr>
              <a:t>Operating Rooms are the most expensive resource</a:t>
            </a:r>
            <a:r>
              <a:rPr lang="en-US" sz="1300" dirty="0">
                <a:solidFill>
                  <a:srgbClr val="4A5568"/>
                </a:solidFill>
                <a:latin typeface="Segoe UI" pitchFamily="34" charset="0"/>
                <a:ea typeface="Segoe UI" pitchFamily="34" charset="-122"/>
                <a:cs typeface="Segoe UI" pitchFamily="34" charset="-120"/>
              </a:rPr>
              <a:t> in any hospital. OR costs represent 16–20% of total hospital budgets yet scheduling relies on fixed, procedure-based time estimates.
For the same procedure, duration varies enormously depending on </a:t>
            </a:r>
            <a:r>
              <a:rPr lang="en-US" sz="1300" b="1" dirty="0">
                <a:solidFill>
                  <a:srgbClr val="1A202C"/>
                </a:solidFill>
                <a:latin typeface="Segoe UI" pitchFamily="34" charset="0"/>
                <a:ea typeface="Segoe UI" pitchFamily="34" charset="-122"/>
                <a:cs typeface="Segoe UI" pitchFamily="34" charset="-120"/>
              </a:rPr>
              <a:t>who performs it</a:t>
            </a:r>
            <a:r>
              <a:rPr lang="en-US" sz="1300" dirty="0">
                <a:solidFill>
                  <a:srgbClr val="4A5568"/>
                </a:solidFill>
                <a:latin typeface="Segoe UI" pitchFamily="34" charset="0"/>
                <a:ea typeface="Segoe UI" pitchFamily="34" charset="-122"/>
                <a:cs typeface="Segoe UI" pitchFamily="34" charset="-120"/>
              </a:rPr>
              <a:t>:  one surgeon 20 minutes, another 75 minutes. Same procedure, same hospital.</a:t>
            </a:r>
            <a:endParaRPr lang="en-US" sz="1300" dirty="0"/>
          </a:p>
        </p:txBody>
      </p:sp>
      <p:sp>
        <p:nvSpPr>
          <p:cNvPr id="21" name="Shape 19"/>
          <p:cNvSpPr/>
          <p:nvPr/>
        </p:nvSpPr>
        <p:spPr>
          <a:xfrm>
            <a:off x="5669280" y="3703320"/>
            <a:ext cx="6080760" cy="1554480"/>
          </a:xfrm>
          <a:prstGeom prst="roundRect">
            <a:avLst>
              <a:gd name="adj" fmla="val 4706"/>
            </a:avLst>
          </a:prstGeom>
          <a:solidFill>
            <a:srgbClr val="FFFAF0"/>
          </a:solidFill>
          <a:ln w="9525">
            <a:solidFill>
              <a:srgbClr val="E2E8F0"/>
            </a:solidFill>
            <a:prstDash val="solid"/>
          </a:ln>
        </p:spPr>
        <p:txBody>
          <a:bodyPr/>
          <a:lstStyle/>
          <a:p>
            <a:endParaRPr lang="en-US"/>
          </a:p>
        </p:txBody>
      </p:sp>
      <p:sp>
        <p:nvSpPr>
          <p:cNvPr id="22" name="Shape 20"/>
          <p:cNvSpPr/>
          <p:nvPr/>
        </p:nvSpPr>
        <p:spPr>
          <a:xfrm>
            <a:off x="5669280" y="3703320"/>
            <a:ext cx="64008" cy="1554480"/>
          </a:xfrm>
          <a:prstGeom prst="roundRect">
            <a:avLst>
              <a:gd name="adj" fmla="val 42857"/>
            </a:avLst>
          </a:prstGeom>
          <a:solidFill>
            <a:srgbClr val="DD6B20"/>
          </a:solidFill>
          <a:ln/>
        </p:spPr>
        <p:txBody>
          <a:bodyPr/>
          <a:lstStyle/>
          <a:p>
            <a:endParaRPr lang="en-US"/>
          </a:p>
        </p:txBody>
      </p:sp>
      <p:sp>
        <p:nvSpPr>
          <p:cNvPr id="23" name="Text 21"/>
          <p:cNvSpPr/>
          <p:nvPr/>
        </p:nvSpPr>
        <p:spPr>
          <a:xfrm>
            <a:off x="5897880" y="3840480"/>
            <a:ext cx="5669280" cy="1325880"/>
          </a:xfrm>
          <a:prstGeom prst="rect">
            <a:avLst/>
          </a:prstGeom>
          <a:noFill/>
          <a:ln/>
        </p:spPr>
        <p:txBody>
          <a:bodyPr wrap="square" rtlCol="0" anchor="t"/>
          <a:lstStyle/>
          <a:p>
            <a:pPr marL="0" indent="0">
              <a:lnSpc>
                <a:spcPct val="110000"/>
              </a:lnSpc>
              <a:buNone/>
            </a:pPr>
            <a:r>
              <a:rPr lang="en-US" sz="1250" b="1" dirty="0">
                <a:solidFill>
                  <a:srgbClr val="DD6B20"/>
                </a:solidFill>
                <a:latin typeface="Segoe UI" pitchFamily="34" charset="0"/>
                <a:ea typeface="Segoe UI" pitchFamily="34" charset="-122"/>
                <a:cs typeface="Segoe UI" pitchFamily="34" charset="-120"/>
              </a:rPr>
              <a:t>The Cost:
</a:t>
            </a:r>
            <a:r>
              <a:rPr lang="en-US" sz="1150" dirty="0">
                <a:solidFill>
                  <a:srgbClr val="4A5568"/>
                </a:solidFill>
                <a:latin typeface="Segoe UI" pitchFamily="34" charset="0"/>
                <a:ea typeface="Segoe UI" pitchFamily="34" charset="-122"/>
                <a:cs typeface="Segoe UI" pitchFamily="34" charset="-120"/>
              </a:rPr>
              <a:t>Every idle OR-minute = lost capacity. Every overrun = cascading delays. At high volume, small per-case inefficiencies compound into </a:t>
            </a:r>
            <a:r>
              <a:rPr lang="en-US" sz="1150" b="1" dirty="0">
                <a:solidFill>
                  <a:srgbClr val="DD6B20"/>
                </a:solidFill>
                <a:latin typeface="Segoe UI" pitchFamily="34" charset="0"/>
                <a:ea typeface="Segoe UI" pitchFamily="34" charset="-122"/>
                <a:cs typeface="Segoe UI" pitchFamily="34" charset="-120"/>
              </a:rPr>
              <a:t>substantial lost theatre capacity.</a:t>
            </a:r>
            <a:endParaRPr lang="en-US" sz="1250" dirty="0"/>
          </a:p>
        </p:txBody>
      </p:sp>
      <p:sp>
        <p:nvSpPr>
          <p:cNvPr id="24" name="Shape 22"/>
          <p:cNvSpPr/>
          <p:nvPr/>
        </p:nvSpPr>
        <p:spPr>
          <a:xfrm>
            <a:off x="411480" y="5806440"/>
            <a:ext cx="11365992" cy="457200"/>
          </a:xfrm>
          <a:prstGeom prst="roundRect">
            <a:avLst>
              <a:gd name="adj" fmla="val 16000"/>
            </a:avLst>
          </a:prstGeom>
          <a:solidFill>
            <a:srgbClr val="1A365D"/>
          </a:solidFill>
          <a:ln/>
        </p:spPr>
        <p:txBody>
          <a:bodyPr/>
          <a:lstStyle/>
          <a:p>
            <a:endParaRPr lang="en-US"/>
          </a:p>
        </p:txBody>
      </p:sp>
      <p:sp>
        <p:nvSpPr>
          <p:cNvPr id="25" name="Text 23"/>
          <p:cNvSpPr/>
          <p:nvPr/>
        </p:nvSpPr>
        <p:spPr>
          <a:xfrm>
            <a:off x="548640" y="5806440"/>
            <a:ext cx="11091672" cy="457200"/>
          </a:xfrm>
          <a:prstGeom prst="rect">
            <a:avLst/>
          </a:prstGeom>
          <a:noFill/>
          <a:ln/>
        </p:spPr>
        <p:txBody>
          <a:bodyPr wrap="square" rtlCol="0" anchor="ctr"/>
          <a:lstStyle/>
          <a:p>
            <a:pPr marL="0" indent="0" algn="ctr">
              <a:buNone/>
            </a:pPr>
            <a:r>
              <a:rPr lang="en-US" sz="1250" b="1" dirty="0">
                <a:solidFill>
                  <a:srgbClr val="FFFFFF"/>
                </a:solidFill>
                <a:latin typeface="Segoe UI" pitchFamily="34" charset="0"/>
                <a:ea typeface="Segoe UI" pitchFamily="34" charset="-122"/>
                <a:cs typeface="Segoe UI" pitchFamily="34" charset="-120"/>
              </a:rPr>
              <a:t>Same 45-minute slot, two failure modes — the system cannot see surgeon-level variability</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92608"/>
            <a:ext cx="64008" cy="475488"/>
          </a:xfrm>
          <a:prstGeom prst="rect">
            <a:avLst/>
          </a:prstGeom>
          <a:solidFill>
            <a:srgbClr val="805AD5"/>
          </a:solidFill>
          <a:ln/>
        </p:spPr>
        <p:txBody>
          <a:bodyPr/>
          <a:lstStyle/>
          <a:p>
            <a:endParaRPr lang="en-US"/>
          </a:p>
        </p:txBody>
      </p:sp>
      <p:sp>
        <p:nvSpPr>
          <p:cNvPr id="3" name="Text 1"/>
          <p:cNvSpPr/>
          <p:nvPr/>
        </p:nvSpPr>
        <p:spPr>
          <a:xfrm>
            <a:off x="566928" y="237744"/>
            <a:ext cx="11155680" cy="585216"/>
          </a:xfrm>
          <a:prstGeom prst="rect">
            <a:avLst/>
          </a:prstGeom>
          <a:noFill/>
          <a:ln/>
        </p:spPr>
        <p:txBody>
          <a:bodyPr wrap="square" rtlCol="0" anchor="ctr"/>
          <a:lstStyle/>
          <a:p>
            <a:pPr marL="0" indent="0" algn="l">
              <a:buNone/>
            </a:pPr>
            <a:r>
              <a:rPr lang="en-US" sz="2500" b="1" dirty="0">
                <a:solidFill>
                  <a:srgbClr val="1A365D"/>
                </a:solidFill>
                <a:latin typeface="Segoe UI" pitchFamily="34" charset="0"/>
                <a:ea typeface="Segoe UI" pitchFamily="34" charset="-122"/>
                <a:cs typeface="Segoe UI" pitchFamily="34" charset="-120"/>
              </a:rPr>
              <a:t>🔍  Three Critical Research Gaps</a:t>
            </a:r>
            <a:endParaRPr lang="en-US" sz="2500" dirty="0"/>
          </a:p>
        </p:txBody>
      </p:sp>
      <p:sp>
        <p:nvSpPr>
          <p:cNvPr id="4" name="Shape 2"/>
          <p:cNvSpPr/>
          <p:nvPr/>
        </p:nvSpPr>
        <p:spPr>
          <a:xfrm>
            <a:off x="411480" y="1188720"/>
            <a:ext cx="3703320" cy="4160520"/>
          </a:xfrm>
          <a:prstGeom prst="roundRect">
            <a:avLst>
              <a:gd name="adj" fmla="val 1975"/>
            </a:avLst>
          </a:prstGeom>
          <a:solidFill>
            <a:srgbClr val="EBF8FF"/>
          </a:solidFill>
          <a:ln w="9525">
            <a:solidFill>
              <a:srgbClr val="E2E8F0"/>
            </a:solidFill>
            <a:prstDash val="solid"/>
          </a:ln>
        </p:spPr>
        <p:txBody>
          <a:bodyPr/>
          <a:lstStyle/>
          <a:p>
            <a:endParaRPr lang="en-US"/>
          </a:p>
        </p:txBody>
      </p:sp>
      <p:sp>
        <p:nvSpPr>
          <p:cNvPr id="5" name="Shape 3"/>
          <p:cNvSpPr/>
          <p:nvPr/>
        </p:nvSpPr>
        <p:spPr>
          <a:xfrm>
            <a:off x="411480" y="1188720"/>
            <a:ext cx="3703320" cy="109728"/>
          </a:xfrm>
          <a:prstGeom prst="roundRect">
            <a:avLst>
              <a:gd name="adj" fmla="val 41667"/>
            </a:avLst>
          </a:prstGeom>
          <a:solidFill>
            <a:srgbClr val="3182CE"/>
          </a:solidFill>
          <a:ln/>
        </p:spPr>
        <p:txBody>
          <a:bodyPr/>
          <a:lstStyle/>
          <a:p>
            <a:endParaRPr lang="en-US"/>
          </a:p>
        </p:txBody>
      </p:sp>
      <p:sp>
        <p:nvSpPr>
          <p:cNvPr id="6" name="Text 4"/>
          <p:cNvSpPr/>
          <p:nvPr/>
        </p:nvSpPr>
        <p:spPr>
          <a:xfrm>
            <a:off x="640080" y="1417320"/>
            <a:ext cx="731520" cy="548640"/>
          </a:xfrm>
          <a:prstGeom prst="rect">
            <a:avLst/>
          </a:prstGeom>
          <a:noFill/>
          <a:ln/>
        </p:spPr>
        <p:txBody>
          <a:bodyPr wrap="square" rtlCol="0" anchor="ctr"/>
          <a:lstStyle/>
          <a:p>
            <a:pPr marL="0" indent="0">
              <a:buNone/>
            </a:pPr>
            <a:r>
              <a:rPr lang="en-US" sz="2400" dirty="0">
                <a:solidFill>
                  <a:srgbClr val="000000"/>
                </a:solidFill>
              </a:rPr>
              <a:t>📊</a:t>
            </a:r>
            <a:endParaRPr lang="en-US" sz="2400" dirty="0"/>
          </a:p>
        </p:txBody>
      </p:sp>
      <p:sp>
        <p:nvSpPr>
          <p:cNvPr id="7" name="Text 5"/>
          <p:cNvSpPr/>
          <p:nvPr/>
        </p:nvSpPr>
        <p:spPr>
          <a:xfrm>
            <a:off x="640080" y="2011680"/>
            <a:ext cx="3291840" cy="868680"/>
          </a:xfrm>
          <a:prstGeom prst="rect">
            <a:avLst/>
          </a:prstGeom>
          <a:noFill/>
          <a:ln/>
        </p:spPr>
        <p:txBody>
          <a:bodyPr wrap="square" rtlCol="0" anchor="ctr"/>
          <a:lstStyle/>
          <a:p>
            <a:pPr marL="0" indent="0">
              <a:buNone/>
            </a:pPr>
            <a:r>
              <a:rPr lang="en-US" sz="1400" b="1" dirty="0">
                <a:solidFill>
                  <a:srgbClr val="3182CE"/>
                </a:solidFill>
                <a:latin typeface="Segoe UI" pitchFamily="34" charset="0"/>
                <a:ea typeface="Segoe UI" pitchFamily="34" charset="-122"/>
                <a:cs typeface="Segoe UI" pitchFamily="34" charset="-120"/>
              </a:rPr>
              <a:t>GAP 1: No Data-Derived Baseline</a:t>
            </a:r>
            <a:endParaRPr lang="en-US" sz="1400" dirty="0"/>
          </a:p>
        </p:txBody>
      </p:sp>
      <p:sp>
        <p:nvSpPr>
          <p:cNvPr id="8" name="Text 6"/>
          <p:cNvSpPr/>
          <p:nvPr/>
        </p:nvSpPr>
        <p:spPr>
          <a:xfrm>
            <a:off x="640080" y="2880360"/>
            <a:ext cx="3291840" cy="2331720"/>
          </a:xfrm>
          <a:prstGeom prst="rect">
            <a:avLst/>
          </a:prstGeom>
          <a:noFill/>
          <a:ln/>
        </p:spPr>
        <p:txBody>
          <a:bodyPr wrap="square" rtlCol="0" anchor="t"/>
          <a:lstStyle/>
          <a:p>
            <a:pPr marL="0" indent="0">
              <a:lnSpc>
                <a:spcPct val="112000"/>
              </a:lnSpc>
              <a:buNone/>
            </a:pPr>
            <a:r>
              <a:rPr lang="en-US" sz="1150" dirty="0">
                <a:solidFill>
                  <a:srgbClr val="4A5568"/>
                </a:solidFill>
                <a:latin typeface="Segoe UI" pitchFamily="34" charset="0"/>
                <a:ea typeface="Segoe UI" pitchFamily="34" charset="-122"/>
                <a:cs typeface="Segoe UI" pitchFamily="34" charset="-120"/>
              </a:rPr>
              <a:t>Hospitals document intended workflows, but no analysis exists of what the HIS actually recorded across hundreds of thousands of cases. Claims about “the surgical process” are anecdotal, not evidence-based.</a:t>
            </a:r>
            <a:endParaRPr lang="en-US" sz="1150" dirty="0"/>
          </a:p>
        </p:txBody>
      </p:sp>
      <p:sp>
        <p:nvSpPr>
          <p:cNvPr id="9" name="Shape 7"/>
          <p:cNvSpPr/>
          <p:nvPr/>
        </p:nvSpPr>
        <p:spPr>
          <a:xfrm>
            <a:off x="4325112" y="1188720"/>
            <a:ext cx="3703320" cy="4160520"/>
          </a:xfrm>
          <a:prstGeom prst="roundRect">
            <a:avLst>
              <a:gd name="adj" fmla="val 1975"/>
            </a:avLst>
          </a:prstGeom>
          <a:solidFill>
            <a:srgbClr val="FFFAF0"/>
          </a:solidFill>
          <a:ln w="9525">
            <a:solidFill>
              <a:srgbClr val="E2E8F0"/>
            </a:solidFill>
            <a:prstDash val="solid"/>
          </a:ln>
        </p:spPr>
        <p:txBody>
          <a:bodyPr/>
          <a:lstStyle/>
          <a:p>
            <a:endParaRPr lang="en-US"/>
          </a:p>
        </p:txBody>
      </p:sp>
      <p:sp>
        <p:nvSpPr>
          <p:cNvPr id="10" name="Shape 8"/>
          <p:cNvSpPr/>
          <p:nvPr/>
        </p:nvSpPr>
        <p:spPr>
          <a:xfrm>
            <a:off x="4325112" y="1188720"/>
            <a:ext cx="3703320" cy="109728"/>
          </a:xfrm>
          <a:prstGeom prst="roundRect">
            <a:avLst>
              <a:gd name="adj" fmla="val 41667"/>
            </a:avLst>
          </a:prstGeom>
          <a:solidFill>
            <a:srgbClr val="DD6B20"/>
          </a:solidFill>
          <a:ln/>
        </p:spPr>
        <p:txBody>
          <a:bodyPr/>
          <a:lstStyle/>
          <a:p>
            <a:endParaRPr lang="en-US"/>
          </a:p>
        </p:txBody>
      </p:sp>
      <p:sp>
        <p:nvSpPr>
          <p:cNvPr id="11" name="Text 9"/>
          <p:cNvSpPr/>
          <p:nvPr/>
        </p:nvSpPr>
        <p:spPr>
          <a:xfrm>
            <a:off x="4553712" y="1417320"/>
            <a:ext cx="731520" cy="548640"/>
          </a:xfrm>
          <a:prstGeom prst="rect">
            <a:avLst/>
          </a:prstGeom>
          <a:noFill/>
          <a:ln/>
        </p:spPr>
        <p:txBody>
          <a:bodyPr wrap="square" rtlCol="0" anchor="ctr"/>
          <a:lstStyle/>
          <a:p>
            <a:pPr marL="0" indent="0">
              <a:buNone/>
            </a:pPr>
            <a:r>
              <a:rPr lang="en-US" sz="2400" dirty="0">
                <a:solidFill>
                  <a:srgbClr val="000000"/>
                </a:solidFill>
              </a:rPr>
              <a:t>🔀</a:t>
            </a:r>
            <a:endParaRPr lang="en-US" sz="2400" dirty="0"/>
          </a:p>
        </p:txBody>
      </p:sp>
      <p:sp>
        <p:nvSpPr>
          <p:cNvPr id="12" name="Text 10"/>
          <p:cNvSpPr/>
          <p:nvPr/>
        </p:nvSpPr>
        <p:spPr>
          <a:xfrm>
            <a:off x="4553712" y="2011680"/>
            <a:ext cx="3291840" cy="868680"/>
          </a:xfrm>
          <a:prstGeom prst="rect">
            <a:avLst/>
          </a:prstGeom>
          <a:noFill/>
          <a:ln/>
        </p:spPr>
        <p:txBody>
          <a:bodyPr wrap="square" rtlCol="0" anchor="ctr"/>
          <a:lstStyle/>
          <a:p>
            <a:pPr marL="0" indent="0">
              <a:buNone/>
            </a:pPr>
            <a:r>
              <a:rPr lang="en-US" sz="1400" b="1" dirty="0">
                <a:solidFill>
                  <a:srgbClr val="DD6B20"/>
                </a:solidFill>
                <a:latin typeface="Segoe UI" pitchFamily="34" charset="0"/>
                <a:ea typeface="Segoe UI" pitchFamily="34" charset="-122"/>
                <a:cs typeface="Segoe UI" pitchFamily="34" charset="-120"/>
              </a:rPr>
              <a:t>GAP 2: No Statistical Separation of Signal vs. Noise</a:t>
            </a:r>
            <a:endParaRPr lang="en-US" sz="1400" dirty="0"/>
          </a:p>
        </p:txBody>
      </p:sp>
      <p:sp>
        <p:nvSpPr>
          <p:cNvPr id="13" name="Text 11"/>
          <p:cNvSpPr/>
          <p:nvPr/>
        </p:nvSpPr>
        <p:spPr>
          <a:xfrm>
            <a:off x="4553712" y="2880360"/>
            <a:ext cx="3291840" cy="2331720"/>
          </a:xfrm>
          <a:prstGeom prst="rect">
            <a:avLst/>
          </a:prstGeom>
          <a:noFill/>
          <a:ln/>
        </p:spPr>
        <p:txBody>
          <a:bodyPr wrap="square" rtlCol="0" anchor="t"/>
          <a:lstStyle/>
          <a:p>
            <a:pPr marL="0" indent="0">
              <a:lnSpc>
                <a:spcPct val="112000"/>
              </a:lnSpc>
              <a:buNone/>
            </a:pPr>
            <a:r>
              <a:rPr lang="en-US" sz="1150" dirty="0">
                <a:solidFill>
                  <a:srgbClr val="4A5568"/>
                </a:solidFill>
                <a:latin typeface="Segoe UI" pitchFamily="34" charset="0"/>
                <a:ea typeface="Segoe UI" pitchFamily="34" charset="-122"/>
                <a:cs typeface="Segoe UI" pitchFamily="34" charset="-120"/>
              </a:rPr>
              <a:t>Surgical logs contain both genuine rare clinical exceptions AND data-entry noise. Frequency counts alone cannot distinguish them. Staff must either ignore all deviations or treat all equally.</a:t>
            </a:r>
            <a:endParaRPr lang="en-US" sz="1150" dirty="0"/>
          </a:p>
        </p:txBody>
      </p:sp>
      <p:sp>
        <p:nvSpPr>
          <p:cNvPr id="14" name="Shape 12"/>
          <p:cNvSpPr/>
          <p:nvPr/>
        </p:nvSpPr>
        <p:spPr>
          <a:xfrm>
            <a:off x="8238744" y="1188720"/>
            <a:ext cx="3703320" cy="4160520"/>
          </a:xfrm>
          <a:prstGeom prst="roundRect">
            <a:avLst>
              <a:gd name="adj" fmla="val 1975"/>
            </a:avLst>
          </a:prstGeom>
          <a:solidFill>
            <a:srgbClr val="F0FFF4"/>
          </a:solidFill>
          <a:ln w="9525">
            <a:solidFill>
              <a:srgbClr val="E2E8F0"/>
            </a:solidFill>
            <a:prstDash val="solid"/>
          </a:ln>
        </p:spPr>
        <p:txBody>
          <a:bodyPr/>
          <a:lstStyle/>
          <a:p>
            <a:endParaRPr lang="en-US"/>
          </a:p>
        </p:txBody>
      </p:sp>
      <p:sp>
        <p:nvSpPr>
          <p:cNvPr id="15" name="Shape 13"/>
          <p:cNvSpPr/>
          <p:nvPr/>
        </p:nvSpPr>
        <p:spPr>
          <a:xfrm>
            <a:off x="8238744" y="1188720"/>
            <a:ext cx="3703320" cy="109728"/>
          </a:xfrm>
          <a:prstGeom prst="roundRect">
            <a:avLst>
              <a:gd name="adj" fmla="val 41667"/>
            </a:avLst>
          </a:prstGeom>
          <a:solidFill>
            <a:srgbClr val="38A169"/>
          </a:solidFill>
          <a:ln/>
        </p:spPr>
        <p:txBody>
          <a:bodyPr/>
          <a:lstStyle/>
          <a:p>
            <a:endParaRPr lang="en-US"/>
          </a:p>
        </p:txBody>
      </p:sp>
      <p:sp>
        <p:nvSpPr>
          <p:cNvPr id="16" name="Text 14"/>
          <p:cNvSpPr/>
          <p:nvPr/>
        </p:nvSpPr>
        <p:spPr>
          <a:xfrm>
            <a:off x="8467344" y="1417320"/>
            <a:ext cx="731520" cy="548640"/>
          </a:xfrm>
          <a:prstGeom prst="rect">
            <a:avLst/>
          </a:prstGeom>
          <a:noFill/>
          <a:ln/>
        </p:spPr>
        <p:txBody>
          <a:bodyPr wrap="square" rtlCol="0" anchor="ctr"/>
          <a:lstStyle/>
          <a:p>
            <a:pPr marL="0" indent="0">
              <a:buNone/>
            </a:pPr>
            <a:r>
              <a:rPr lang="en-US" sz="2400" dirty="0">
                <a:solidFill>
                  <a:srgbClr val="000000"/>
                </a:solidFill>
              </a:rPr>
              <a:t>⏱️</a:t>
            </a:r>
            <a:endParaRPr lang="en-US" sz="2400" dirty="0"/>
          </a:p>
        </p:txBody>
      </p:sp>
      <p:sp>
        <p:nvSpPr>
          <p:cNvPr id="17" name="Text 15"/>
          <p:cNvSpPr/>
          <p:nvPr/>
        </p:nvSpPr>
        <p:spPr>
          <a:xfrm>
            <a:off x="8467344" y="2011680"/>
            <a:ext cx="3291840" cy="868680"/>
          </a:xfrm>
          <a:prstGeom prst="rect">
            <a:avLst/>
          </a:prstGeom>
          <a:noFill/>
          <a:ln/>
        </p:spPr>
        <p:txBody>
          <a:bodyPr wrap="square" rtlCol="0" anchor="ctr"/>
          <a:lstStyle/>
          <a:p>
            <a:pPr marL="0" indent="0">
              <a:buNone/>
            </a:pPr>
            <a:r>
              <a:rPr lang="en-US" sz="1400" b="1" dirty="0">
                <a:solidFill>
                  <a:srgbClr val="38A169"/>
                </a:solidFill>
                <a:latin typeface="Segoe UI" pitchFamily="34" charset="0"/>
                <a:ea typeface="Segoe UI" pitchFamily="34" charset="-122"/>
                <a:cs typeface="Segoe UI" pitchFamily="34" charset="-120"/>
              </a:rPr>
              <a:t>GAP 3: No Quantified Delay Picture</a:t>
            </a:r>
            <a:endParaRPr lang="en-US" sz="1400" dirty="0"/>
          </a:p>
        </p:txBody>
      </p:sp>
      <p:sp>
        <p:nvSpPr>
          <p:cNvPr id="18" name="Text 16"/>
          <p:cNvSpPr/>
          <p:nvPr/>
        </p:nvSpPr>
        <p:spPr>
          <a:xfrm>
            <a:off x="8467344" y="2880360"/>
            <a:ext cx="3291840" cy="2331720"/>
          </a:xfrm>
          <a:prstGeom prst="rect">
            <a:avLst/>
          </a:prstGeom>
          <a:noFill/>
          <a:ln/>
        </p:spPr>
        <p:txBody>
          <a:bodyPr wrap="square" rtlCol="0" anchor="t"/>
          <a:lstStyle/>
          <a:p>
            <a:pPr marL="0" indent="0">
              <a:lnSpc>
                <a:spcPct val="112000"/>
              </a:lnSpc>
              <a:buNone/>
            </a:pPr>
            <a:r>
              <a:rPr lang="en-US" sz="1150" dirty="0">
                <a:solidFill>
                  <a:srgbClr val="4A5568"/>
                </a:solidFill>
                <a:latin typeface="Segoe UI" pitchFamily="34" charset="0"/>
                <a:ea typeface="Segoe UI" pitchFamily="34" charset="-122"/>
                <a:cs typeface="Segoe UI" pitchFamily="34" charset="-120"/>
              </a:rPr>
              <a:t>Staff hold informal beliefs about delays, rarely tested against timestamped records. A 5-minute delay in 130,000 cases costs more than one 10-day outlier but without quantification, we cannot know.</a:t>
            </a:r>
            <a:endParaRPr lang="en-US" sz="1150" dirty="0"/>
          </a:p>
        </p:txBody>
      </p:sp>
      <p:sp>
        <p:nvSpPr>
          <p:cNvPr id="19" name="Shape 17"/>
          <p:cNvSpPr/>
          <p:nvPr/>
        </p:nvSpPr>
        <p:spPr>
          <a:xfrm>
            <a:off x="411480" y="5623560"/>
            <a:ext cx="11365992" cy="566928"/>
          </a:xfrm>
          <a:prstGeom prst="roundRect">
            <a:avLst>
              <a:gd name="adj" fmla="val 12903"/>
            </a:avLst>
          </a:prstGeom>
          <a:solidFill>
            <a:srgbClr val="1A365D"/>
          </a:solidFill>
          <a:ln/>
        </p:spPr>
        <p:txBody>
          <a:bodyPr/>
          <a:lstStyle/>
          <a:p>
            <a:endParaRPr lang="en-US"/>
          </a:p>
        </p:txBody>
      </p:sp>
      <p:sp>
        <p:nvSpPr>
          <p:cNvPr id="20" name="Text 18"/>
          <p:cNvSpPr/>
          <p:nvPr/>
        </p:nvSpPr>
        <p:spPr>
          <a:xfrm>
            <a:off x="548640" y="5623560"/>
            <a:ext cx="11091672" cy="566928"/>
          </a:xfrm>
          <a:prstGeom prst="rect">
            <a:avLst/>
          </a:prstGeom>
          <a:noFill/>
          <a:ln/>
        </p:spPr>
        <p:txBody>
          <a:bodyPr wrap="square" rtlCol="0" anchor="ctr"/>
          <a:lstStyle/>
          <a:p>
            <a:pPr marL="0" indent="0" algn="ctr">
              <a:buNone/>
            </a:pPr>
            <a:r>
              <a:rPr lang="en-US" sz="1250" b="1" dirty="0">
                <a:solidFill>
                  <a:srgbClr val="FFFFFF"/>
                </a:solidFill>
                <a:latin typeface="Segoe UI" pitchFamily="34" charset="0"/>
                <a:ea typeface="Segoe UI" pitchFamily="34" charset="-122"/>
                <a:cs typeface="Segoe UI" pitchFamily="34" charset="-120"/>
              </a:rPr>
              <a:t>This Thesis: Bayesian-calibrated discovery, applied at scale, connecting structural and temporal findings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92608"/>
            <a:ext cx="64008" cy="475488"/>
          </a:xfrm>
          <a:prstGeom prst="rect">
            <a:avLst/>
          </a:prstGeom>
          <a:solidFill>
            <a:srgbClr val="38A169"/>
          </a:solidFill>
          <a:ln/>
        </p:spPr>
        <p:txBody>
          <a:bodyPr/>
          <a:lstStyle/>
          <a:p>
            <a:endParaRPr lang="en-US"/>
          </a:p>
        </p:txBody>
      </p:sp>
      <p:sp>
        <p:nvSpPr>
          <p:cNvPr id="3" name="Text 1"/>
          <p:cNvSpPr/>
          <p:nvPr/>
        </p:nvSpPr>
        <p:spPr>
          <a:xfrm>
            <a:off x="566928" y="237744"/>
            <a:ext cx="11155680" cy="585216"/>
          </a:xfrm>
          <a:prstGeom prst="rect">
            <a:avLst/>
          </a:prstGeom>
          <a:noFill/>
          <a:ln/>
        </p:spPr>
        <p:txBody>
          <a:bodyPr wrap="square" rtlCol="0" anchor="ctr"/>
          <a:lstStyle/>
          <a:p>
            <a:pPr marL="0" indent="0" algn="l">
              <a:buNone/>
            </a:pPr>
            <a:r>
              <a:rPr lang="en-US" sz="2500" b="1" dirty="0">
                <a:solidFill>
                  <a:srgbClr val="1A365D"/>
                </a:solidFill>
                <a:latin typeface="Segoe UI" pitchFamily="34" charset="0"/>
                <a:ea typeface="Segoe UI" pitchFamily="34" charset="-122"/>
                <a:cs typeface="Segoe UI" pitchFamily="34" charset="-120"/>
              </a:rPr>
              <a:t>❓  Research Questions</a:t>
            </a:r>
            <a:endParaRPr lang="en-US" sz="2500" dirty="0"/>
          </a:p>
        </p:txBody>
      </p:sp>
      <p:sp>
        <p:nvSpPr>
          <p:cNvPr id="4" name="Shape 2"/>
          <p:cNvSpPr/>
          <p:nvPr/>
        </p:nvSpPr>
        <p:spPr>
          <a:xfrm>
            <a:off x="411480" y="1143000"/>
            <a:ext cx="11365992" cy="1060704"/>
          </a:xfrm>
          <a:prstGeom prst="roundRect">
            <a:avLst>
              <a:gd name="adj" fmla="val 6897"/>
            </a:avLst>
          </a:prstGeom>
          <a:solidFill>
            <a:srgbClr val="F7FAFC"/>
          </a:solidFill>
          <a:ln w="9525">
            <a:solidFill>
              <a:srgbClr val="E2E8F0"/>
            </a:solidFill>
            <a:prstDash val="solid"/>
          </a:ln>
        </p:spPr>
        <p:txBody>
          <a:bodyPr/>
          <a:lstStyle/>
          <a:p>
            <a:endParaRPr lang="en-US"/>
          </a:p>
        </p:txBody>
      </p:sp>
      <p:sp>
        <p:nvSpPr>
          <p:cNvPr id="5" name="Shape 3"/>
          <p:cNvSpPr/>
          <p:nvPr/>
        </p:nvSpPr>
        <p:spPr>
          <a:xfrm>
            <a:off x="658368" y="1435608"/>
            <a:ext cx="457200" cy="457200"/>
          </a:xfrm>
          <a:prstGeom prst="ellipse">
            <a:avLst/>
          </a:prstGeom>
          <a:solidFill>
            <a:srgbClr val="3182CE"/>
          </a:solidFill>
          <a:ln/>
        </p:spPr>
        <p:txBody>
          <a:bodyPr/>
          <a:lstStyle/>
          <a:p>
            <a:endParaRPr lang="en-US"/>
          </a:p>
        </p:txBody>
      </p:sp>
      <p:sp>
        <p:nvSpPr>
          <p:cNvPr id="6" name="Text 4"/>
          <p:cNvSpPr/>
          <p:nvPr/>
        </p:nvSpPr>
        <p:spPr>
          <a:xfrm>
            <a:off x="658368" y="1435608"/>
            <a:ext cx="457200" cy="457200"/>
          </a:xfrm>
          <a:prstGeom prst="rect">
            <a:avLst/>
          </a:prstGeom>
          <a:noFill/>
          <a:ln/>
        </p:spPr>
        <p:txBody>
          <a:bodyPr wrap="square"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1</a:t>
            </a:r>
            <a:endParaRPr lang="en-US" sz="1500" dirty="0"/>
          </a:p>
        </p:txBody>
      </p:sp>
      <p:sp>
        <p:nvSpPr>
          <p:cNvPr id="7" name="Text 5"/>
          <p:cNvSpPr/>
          <p:nvPr/>
        </p:nvSpPr>
        <p:spPr>
          <a:xfrm>
            <a:off x="1298448" y="1234440"/>
            <a:ext cx="9966960" cy="329184"/>
          </a:xfrm>
          <a:prstGeom prst="rect">
            <a:avLst/>
          </a:prstGeom>
          <a:noFill/>
          <a:ln/>
        </p:spPr>
        <p:txBody>
          <a:bodyPr wrap="square" rtlCol="0" anchor="ctr"/>
          <a:lstStyle/>
          <a:p>
            <a:pPr marL="0" indent="0">
              <a:buNone/>
            </a:pPr>
            <a:r>
              <a:rPr lang="en-US" sz="1350" b="1" dirty="0">
                <a:solidFill>
                  <a:srgbClr val="1A202C"/>
                </a:solidFill>
                <a:latin typeface="Segoe UI" pitchFamily="34" charset="0"/>
                <a:ea typeface="Segoe UI" pitchFamily="34" charset="-122"/>
                <a:cs typeface="Segoe UI" pitchFamily="34" charset="-120"/>
              </a:rPr>
              <a:t>Baseline Discovery</a:t>
            </a:r>
            <a:endParaRPr lang="en-US" sz="1350" dirty="0"/>
          </a:p>
        </p:txBody>
      </p:sp>
      <p:sp>
        <p:nvSpPr>
          <p:cNvPr id="8" name="Text 6"/>
          <p:cNvSpPr/>
          <p:nvPr/>
        </p:nvSpPr>
        <p:spPr>
          <a:xfrm>
            <a:off x="1298448" y="1563624"/>
            <a:ext cx="10195560" cy="603504"/>
          </a:xfrm>
          <a:prstGeom prst="rect">
            <a:avLst/>
          </a:prstGeom>
          <a:noFill/>
          <a:ln/>
        </p:spPr>
        <p:txBody>
          <a:bodyPr wrap="square" rtlCol="0" anchor="t"/>
          <a:lstStyle/>
          <a:p>
            <a:pPr marL="0" indent="0">
              <a:lnSpc>
                <a:spcPct val="105000"/>
              </a:lnSpc>
              <a:buNone/>
            </a:pPr>
            <a:r>
              <a:rPr lang="en-US" sz="1150" dirty="0">
                <a:solidFill>
                  <a:srgbClr val="4A5568"/>
                </a:solidFill>
                <a:latin typeface="Segoe UI" pitchFamily="34" charset="0"/>
                <a:ea typeface="Segoe UI" pitchFamily="34" charset="-122"/>
                <a:cs typeface="Segoe UI" pitchFamily="34" charset="-120"/>
              </a:rPr>
              <a:t>How can process mining discover a reliable baseline model of real-world surgical workflow both for the institution and for subgroups (specialty, location, surgeon)?</a:t>
            </a:r>
            <a:endParaRPr lang="en-US" sz="1150" dirty="0"/>
          </a:p>
        </p:txBody>
      </p:sp>
      <p:sp>
        <p:nvSpPr>
          <p:cNvPr id="9" name="Shape 7"/>
          <p:cNvSpPr/>
          <p:nvPr/>
        </p:nvSpPr>
        <p:spPr>
          <a:xfrm>
            <a:off x="411480" y="2350008"/>
            <a:ext cx="11365992" cy="1060704"/>
          </a:xfrm>
          <a:prstGeom prst="roundRect">
            <a:avLst>
              <a:gd name="adj" fmla="val 6897"/>
            </a:avLst>
          </a:prstGeom>
          <a:solidFill>
            <a:srgbClr val="FFFAF0"/>
          </a:solidFill>
          <a:ln w="15875">
            <a:solidFill>
              <a:srgbClr val="DD6B20"/>
            </a:solidFill>
            <a:prstDash val="solid"/>
          </a:ln>
        </p:spPr>
        <p:txBody>
          <a:bodyPr/>
          <a:lstStyle/>
          <a:p>
            <a:endParaRPr lang="en-US"/>
          </a:p>
        </p:txBody>
      </p:sp>
      <p:sp>
        <p:nvSpPr>
          <p:cNvPr id="10" name="Shape 8"/>
          <p:cNvSpPr/>
          <p:nvPr/>
        </p:nvSpPr>
        <p:spPr>
          <a:xfrm>
            <a:off x="658368" y="2642616"/>
            <a:ext cx="457200" cy="457200"/>
          </a:xfrm>
          <a:prstGeom prst="ellipse">
            <a:avLst/>
          </a:prstGeom>
          <a:solidFill>
            <a:srgbClr val="DD6B20"/>
          </a:solidFill>
          <a:ln/>
        </p:spPr>
        <p:txBody>
          <a:bodyPr/>
          <a:lstStyle/>
          <a:p>
            <a:endParaRPr lang="en-US"/>
          </a:p>
        </p:txBody>
      </p:sp>
      <p:sp>
        <p:nvSpPr>
          <p:cNvPr id="11" name="Text 9"/>
          <p:cNvSpPr/>
          <p:nvPr/>
        </p:nvSpPr>
        <p:spPr>
          <a:xfrm>
            <a:off x="658368" y="2642616"/>
            <a:ext cx="457200" cy="457200"/>
          </a:xfrm>
          <a:prstGeom prst="rect">
            <a:avLst/>
          </a:prstGeom>
          <a:noFill/>
          <a:ln/>
        </p:spPr>
        <p:txBody>
          <a:bodyPr wrap="square"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2</a:t>
            </a:r>
            <a:endParaRPr lang="en-US" sz="1500" dirty="0"/>
          </a:p>
        </p:txBody>
      </p:sp>
      <p:sp>
        <p:nvSpPr>
          <p:cNvPr id="12" name="Text 10"/>
          <p:cNvSpPr/>
          <p:nvPr/>
        </p:nvSpPr>
        <p:spPr>
          <a:xfrm>
            <a:off x="1298448" y="2441448"/>
            <a:ext cx="9966960" cy="329184"/>
          </a:xfrm>
          <a:prstGeom prst="rect">
            <a:avLst/>
          </a:prstGeom>
          <a:noFill/>
          <a:ln/>
        </p:spPr>
        <p:txBody>
          <a:bodyPr wrap="square" rtlCol="0" anchor="ctr"/>
          <a:lstStyle/>
          <a:p>
            <a:pPr marL="0" indent="0">
              <a:buNone/>
            </a:pPr>
            <a:r>
              <a:rPr lang="en-US" sz="1350" b="1" dirty="0">
                <a:solidFill>
                  <a:srgbClr val="1A202C"/>
                </a:solidFill>
                <a:latin typeface="Segoe UI" pitchFamily="34" charset="0"/>
                <a:ea typeface="Segoe UI" pitchFamily="34" charset="-122"/>
                <a:cs typeface="Segoe UI" pitchFamily="34" charset="-120"/>
              </a:rPr>
              <a:t>Statistical Calibration  </a:t>
            </a:r>
            <a:endParaRPr lang="en-US" sz="1350" dirty="0"/>
          </a:p>
        </p:txBody>
      </p:sp>
      <p:sp>
        <p:nvSpPr>
          <p:cNvPr id="13" name="Text 11"/>
          <p:cNvSpPr/>
          <p:nvPr/>
        </p:nvSpPr>
        <p:spPr>
          <a:xfrm>
            <a:off x="1298448" y="2770632"/>
            <a:ext cx="10195560" cy="603504"/>
          </a:xfrm>
          <a:prstGeom prst="rect">
            <a:avLst/>
          </a:prstGeom>
          <a:noFill/>
          <a:ln/>
        </p:spPr>
        <p:txBody>
          <a:bodyPr wrap="square" rtlCol="0" anchor="t"/>
          <a:lstStyle/>
          <a:p>
            <a:pPr marL="0" indent="0">
              <a:lnSpc>
                <a:spcPct val="105000"/>
              </a:lnSpc>
              <a:buNone/>
            </a:pPr>
            <a:r>
              <a:rPr lang="en-US" sz="1150" dirty="0">
                <a:solidFill>
                  <a:srgbClr val="4A5568"/>
                </a:solidFill>
                <a:latin typeface="Segoe UI" pitchFamily="34" charset="0"/>
                <a:ea typeface="Segoe UI" pitchFamily="34" charset="-122"/>
                <a:cs typeface="Segoe UI" pitchFamily="34" charset="-120"/>
              </a:rPr>
              <a:t>Can a statistically calibrated dependency measure (vs. purely frequency-based) more reliably distinguish genuine rare clinical pathways from noise, improving clinical interpretability?</a:t>
            </a:r>
            <a:endParaRPr lang="en-US" sz="1150" dirty="0"/>
          </a:p>
        </p:txBody>
      </p:sp>
      <p:sp>
        <p:nvSpPr>
          <p:cNvPr id="14" name="Shape 12"/>
          <p:cNvSpPr/>
          <p:nvPr/>
        </p:nvSpPr>
        <p:spPr>
          <a:xfrm>
            <a:off x="411480" y="3557016"/>
            <a:ext cx="11365992" cy="1060704"/>
          </a:xfrm>
          <a:prstGeom prst="roundRect">
            <a:avLst>
              <a:gd name="adj" fmla="val 6897"/>
            </a:avLst>
          </a:prstGeom>
          <a:solidFill>
            <a:srgbClr val="F7FAFC"/>
          </a:solidFill>
          <a:ln w="9525">
            <a:solidFill>
              <a:srgbClr val="E2E8F0"/>
            </a:solidFill>
            <a:prstDash val="solid"/>
          </a:ln>
        </p:spPr>
        <p:txBody>
          <a:bodyPr/>
          <a:lstStyle/>
          <a:p>
            <a:endParaRPr lang="en-US"/>
          </a:p>
        </p:txBody>
      </p:sp>
      <p:sp>
        <p:nvSpPr>
          <p:cNvPr id="15" name="Shape 13"/>
          <p:cNvSpPr/>
          <p:nvPr/>
        </p:nvSpPr>
        <p:spPr>
          <a:xfrm>
            <a:off x="658368" y="3849624"/>
            <a:ext cx="457200" cy="457200"/>
          </a:xfrm>
          <a:prstGeom prst="ellipse">
            <a:avLst/>
          </a:prstGeom>
          <a:solidFill>
            <a:srgbClr val="38A169"/>
          </a:solidFill>
          <a:ln/>
        </p:spPr>
        <p:txBody>
          <a:bodyPr/>
          <a:lstStyle/>
          <a:p>
            <a:endParaRPr lang="en-US"/>
          </a:p>
        </p:txBody>
      </p:sp>
      <p:sp>
        <p:nvSpPr>
          <p:cNvPr id="16" name="Text 14"/>
          <p:cNvSpPr/>
          <p:nvPr/>
        </p:nvSpPr>
        <p:spPr>
          <a:xfrm>
            <a:off x="658368" y="3849624"/>
            <a:ext cx="457200" cy="457200"/>
          </a:xfrm>
          <a:prstGeom prst="rect">
            <a:avLst/>
          </a:prstGeom>
          <a:noFill/>
          <a:ln/>
        </p:spPr>
        <p:txBody>
          <a:bodyPr wrap="square"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3</a:t>
            </a:r>
            <a:endParaRPr lang="en-US" sz="1500" dirty="0"/>
          </a:p>
        </p:txBody>
      </p:sp>
      <p:sp>
        <p:nvSpPr>
          <p:cNvPr id="17" name="Text 15"/>
          <p:cNvSpPr/>
          <p:nvPr/>
        </p:nvSpPr>
        <p:spPr>
          <a:xfrm>
            <a:off x="1298448" y="3648456"/>
            <a:ext cx="9966960" cy="329184"/>
          </a:xfrm>
          <a:prstGeom prst="rect">
            <a:avLst/>
          </a:prstGeom>
          <a:noFill/>
          <a:ln/>
        </p:spPr>
        <p:txBody>
          <a:bodyPr wrap="square" rtlCol="0" anchor="ctr"/>
          <a:lstStyle/>
          <a:p>
            <a:pPr marL="0" indent="0">
              <a:buNone/>
            </a:pPr>
            <a:r>
              <a:rPr lang="en-US" sz="1350" b="1" dirty="0">
                <a:solidFill>
                  <a:srgbClr val="1A202C"/>
                </a:solidFill>
                <a:latin typeface="Segoe UI" pitchFamily="34" charset="0"/>
                <a:ea typeface="Segoe UI" pitchFamily="34" charset="-122"/>
                <a:cs typeface="Segoe UI" pitchFamily="34" charset="-120"/>
              </a:rPr>
              <a:t>Temporal Analysis</a:t>
            </a:r>
            <a:endParaRPr lang="en-US" sz="1350" dirty="0"/>
          </a:p>
        </p:txBody>
      </p:sp>
      <p:sp>
        <p:nvSpPr>
          <p:cNvPr id="18" name="Text 16"/>
          <p:cNvSpPr/>
          <p:nvPr/>
        </p:nvSpPr>
        <p:spPr>
          <a:xfrm>
            <a:off x="1298448" y="3977640"/>
            <a:ext cx="10195560" cy="603504"/>
          </a:xfrm>
          <a:prstGeom prst="rect">
            <a:avLst/>
          </a:prstGeom>
          <a:noFill/>
          <a:ln/>
        </p:spPr>
        <p:txBody>
          <a:bodyPr wrap="square" rtlCol="0" anchor="t"/>
          <a:lstStyle/>
          <a:p>
            <a:pPr marL="0" indent="0">
              <a:lnSpc>
                <a:spcPct val="105000"/>
              </a:lnSpc>
              <a:buNone/>
            </a:pPr>
            <a:r>
              <a:rPr lang="en-US" sz="1150" dirty="0">
                <a:solidFill>
                  <a:srgbClr val="4A5568"/>
                </a:solidFill>
                <a:latin typeface="Segoe UI" pitchFamily="34" charset="0"/>
                <a:ea typeface="Segoe UI" pitchFamily="34" charset="-122"/>
                <a:cs typeface="Segoe UI" pitchFamily="34" charset="-120"/>
              </a:rPr>
              <a:t>Where and for whom do surgical process delays concentrate temporally, and how do these relate to the structural pathways discovered?</a:t>
            </a:r>
            <a:endParaRPr lang="en-US" sz="1150" dirty="0"/>
          </a:p>
        </p:txBody>
      </p:sp>
      <p:sp>
        <p:nvSpPr>
          <p:cNvPr id="19" name="Shape 17"/>
          <p:cNvSpPr/>
          <p:nvPr/>
        </p:nvSpPr>
        <p:spPr>
          <a:xfrm>
            <a:off x="411480" y="4764024"/>
            <a:ext cx="11365992" cy="1060704"/>
          </a:xfrm>
          <a:prstGeom prst="roundRect">
            <a:avLst>
              <a:gd name="adj" fmla="val 6897"/>
            </a:avLst>
          </a:prstGeom>
          <a:solidFill>
            <a:srgbClr val="F7FAFC"/>
          </a:solidFill>
          <a:ln w="9525">
            <a:solidFill>
              <a:srgbClr val="E2E8F0"/>
            </a:solidFill>
            <a:prstDash val="solid"/>
          </a:ln>
        </p:spPr>
        <p:txBody>
          <a:bodyPr/>
          <a:lstStyle/>
          <a:p>
            <a:endParaRPr lang="en-US"/>
          </a:p>
        </p:txBody>
      </p:sp>
      <p:sp>
        <p:nvSpPr>
          <p:cNvPr id="20" name="Shape 18"/>
          <p:cNvSpPr/>
          <p:nvPr/>
        </p:nvSpPr>
        <p:spPr>
          <a:xfrm>
            <a:off x="658368" y="5056632"/>
            <a:ext cx="457200" cy="457200"/>
          </a:xfrm>
          <a:prstGeom prst="ellipse">
            <a:avLst/>
          </a:prstGeom>
          <a:solidFill>
            <a:srgbClr val="805AD5"/>
          </a:solidFill>
          <a:ln/>
        </p:spPr>
        <p:txBody>
          <a:bodyPr/>
          <a:lstStyle/>
          <a:p>
            <a:endParaRPr lang="en-US"/>
          </a:p>
        </p:txBody>
      </p:sp>
      <p:sp>
        <p:nvSpPr>
          <p:cNvPr id="21" name="Text 19"/>
          <p:cNvSpPr/>
          <p:nvPr/>
        </p:nvSpPr>
        <p:spPr>
          <a:xfrm>
            <a:off x="658368" y="5056632"/>
            <a:ext cx="457200" cy="457200"/>
          </a:xfrm>
          <a:prstGeom prst="rect">
            <a:avLst/>
          </a:prstGeom>
          <a:noFill/>
          <a:ln/>
        </p:spPr>
        <p:txBody>
          <a:bodyPr wrap="square"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4</a:t>
            </a:r>
            <a:endParaRPr lang="en-US" sz="1500" dirty="0"/>
          </a:p>
        </p:txBody>
      </p:sp>
      <p:sp>
        <p:nvSpPr>
          <p:cNvPr id="22" name="Text 20"/>
          <p:cNvSpPr/>
          <p:nvPr/>
        </p:nvSpPr>
        <p:spPr>
          <a:xfrm>
            <a:off x="1298448" y="4855464"/>
            <a:ext cx="9966960" cy="329184"/>
          </a:xfrm>
          <a:prstGeom prst="rect">
            <a:avLst/>
          </a:prstGeom>
          <a:noFill/>
          <a:ln/>
        </p:spPr>
        <p:txBody>
          <a:bodyPr wrap="square" rtlCol="0" anchor="ctr"/>
          <a:lstStyle/>
          <a:p>
            <a:pPr marL="0" indent="0">
              <a:buNone/>
            </a:pPr>
            <a:r>
              <a:rPr lang="en-US" sz="1350" b="1" dirty="0">
                <a:solidFill>
                  <a:srgbClr val="1A202C"/>
                </a:solidFill>
                <a:latin typeface="Segoe UI" pitchFamily="34" charset="0"/>
                <a:ea typeface="Segoe UI" pitchFamily="34" charset="-122"/>
                <a:cs typeface="Segoe UI" pitchFamily="34" charset="-120"/>
              </a:rPr>
              <a:t>Actionable Recommendations</a:t>
            </a:r>
            <a:endParaRPr lang="en-US" sz="1350" dirty="0"/>
          </a:p>
        </p:txBody>
      </p:sp>
      <p:sp>
        <p:nvSpPr>
          <p:cNvPr id="23" name="Text 21"/>
          <p:cNvSpPr/>
          <p:nvPr/>
        </p:nvSpPr>
        <p:spPr>
          <a:xfrm>
            <a:off x="1298448" y="5184648"/>
            <a:ext cx="10195560" cy="603504"/>
          </a:xfrm>
          <a:prstGeom prst="rect">
            <a:avLst/>
          </a:prstGeom>
          <a:noFill/>
          <a:ln/>
        </p:spPr>
        <p:txBody>
          <a:bodyPr wrap="square" rtlCol="0" anchor="t"/>
          <a:lstStyle/>
          <a:p>
            <a:pPr marL="0" indent="0">
              <a:lnSpc>
                <a:spcPct val="105000"/>
              </a:lnSpc>
              <a:buNone/>
            </a:pPr>
            <a:r>
              <a:rPr lang="en-US" sz="1150" dirty="0">
                <a:solidFill>
                  <a:srgbClr val="4A5568"/>
                </a:solidFill>
                <a:latin typeface="Segoe UI" pitchFamily="34" charset="0"/>
                <a:ea typeface="Segoe UI" pitchFamily="34" charset="-122"/>
                <a:cs typeface="Segoe UI" pitchFamily="34" charset="-120"/>
              </a:rPr>
              <a:t>What concrete, operationally realistic scheduling and process-improvement recommendations can be derived jointly from structural and temporal analyses?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92608"/>
            <a:ext cx="64008" cy="475488"/>
          </a:xfrm>
          <a:prstGeom prst="rect">
            <a:avLst/>
          </a:prstGeom>
          <a:solidFill>
            <a:srgbClr val="3182CE"/>
          </a:solidFill>
          <a:ln/>
        </p:spPr>
        <p:txBody>
          <a:bodyPr/>
          <a:lstStyle/>
          <a:p>
            <a:endParaRPr lang="en-US"/>
          </a:p>
        </p:txBody>
      </p:sp>
      <p:sp>
        <p:nvSpPr>
          <p:cNvPr id="3" name="Text 1"/>
          <p:cNvSpPr/>
          <p:nvPr/>
        </p:nvSpPr>
        <p:spPr>
          <a:xfrm>
            <a:off x="566928" y="237744"/>
            <a:ext cx="11155680" cy="585216"/>
          </a:xfrm>
          <a:prstGeom prst="rect">
            <a:avLst/>
          </a:prstGeom>
          <a:noFill/>
          <a:ln/>
        </p:spPr>
        <p:txBody>
          <a:bodyPr wrap="square" rtlCol="0" anchor="ctr"/>
          <a:lstStyle/>
          <a:p>
            <a:pPr marL="0" indent="0" algn="l">
              <a:buNone/>
            </a:pPr>
            <a:r>
              <a:rPr lang="en-US" sz="2500" b="1" dirty="0">
                <a:solidFill>
                  <a:srgbClr val="1A365D"/>
                </a:solidFill>
                <a:latin typeface="Segoe UI" pitchFamily="34" charset="0"/>
                <a:ea typeface="Segoe UI" pitchFamily="34" charset="-122"/>
                <a:cs typeface="Segoe UI" pitchFamily="34" charset="-120"/>
              </a:rPr>
              <a:t>📚  Literature Review: Key Positioning</a:t>
            </a:r>
            <a:endParaRPr lang="en-US" sz="2500" dirty="0"/>
          </a:p>
        </p:txBody>
      </p:sp>
      <p:sp>
        <p:nvSpPr>
          <p:cNvPr id="4" name="Text 2"/>
          <p:cNvSpPr/>
          <p:nvPr/>
        </p:nvSpPr>
        <p:spPr>
          <a:xfrm>
            <a:off x="411480" y="1097280"/>
            <a:ext cx="6766560" cy="658368"/>
          </a:xfrm>
          <a:prstGeom prst="rect">
            <a:avLst/>
          </a:prstGeom>
          <a:noFill/>
          <a:ln/>
        </p:spPr>
        <p:txBody>
          <a:bodyPr wrap="square" rtlCol="0" anchor="t"/>
          <a:lstStyle/>
          <a:p>
            <a:pPr marL="0" indent="0">
              <a:lnSpc>
                <a:spcPct val="110000"/>
              </a:lnSpc>
              <a:buNone/>
            </a:pPr>
            <a:r>
              <a:rPr lang="en-US" sz="1200" b="1" dirty="0">
                <a:solidFill>
                  <a:srgbClr val="1A202C"/>
                </a:solidFill>
                <a:latin typeface="Segoe UI" pitchFamily="34" charset="0"/>
                <a:ea typeface="Segoe UI" pitchFamily="34" charset="-122"/>
                <a:cs typeface="Segoe UI" pitchFamily="34" charset="-120"/>
              </a:rPr>
              <a:t>Systematic review</a:t>
            </a:r>
            <a:r>
              <a:rPr lang="en-US" sz="1200" dirty="0">
                <a:solidFill>
                  <a:srgbClr val="4A5568"/>
                </a:solidFill>
                <a:latin typeface="Segoe UI" pitchFamily="34" charset="0"/>
                <a:ea typeface="Segoe UI" pitchFamily="34" charset="-122"/>
                <a:cs typeface="Segoe UI" pitchFamily="34" charset="-120"/>
              </a:rPr>
              <a:t> following PRISMA methodology across 5 databases (Google Scholar, PubMed, IEEE Xplore, ScienceDirect, arXiv).</a:t>
            </a:r>
            <a:endParaRPr lang="en-US" sz="1200" dirty="0"/>
          </a:p>
        </p:txBody>
      </p:sp>
      <p:sp>
        <p:nvSpPr>
          <p:cNvPr id="5" name="Shape 3"/>
          <p:cNvSpPr/>
          <p:nvPr/>
        </p:nvSpPr>
        <p:spPr>
          <a:xfrm>
            <a:off x="411480" y="1828800"/>
            <a:ext cx="6766560" cy="1371600"/>
          </a:xfrm>
          <a:prstGeom prst="roundRect">
            <a:avLst>
              <a:gd name="adj" fmla="val 5333"/>
            </a:avLst>
          </a:prstGeom>
          <a:solidFill>
            <a:srgbClr val="F7FAFC"/>
          </a:solidFill>
          <a:ln w="9525">
            <a:solidFill>
              <a:srgbClr val="E2E8F0"/>
            </a:solidFill>
            <a:prstDash val="solid"/>
          </a:ln>
        </p:spPr>
        <p:txBody>
          <a:bodyPr/>
          <a:lstStyle/>
          <a:p>
            <a:endParaRPr lang="en-US"/>
          </a:p>
        </p:txBody>
      </p:sp>
      <p:sp>
        <p:nvSpPr>
          <p:cNvPr id="6" name="Text 4"/>
          <p:cNvSpPr/>
          <p:nvPr/>
        </p:nvSpPr>
        <p:spPr>
          <a:xfrm>
            <a:off x="640080" y="1956816"/>
            <a:ext cx="6355080" cy="1143000"/>
          </a:xfrm>
          <a:prstGeom prst="rect">
            <a:avLst/>
          </a:prstGeom>
          <a:noFill/>
          <a:ln/>
        </p:spPr>
        <p:txBody>
          <a:bodyPr wrap="square" rtlCol="0" anchor="t"/>
          <a:lstStyle/>
          <a:p>
            <a:pPr marL="0" indent="0">
              <a:lnSpc>
                <a:spcPct val="115000"/>
              </a:lnSpc>
              <a:buNone/>
            </a:pPr>
            <a:r>
              <a:rPr lang="en-US" sz="1200" b="1" dirty="0">
                <a:solidFill>
                  <a:srgbClr val="1A202C"/>
                </a:solidFill>
                <a:latin typeface="Segoe UI" pitchFamily="34" charset="0"/>
                <a:ea typeface="Segoe UI" pitchFamily="34" charset="-122"/>
                <a:cs typeface="Segoe UI" pitchFamily="34" charset="-120"/>
              </a:rPr>
              <a:t>Selection Pipeline:
</a:t>
            </a:r>
            <a:r>
              <a:rPr lang="en-US" sz="1150" dirty="0">
                <a:solidFill>
                  <a:srgbClr val="4A5568"/>
                </a:solidFill>
                <a:latin typeface="Segoe UI" pitchFamily="34" charset="0"/>
                <a:ea typeface="Segoe UI" pitchFamily="34" charset="-122"/>
                <a:cs typeface="Segoe UI" pitchFamily="34" charset="-120"/>
              </a:rPr>
              <a:t>167 records → 46 duplicates removed → 121 screened → 83 excluded → 38 full-text assessed → 25 excluded → </a:t>
            </a:r>
            <a:r>
              <a:rPr lang="en-US" sz="1150" b="1" dirty="0">
                <a:solidFill>
                  <a:srgbClr val="1A365D"/>
                </a:solidFill>
                <a:latin typeface="Segoe UI" pitchFamily="34" charset="0"/>
                <a:ea typeface="Segoe UI" pitchFamily="34" charset="-122"/>
                <a:cs typeface="Segoe UI" pitchFamily="34" charset="-120"/>
              </a:rPr>
              <a:t>13 studies + 3 supplementary = 16 final studies</a:t>
            </a:r>
            <a:endParaRPr lang="en-US" sz="1200" dirty="0"/>
          </a:p>
        </p:txBody>
      </p:sp>
      <p:sp>
        <p:nvSpPr>
          <p:cNvPr id="7" name="Text 5"/>
          <p:cNvSpPr/>
          <p:nvPr/>
        </p:nvSpPr>
        <p:spPr>
          <a:xfrm>
            <a:off x="411480" y="3429000"/>
            <a:ext cx="6766560" cy="2377440"/>
          </a:xfrm>
          <a:prstGeom prst="rect">
            <a:avLst/>
          </a:prstGeom>
          <a:noFill/>
          <a:ln/>
        </p:spPr>
        <p:txBody>
          <a:bodyPr wrap="square" rtlCol="0" anchor="t"/>
          <a:lstStyle/>
          <a:p>
            <a:pPr marL="0" indent="0">
              <a:lnSpc>
                <a:spcPct val="112000"/>
              </a:lnSpc>
              <a:buNone/>
            </a:pPr>
            <a:r>
              <a:rPr lang="en-US" sz="1200" b="1" dirty="0">
                <a:solidFill>
                  <a:srgbClr val="1A202C"/>
                </a:solidFill>
                <a:latin typeface="Segoe UI" pitchFamily="34" charset="0"/>
                <a:ea typeface="Segoe UI" pitchFamily="34" charset="-122"/>
                <a:cs typeface="Segoe UI" pitchFamily="34" charset="-120"/>
              </a:rPr>
              <a:t>Key finding: </a:t>
            </a:r>
            <a:r>
              <a:rPr lang="en-US" sz="1200" dirty="0">
                <a:solidFill>
                  <a:srgbClr val="4A5568"/>
                </a:solidFill>
                <a:latin typeface="Segoe UI" pitchFamily="34" charset="0"/>
                <a:ea typeface="Segoe UI" pitchFamily="34" charset="-122"/>
                <a:cs typeface="Segoe UI" pitchFamily="34" charset="-120"/>
              </a:rPr>
              <a:t>Despite the Heuristic Miner being widely used in healthcare, </a:t>
            </a:r>
            <a:r>
              <a:rPr lang="en-US" sz="1200" b="1" dirty="0">
                <a:solidFill>
                  <a:srgbClr val="B83280"/>
                </a:solidFill>
                <a:latin typeface="Segoe UI" pitchFamily="34" charset="0"/>
                <a:ea typeface="Segoe UI" pitchFamily="34" charset="-122"/>
                <a:cs typeface="Segoe UI" pitchFamily="34" charset="-120"/>
              </a:rPr>
              <a:t>no prior study modifies its pairwise dependency measure with Bayesian calibration during discovery itself.
</a:t>
            </a:r>
            <a:r>
              <a:rPr lang="en-US" sz="1150" dirty="0">
                <a:solidFill>
                  <a:srgbClr val="4A5568"/>
                </a:solidFill>
                <a:latin typeface="Segoe UI" pitchFamily="34" charset="0"/>
                <a:ea typeface="Segoe UI" pitchFamily="34" charset="-122"/>
                <a:cs typeface="Segoe UI" pitchFamily="34" charset="-120"/>
              </a:rPr>
              <a:t>Existing Bayesian treatments either replace the formalism (Moreira, 2015) or apply after discovery (Janssenswillen et al. 2020). Gap independently confirmed by the Santos et al. (2025) tertiary review.</a:t>
            </a:r>
            <a:endParaRPr lang="en-US" sz="1200" dirty="0"/>
          </a:p>
        </p:txBody>
      </p:sp>
      <p:sp>
        <p:nvSpPr>
          <p:cNvPr id="8" name="Shape 6"/>
          <p:cNvSpPr/>
          <p:nvPr/>
        </p:nvSpPr>
        <p:spPr>
          <a:xfrm>
            <a:off x="7452360" y="1097280"/>
            <a:ext cx="4297680" cy="2377440"/>
          </a:xfrm>
          <a:prstGeom prst="roundRect">
            <a:avLst>
              <a:gd name="adj" fmla="val 3077"/>
            </a:avLst>
          </a:prstGeom>
          <a:solidFill>
            <a:srgbClr val="1A365D"/>
          </a:solidFill>
          <a:ln w="9525">
            <a:solidFill>
              <a:srgbClr val="E2E8F0"/>
            </a:solidFill>
            <a:prstDash val="solid"/>
          </a:ln>
        </p:spPr>
        <p:txBody>
          <a:bodyPr/>
          <a:lstStyle/>
          <a:p>
            <a:endParaRPr lang="en-US"/>
          </a:p>
        </p:txBody>
      </p:sp>
      <p:sp>
        <p:nvSpPr>
          <p:cNvPr id="9" name="Text 7"/>
          <p:cNvSpPr/>
          <p:nvPr/>
        </p:nvSpPr>
        <p:spPr>
          <a:xfrm>
            <a:off x="7635240" y="1234440"/>
            <a:ext cx="3931920" cy="292608"/>
          </a:xfrm>
          <a:prstGeom prst="rect">
            <a:avLst/>
          </a:prstGeom>
          <a:noFill/>
          <a:ln/>
        </p:spPr>
        <p:txBody>
          <a:bodyPr wrap="square" rtlCol="0" anchor="ctr"/>
          <a:lstStyle/>
          <a:p>
            <a:pPr marL="0" indent="0">
              <a:buNone/>
            </a:pPr>
            <a:r>
              <a:rPr lang="en-US" sz="1100" b="1" kern="0" spc="150" dirty="0">
                <a:solidFill>
                  <a:srgbClr val="90CDF4"/>
                </a:solidFill>
                <a:latin typeface="Segoe UI" pitchFamily="34" charset="0"/>
                <a:ea typeface="Segoe UI" pitchFamily="34" charset="-122"/>
                <a:cs typeface="Segoe UI" pitchFamily="34" charset="-120"/>
              </a:rPr>
              <a:t>PUBLICATION TREND</a:t>
            </a:r>
            <a:endParaRPr lang="en-US" sz="1100" dirty="0"/>
          </a:p>
        </p:txBody>
      </p:sp>
      <p:sp>
        <p:nvSpPr>
          <p:cNvPr id="10" name="Shape 8"/>
          <p:cNvSpPr/>
          <p:nvPr/>
        </p:nvSpPr>
        <p:spPr>
          <a:xfrm>
            <a:off x="7772400" y="2532888"/>
            <a:ext cx="310896" cy="320040"/>
          </a:xfrm>
          <a:prstGeom prst="roundRect">
            <a:avLst>
              <a:gd name="adj" fmla="val 8824"/>
            </a:avLst>
          </a:prstGeom>
          <a:solidFill>
            <a:srgbClr val="63B3ED"/>
          </a:solidFill>
          <a:ln/>
        </p:spPr>
        <p:txBody>
          <a:bodyPr/>
          <a:lstStyle/>
          <a:p>
            <a:endParaRPr lang="en-US"/>
          </a:p>
        </p:txBody>
      </p:sp>
      <p:sp>
        <p:nvSpPr>
          <p:cNvPr id="11" name="Text 9"/>
          <p:cNvSpPr/>
          <p:nvPr/>
        </p:nvSpPr>
        <p:spPr>
          <a:xfrm>
            <a:off x="7699248" y="2889504"/>
            <a:ext cx="457200" cy="256032"/>
          </a:xfrm>
          <a:prstGeom prst="rect">
            <a:avLst/>
          </a:prstGeom>
          <a:noFill/>
          <a:ln/>
        </p:spPr>
        <p:txBody>
          <a:bodyPr wrap="square" rtlCol="0" anchor="ctr"/>
          <a:lstStyle/>
          <a:p>
            <a:pPr marL="0" indent="0" algn="ctr">
              <a:buNone/>
            </a:pPr>
            <a:r>
              <a:rPr lang="en-US" sz="900" dirty="0">
                <a:solidFill>
                  <a:srgbClr val="BEE3F8"/>
                </a:solidFill>
                <a:latin typeface="Segoe UI" pitchFamily="34" charset="0"/>
                <a:ea typeface="Segoe UI" pitchFamily="34" charset="-122"/>
                <a:cs typeface="Segoe UI" pitchFamily="34" charset="-120"/>
              </a:rPr>
              <a:t>12</a:t>
            </a:r>
            <a:endParaRPr lang="en-US" sz="900" dirty="0"/>
          </a:p>
        </p:txBody>
      </p:sp>
      <p:sp>
        <p:nvSpPr>
          <p:cNvPr id="12" name="Shape 10"/>
          <p:cNvSpPr/>
          <p:nvPr/>
        </p:nvSpPr>
        <p:spPr>
          <a:xfrm>
            <a:off x="8257032" y="2075688"/>
            <a:ext cx="310896" cy="777240"/>
          </a:xfrm>
          <a:prstGeom prst="roundRect">
            <a:avLst>
              <a:gd name="adj" fmla="val 8824"/>
            </a:avLst>
          </a:prstGeom>
          <a:solidFill>
            <a:srgbClr val="63B3ED"/>
          </a:solidFill>
          <a:ln/>
        </p:spPr>
        <p:txBody>
          <a:bodyPr/>
          <a:lstStyle/>
          <a:p>
            <a:endParaRPr lang="en-US"/>
          </a:p>
        </p:txBody>
      </p:sp>
      <p:sp>
        <p:nvSpPr>
          <p:cNvPr id="13" name="Text 11"/>
          <p:cNvSpPr/>
          <p:nvPr/>
        </p:nvSpPr>
        <p:spPr>
          <a:xfrm>
            <a:off x="8183880" y="2889504"/>
            <a:ext cx="457200" cy="256032"/>
          </a:xfrm>
          <a:prstGeom prst="rect">
            <a:avLst/>
          </a:prstGeom>
          <a:noFill/>
          <a:ln/>
        </p:spPr>
        <p:txBody>
          <a:bodyPr wrap="square" rtlCol="0" anchor="ctr"/>
          <a:lstStyle/>
          <a:p>
            <a:pPr marL="0" indent="0" algn="ctr">
              <a:buNone/>
            </a:pPr>
            <a:r>
              <a:rPr lang="en-US" sz="900" dirty="0">
                <a:solidFill>
                  <a:srgbClr val="BEE3F8"/>
                </a:solidFill>
                <a:latin typeface="Segoe UI" pitchFamily="34" charset="0"/>
                <a:ea typeface="Segoe UI" pitchFamily="34" charset="-122"/>
                <a:cs typeface="Segoe UI" pitchFamily="34" charset="-120"/>
              </a:rPr>
              <a:t>15</a:t>
            </a:r>
            <a:endParaRPr lang="en-US" sz="900" dirty="0"/>
          </a:p>
        </p:txBody>
      </p:sp>
      <p:sp>
        <p:nvSpPr>
          <p:cNvPr id="14" name="Shape 12"/>
          <p:cNvSpPr/>
          <p:nvPr/>
        </p:nvSpPr>
        <p:spPr>
          <a:xfrm>
            <a:off x="8741664" y="1892808"/>
            <a:ext cx="310896" cy="960120"/>
          </a:xfrm>
          <a:prstGeom prst="roundRect">
            <a:avLst>
              <a:gd name="adj" fmla="val 8824"/>
            </a:avLst>
          </a:prstGeom>
          <a:solidFill>
            <a:srgbClr val="63B3ED"/>
          </a:solidFill>
          <a:ln/>
        </p:spPr>
        <p:txBody>
          <a:bodyPr/>
          <a:lstStyle/>
          <a:p>
            <a:endParaRPr lang="en-US"/>
          </a:p>
        </p:txBody>
      </p:sp>
      <p:sp>
        <p:nvSpPr>
          <p:cNvPr id="15" name="Text 13"/>
          <p:cNvSpPr/>
          <p:nvPr/>
        </p:nvSpPr>
        <p:spPr>
          <a:xfrm>
            <a:off x="8668512" y="2889504"/>
            <a:ext cx="457200" cy="256032"/>
          </a:xfrm>
          <a:prstGeom prst="rect">
            <a:avLst/>
          </a:prstGeom>
          <a:noFill/>
          <a:ln/>
        </p:spPr>
        <p:txBody>
          <a:bodyPr wrap="square" rtlCol="0" anchor="ctr"/>
          <a:lstStyle/>
          <a:p>
            <a:pPr marL="0" indent="0" algn="ctr">
              <a:buNone/>
            </a:pPr>
            <a:r>
              <a:rPr lang="en-US" sz="900" dirty="0">
                <a:solidFill>
                  <a:srgbClr val="BEE3F8"/>
                </a:solidFill>
                <a:latin typeface="Segoe UI" pitchFamily="34" charset="0"/>
                <a:ea typeface="Segoe UI" pitchFamily="34" charset="-122"/>
                <a:cs typeface="Segoe UI" pitchFamily="34" charset="-120"/>
              </a:rPr>
              <a:t>19</a:t>
            </a:r>
            <a:endParaRPr lang="en-US" sz="900" dirty="0"/>
          </a:p>
        </p:txBody>
      </p:sp>
      <p:sp>
        <p:nvSpPr>
          <p:cNvPr id="16" name="Shape 14"/>
          <p:cNvSpPr/>
          <p:nvPr/>
        </p:nvSpPr>
        <p:spPr>
          <a:xfrm>
            <a:off x="9226296" y="2350008"/>
            <a:ext cx="310896" cy="502920"/>
          </a:xfrm>
          <a:prstGeom prst="roundRect">
            <a:avLst>
              <a:gd name="adj" fmla="val 8824"/>
            </a:avLst>
          </a:prstGeom>
          <a:solidFill>
            <a:srgbClr val="63B3ED"/>
          </a:solidFill>
          <a:ln/>
        </p:spPr>
        <p:txBody>
          <a:bodyPr/>
          <a:lstStyle/>
          <a:p>
            <a:endParaRPr lang="en-US"/>
          </a:p>
        </p:txBody>
      </p:sp>
      <p:sp>
        <p:nvSpPr>
          <p:cNvPr id="17" name="Text 15"/>
          <p:cNvSpPr/>
          <p:nvPr/>
        </p:nvSpPr>
        <p:spPr>
          <a:xfrm>
            <a:off x="9153144" y="2889504"/>
            <a:ext cx="457200" cy="256032"/>
          </a:xfrm>
          <a:prstGeom prst="rect">
            <a:avLst/>
          </a:prstGeom>
          <a:noFill/>
          <a:ln/>
        </p:spPr>
        <p:txBody>
          <a:bodyPr wrap="square" rtlCol="0" anchor="ctr"/>
          <a:lstStyle/>
          <a:p>
            <a:pPr marL="0" indent="0" algn="ctr">
              <a:buNone/>
            </a:pPr>
            <a:r>
              <a:rPr lang="en-US" sz="900" dirty="0">
                <a:solidFill>
                  <a:srgbClr val="BEE3F8"/>
                </a:solidFill>
                <a:latin typeface="Segoe UI" pitchFamily="34" charset="0"/>
                <a:ea typeface="Segoe UI" pitchFamily="34" charset="-122"/>
                <a:cs typeface="Segoe UI" pitchFamily="34" charset="-120"/>
              </a:rPr>
              <a:t>20</a:t>
            </a:r>
            <a:endParaRPr lang="en-US" sz="900" dirty="0"/>
          </a:p>
        </p:txBody>
      </p:sp>
      <p:sp>
        <p:nvSpPr>
          <p:cNvPr id="18" name="Shape 16"/>
          <p:cNvSpPr/>
          <p:nvPr/>
        </p:nvSpPr>
        <p:spPr>
          <a:xfrm>
            <a:off x="9710928" y="2395728"/>
            <a:ext cx="310896" cy="457200"/>
          </a:xfrm>
          <a:prstGeom prst="roundRect">
            <a:avLst>
              <a:gd name="adj" fmla="val 8824"/>
            </a:avLst>
          </a:prstGeom>
          <a:solidFill>
            <a:srgbClr val="63B3ED"/>
          </a:solidFill>
          <a:ln/>
        </p:spPr>
        <p:txBody>
          <a:bodyPr/>
          <a:lstStyle/>
          <a:p>
            <a:endParaRPr lang="en-US"/>
          </a:p>
        </p:txBody>
      </p:sp>
      <p:sp>
        <p:nvSpPr>
          <p:cNvPr id="19" name="Text 17"/>
          <p:cNvSpPr/>
          <p:nvPr/>
        </p:nvSpPr>
        <p:spPr>
          <a:xfrm>
            <a:off x="9637776" y="2889504"/>
            <a:ext cx="457200" cy="256032"/>
          </a:xfrm>
          <a:prstGeom prst="rect">
            <a:avLst/>
          </a:prstGeom>
          <a:noFill/>
          <a:ln/>
        </p:spPr>
        <p:txBody>
          <a:bodyPr wrap="square" rtlCol="0" anchor="ctr"/>
          <a:lstStyle/>
          <a:p>
            <a:pPr marL="0" indent="0" algn="ctr">
              <a:buNone/>
            </a:pPr>
            <a:r>
              <a:rPr lang="en-US" sz="900" dirty="0">
                <a:solidFill>
                  <a:srgbClr val="BEE3F8"/>
                </a:solidFill>
                <a:latin typeface="Segoe UI" pitchFamily="34" charset="0"/>
                <a:ea typeface="Segoe UI" pitchFamily="34" charset="-122"/>
                <a:cs typeface="Segoe UI" pitchFamily="34" charset="-120"/>
              </a:rPr>
              <a:t>22</a:t>
            </a:r>
            <a:endParaRPr lang="en-US" sz="900" dirty="0"/>
          </a:p>
        </p:txBody>
      </p:sp>
      <p:sp>
        <p:nvSpPr>
          <p:cNvPr id="20" name="Shape 18"/>
          <p:cNvSpPr/>
          <p:nvPr/>
        </p:nvSpPr>
        <p:spPr>
          <a:xfrm>
            <a:off x="10195560" y="2532888"/>
            <a:ext cx="310896" cy="320040"/>
          </a:xfrm>
          <a:prstGeom prst="roundRect">
            <a:avLst>
              <a:gd name="adj" fmla="val 8824"/>
            </a:avLst>
          </a:prstGeom>
          <a:solidFill>
            <a:srgbClr val="63B3ED"/>
          </a:solidFill>
          <a:ln/>
        </p:spPr>
        <p:txBody>
          <a:bodyPr/>
          <a:lstStyle/>
          <a:p>
            <a:endParaRPr lang="en-US"/>
          </a:p>
        </p:txBody>
      </p:sp>
      <p:sp>
        <p:nvSpPr>
          <p:cNvPr id="21" name="Text 19"/>
          <p:cNvSpPr/>
          <p:nvPr/>
        </p:nvSpPr>
        <p:spPr>
          <a:xfrm>
            <a:off x="10122408" y="2889504"/>
            <a:ext cx="457200" cy="256032"/>
          </a:xfrm>
          <a:prstGeom prst="rect">
            <a:avLst/>
          </a:prstGeom>
          <a:noFill/>
          <a:ln/>
        </p:spPr>
        <p:txBody>
          <a:bodyPr wrap="square" rtlCol="0" anchor="ctr"/>
          <a:lstStyle/>
          <a:p>
            <a:pPr marL="0" indent="0" algn="ctr">
              <a:buNone/>
            </a:pPr>
            <a:r>
              <a:rPr lang="en-US" sz="900" dirty="0">
                <a:solidFill>
                  <a:srgbClr val="BEE3F8"/>
                </a:solidFill>
                <a:latin typeface="Segoe UI" pitchFamily="34" charset="0"/>
                <a:ea typeface="Segoe UI" pitchFamily="34" charset="-122"/>
                <a:cs typeface="Segoe UI" pitchFamily="34" charset="-120"/>
              </a:rPr>
              <a:t>23</a:t>
            </a:r>
            <a:endParaRPr lang="en-US" sz="900" dirty="0"/>
          </a:p>
        </p:txBody>
      </p:sp>
      <p:sp>
        <p:nvSpPr>
          <p:cNvPr id="22" name="Shape 20"/>
          <p:cNvSpPr/>
          <p:nvPr/>
        </p:nvSpPr>
        <p:spPr>
          <a:xfrm>
            <a:off x="10680192" y="2350008"/>
            <a:ext cx="310896" cy="502920"/>
          </a:xfrm>
          <a:prstGeom prst="roundRect">
            <a:avLst>
              <a:gd name="adj" fmla="val 8824"/>
            </a:avLst>
          </a:prstGeom>
          <a:solidFill>
            <a:srgbClr val="63B3ED"/>
          </a:solidFill>
          <a:ln/>
        </p:spPr>
        <p:txBody>
          <a:bodyPr/>
          <a:lstStyle/>
          <a:p>
            <a:endParaRPr lang="en-US"/>
          </a:p>
        </p:txBody>
      </p:sp>
      <p:sp>
        <p:nvSpPr>
          <p:cNvPr id="23" name="Text 21"/>
          <p:cNvSpPr/>
          <p:nvPr/>
        </p:nvSpPr>
        <p:spPr>
          <a:xfrm>
            <a:off x="10607040" y="2889504"/>
            <a:ext cx="457200" cy="256032"/>
          </a:xfrm>
          <a:prstGeom prst="rect">
            <a:avLst/>
          </a:prstGeom>
          <a:noFill/>
          <a:ln/>
        </p:spPr>
        <p:txBody>
          <a:bodyPr wrap="square" rtlCol="0" anchor="ctr"/>
          <a:lstStyle/>
          <a:p>
            <a:pPr marL="0" indent="0" algn="ctr">
              <a:buNone/>
            </a:pPr>
            <a:r>
              <a:rPr lang="en-US" sz="900" dirty="0">
                <a:solidFill>
                  <a:srgbClr val="BEE3F8"/>
                </a:solidFill>
                <a:latin typeface="Segoe UI" pitchFamily="34" charset="0"/>
                <a:ea typeface="Segoe UI" pitchFamily="34" charset="-122"/>
                <a:cs typeface="Segoe UI" pitchFamily="34" charset="-120"/>
              </a:rPr>
              <a:t>24</a:t>
            </a:r>
            <a:endParaRPr lang="en-US" sz="900" dirty="0"/>
          </a:p>
        </p:txBody>
      </p:sp>
      <p:sp>
        <p:nvSpPr>
          <p:cNvPr id="24" name="Shape 22"/>
          <p:cNvSpPr/>
          <p:nvPr/>
        </p:nvSpPr>
        <p:spPr>
          <a:xfrm>
            <a:off x="11164824" y="1709928"/>
            <a:ext cx="310896" cy="1143000"/>
          </a:xfrm>
          <a:prstGeom prst="roundRect">
            <a:avLst>
              <a:gd name="adj" fmla="val 8824"/>
            </a:avLst>
          </a:prstGeom>
          <a:solidFill>
            <a:srgbClr val="63B3ED"/>
          </a:solidFill>
          <a:ln/>
        </p:spPr>
        <p:txBody>
          <a:bodyPr/>
          <a:lstStyle/>
          <a:p>
            <a:endParaRPr lang="en-US"/>
          </a:p>
        </p:txBody>
      </p:sp>
      <p:sp>
        <p:nvSpPr>
          <p:cNvPr id="25" name="Text 23"/>
          <p:cNvSpPr/>
          <p:nvPr/>
        </p:nvSpPr>
        <p:spPr>
          <a:xfrm>
            <a:off x="11091672" y="2889504"/>
            <a:ext cx="457200" cy="256032"/>
          </a:xfrm>
          <a:prstGeom prst="rect">
            <a:avLst/>
          </a:prstGeom>
          <a:noFill/>
          <a:ln/>
        </p:spPr>
        <p:txBody>
          <a:bodyPr wrap="square" rtlCol="0" anchor="ctr"/>
          <a:lstStyle/>
          <a:p>
            <a:pPr marL="0" indent="0" algn="ctr">
              <a:buNone/>
            </a:pPr>
            <a:r>
              <a:rPr lang="en-US" sz="900" dirty="0">
                <a:solidFill>
                  <a:srgbClr val="BEE3F8"/>
                </a:solidFill>
                <a:latin typeface="Segoe UI" pitchFamily="34" charset="0"/>
                <a:ea typeface="Segoe UI" pitchFamily="34" charset="-122"/>
                <a:cs typeface="Segoe UI" pitchFamily="34" charset="-120"/>
              </a:rPr>
              <a:t>25</a:t>
            </a:r>
            <a:endParaRPr lang="en-US" sz="900" dirty="0"/>
          </a:p>
        </p:txBody>
      </p:sp>
      <p:sp>
        <p:nvSpPr>
          <p:cNvPr id="26" name="Text 24"/>
          <p:cNvSpPr/>
          <p:nvPr/>
        </p:nvSpPr>
        <p:spPr>
          <a:xfrm>
            <a:off x="7635240" y="3145536"/>
            <a:ext cx="3977640" cy="274320"/>
          </a:xfrm>
          <a:prstGeom prst="rect">
            <a:avLst/>
          </a:prstGeom>
          <a:noFill/>
          <a:ln/>
        </p:spPr>
        <p:txBody>
          <a:bodyPr wrap="square" rtlCol="0" anchor="ctr"/>
          <a:lstStyle/>
          <a:p>
            <a:pPr marL="0" indent="0">
              <a:buNone/>
            </a:pPr>
            <a:r>
              <a:rPr lang="en-US" sz="850" i="1" dirty="0">
                <a:solidFill>
                  <a:srgbClr val="BEE3F8"/>
                </a:solidFill>
                <a:latin typeface="Segoe UI" pitchFamily="34" charset="0"/>
                <a:ea typeface="Segoe UI" pitchFamily="34" charset="-122"/>
                <a:cs typeface="Segoe UI" pitchFamily="34" charset="-120"/>
              </a:rPr>
              <a:t>Three distinct waves — peaks in 2015, 2019, 2025 (schematic)</a:t>
            </a:r>
            <a:endParaRPr lang="en-US" sz="850" dirty="0"/>
          </a:p>
        </p:txBody>
      </p:sp>
      <p:sp>
        <p:nvSpPr>
          <p:cNvPr id="27" name="Shape 25"/>
          <p:cNvSpPr/>
          <p:nvPr/>
        </p:nvSpPr>
        <p:spPr>
          <a:xfrm>
            <a:off x="7452360" y="3703320"/>
            <a:ext cx="4297680" cy="1051560"/>
          </a:xfrm>
          <a:prstGeom prst="roundRect">
            <a:avLst>
              <a:gd name="adj" fmla="val 6957"/>
            </a:avLst>
          </a:prstGeom>
          <a:solidFill>
            <a:srgbClr val="FFFAF0"/>
          </a:solidFill>
          <a:ln w="9525">
            <a:solidFill>
              <a:srgbClr val="E2E8F0"/>
            </a:solidFill>
            <a:prstDash val="solid"/>
          </a:ln>
        </p:spPr>
        <p:txBody>
          <a:bodyPr/>
          <a:lstStyle/>
          <a:p>
            <a:endParaRPr lang="en-US"/>
          </a:p>
        </p:txBody>
      </p:sp>
      <p:sp>
        <p:nvSpPr>
          <p:cNvPr id="28" name="Shape 26"/>
          <p:cNvSpPr/>
          <p:nvPr/>
        </p:nvSpPr>
        <p:spPr>
          <a:xfrm>
            <a:off x="7452360" y="3703320"/>
            <a:ext cx="64008" cy="1051560"/>
          </a:xfrm>
          <a:prstGeom prst="roundRect">
            <a:avLst>
              <a:gd name="adj" fmla="val 42857"/>
            </a:avLst>
          </a:prstGeom>
          <a:solidFill>
            <a:srgbClr val="DD6B20"/>
          </a:solidFill>
          <a:ln/>
        </p:spPr>
        <p:txBody>
          <a:bodyPr/>
          <a:lstStyle/>
          <a:p>
            <a:endParaRPr lang="en-US"/>
          </a:p>
        </p:txBody>
      </p:sp>
      <p:sp>
        <p:nvSpPr>
          <p:cNvPr id="29" name="Text 27"/>
          <p:cNvSpPr/>
          <p:nvPr/>
        </p:nvSpPr>
        <p:spPr>
          <a:xfrm>
            <a:off x="7680960" y="3840480"/>
            <a:ext cx="3886200" cy="822960"/>
          </a:xfrm>
          <a:prstGeom prst="rect">
            <a:avLst/>
          </a:prstGeom>
          <a:noFill/>
          <a:ln/>
        </p:spPr>
        <p:txBody>
          <a:bodyPr wrap="square" rtlCol="0" anchor="t"/>
          <a:lstStyle/>
          <a:p>
            <a:pPr marL="0" indent="0">
              <a:lnSpc>
                <a:spcPct val="120000"/>
              </a:lnSpc>
              <a:buNone/>
            </a:pPr>
            <a:r>
              <a:rPr lang="en-US" sz="1200" b="1" dirty="0">
                <a:solidFill>
                  <a:srgbClr val="DD6B20"/>
                </a:solidFill>
                <a:latin typeface="Segoe UI" pitchFamily="34" charset="0"/>
                <a:ea typeface="Segoe UI" pitchFamily="34" charset="-122"/>
                <a:cs typeface="Segoe UI" pitchFamily="34" charset="-120"/>
              </a:rPr>
              <a:t>Venue Distribution
</a:t>
            </a:r>
            <a:r>
              <a:rPr lang="en-US" sz="1150" dirty="0">
                <a:solidFill>
                  <a:srgbClr val="4A5568"/>
                </a:solidFill>
                <a:latin typeface="Segoe UI" pitchFamily="34" charset="0"/>
                <a:ea typeface="Segoe UI" pitchFamily="34" charset="-122"/>
                <a:cs typeface="Segoe UI" pitchFamily="34" charset="-120"/>
              </a:rPr>
              <a:t>Technical: 4   |   Hybrid: 3   |   Domain-Specific: 3</a:t>
            </a:r>
            <a:endParaRPr lang="en-US" sz="1200" dirty="0"/>
          </a:p>
        </p:txBody>
      </p:sp>
      <p:sp>
        <p:nvSpPr>
          <p:cNvPr id="30" name="Shape 28"/>
          <p:cNvSpPr/>
          <p:nvPr/>
        </p:nvSpPr>
        <p:spPr>
          <a:xfrm>
            <a:off x="7452360" y="4937760"/>
            <a:ext cx="4297680" cy="1097280"/>
          </a:xfrm>
          <a:prstGeom prst="roundRect">
            <a:avLst>
              <a:gd name="adj" fmla="val 6667"/>
            </a:avLst>
          </a:prstGeom>
          <a:solidFill>
            <a:srgbClr val="E6FFFA"/>
          </a:solidFill>
          <a:ln w="9525">
            <a:solidFill>
              <a:srgbClr val="E2E8F0"/>
            </a:solidFill>
            <a:prstDash val="solid"/>
          </a:ln>
        </p:spPr>
        <p:txBody>
          <a:bodyPr/>
          <a:lstStyle/>
          <a:p>
            <a:endParaRPr lang="en-US"/>
          </a:p>
        </p:txBody>
      </p:sp>
      <p:sp>
        <p:nvSpPr>
          <p:cNvPr id="31" name="Shape 29"/>
          <p:cNvSpPr/>
          <p:nvPr/>
        </p:nvSpPr>
        <p:spPr>
          <a:xfrm>
            <a:off x="7452360" y="4937760"/>
            <a:ext cx="64008" cy="1097280"/>
          </a:xfrm>
          <a:prstGeom prst="roundRect">
            <a:avLst>
              <a:gd name="adj" fmla="val 42857"/>
            </a:avLst>
          </a:prstGeom>
          <a:solidFill>
            <a:srgbClr val="319795"/>
          </a:solidFill>
          <a:ln/>
        </p:spPr>
        <p:txBody>
          <a:bodyPr/>
          <a:lstStyle/>
          <a:p>
            <a:endParaRPr lang="en-US"/>
          </a:p>
        </p:txBody>
      </p:sp>
      <p:sp>
        <p:nvSpPr>
          <p:cNvPr id="32" name="Text 30"/>
          <p:cNvSpPr/>
          <p:nvPr/>
        </p:nvSpPr>
        <p:spPr>
          <a:xfrm>
            <a:off x="7680960" y="5047488"/>
            <a:ext cx="3886200" cy="914400"/>
          </a:xfrm>
          <a:prstGeom prst="rect">
            <a:avLst/>
          </a:prstGeom>
          <a:noFill/>
          <a:ln/>
        </p:spPr>
        <p:txBody>
          <a:bodyPr wrap="square" rtlCol="0" anchor="t"/>
          <a:lstStyle/>
          <a:p>
            <a:pPr marL="0" indent="0">
              <a:lnSpc>
                <a:spcPct val="110000"/>
              </a:lnSpc>
              <a:buNone/>
            </a:pPr>
            <a:r>
              <a:rPr lang="en-US" sz="1100" b="1" dirty="0">
                <a:solidFill>
                  <a:srgbClr val="319795"/>
                </a:solidFill>
                <a:latin typeface="Segoe UI" pitchFamily="34" charset="0"/>
                <a:ea typeface="Segoe UI" pitchFamily="34" charset="-122"/>
                <a:cs typeface="Segoe UI" pitchFamily="34" charset="-120"/>
              </a:rPr>
              <a:t>Recurring field weaknesses (2025 reviews):
</a:t>
            </a:r>
            <a:r>
              <a:rPr lang="en-US" sz="1050" dirty="0">
                <a:solidFill>
                  <a:srgbClr val="4A5568"/>
                </a:solidFill>
                <a:latin typeface="Segoe UI" pitchFamily="34" charset="0"/>
                <a:ea typeface="Segoe UI" pitchFamily="34" charset="-122"/>
                <a:cs typeface="Segoe UI" pitchFamily="34" charset="-120"/>
              </a:rPr>
              <a:t>small datasets, inconsistent metrics, reliance on public logs — all three addressed here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92608"/>
            <a:ext cx="64008" cy="475488"/>
          </a:xfrm>
          <a:prstGeom prst="rect">
            <a:avLst/>
          </a:prstGeom>
          <a:solidFill>
            <a:srgbClr val="DD6B20"/>
          </a:solidFill>
          <a:ln/>
        </p:spPr>
        <p:txBody>
          <a:bodyPr/>
          <a:lstStyle/>
          <a:p>
            <a:endParaRPr lang="en-US"/>
          </a:p>
        </p:txBody>
      </p:sp>
      <p:sp>
        <p:nvSpPr>
          <p:cNvPr id="3" name="Text 1"/>
          <p:cNvSpPr/>
          <p:nvPr/>
        </p:nvSpPr>
        <p:spPr>
          <a:xfrm>
            <a:off x="566928" y="237744"/>
            <a:ext cx="11155680" cy="585216"/>
          </a:xfrm>
          <a:prstGeom prst="rect">
            <a:avLst/>
          </a:prstGeom>
          <a:noFill/>
          <a:ln/>
        </p:spPr>
        <p:txBody>
          <a:bodyPr wrap="square" rtlCol="0" anchor="ctr"/>
          <a:lstStyle/>
          <a:p>
            <a:pPr marL="0" indent="0" algn="l">
              <a:buNone/>
            </a:pPr>
            <a:r>
              <a:rPr lang="en-US" sz="2500" b="1" dirty="0">
                <a:solidFill>
                  <a:srgbClr val="1A365D"/>
                </a:solidFill>
                <a:latin typeface="Segoe UI" pitchFamily="34" charset="0"/>
                <a:ea typeface="Segoe UI" pitchFamily="34" charset="-122"/>
                <a:cs typeface="Segoe UI" pitchFamily="34" charset="-120"/>
              </a:rPr>
              <a:t>⚙️  Three-Stage Methodology Pipeline</a:t>
            </a:r>
            <a:endParaRPr lang="en-US" sz="2500" dirty="0"/>
          </a:p>
        </p:txBody>
      </p:sp>
      <p:sp>
        <p:nvSpPr>
          <p:cNvPr id="4" name="Shape 2"/>
          <p:cNvSpPr/>
          <p:nvPr/>
        </p:nvSpPr>
        <p:spPr>
          <a:xfrm>
            <a:off x="685800" y="1325880"/>
            <a:ext cx="3383280" cy="3017520"/>
          </a:xfrm>
          <a:prstGeom prst="roundRect">
            <a:avLst>
              <a:gd name="adj" fmla="val 2424"/>
            </a:avLst>
          </a:prstGeom>
          <a:solidFill>
            <a:srgbClr val="EBF8FF"/>
          </a:solidFill>
          <a:ln w="9525">
            <a:solidFill>
              <a:srgbClr val="E2E8F0"/>
            </a:solidFill>
            <a:prstDash val="solid"/>
          </a:ln>
        </p:spPr>
        <p:txBody>
          <a:bodyPr/>
          <a:lstStyle/>
          <a:p>
            <a:endParaRPr lang="en-US"/>
          </a:p>
        </p:txBody>
      </p:sp>
      <p:sp>
        <p:nvSpPr>
          <p:cNvPr id="5" name="Shape 3"/>
          <p:cNvSpPr/>
          <p:nvPr/>
        </p:nvSpPr>
        <p:spPr>
          <a:xfrm>
            <a:off x="2103120" y="1554480"/>
            <a:ext cx="548640" cy="548640"/>
          </a:xfrm>
          <a:prstGeom prst="ellipse">
            <a:avLst/>
          </a:prstGeom>
          <a:solidFill>
            <a:srgbClr val="3182CE"/>
          </a:solidFill>
          <a:ln/>
        </p:spPr>
        <p:txBody>
          <a:bodyPr/>
          <a:lstStyle/>
          <a:p>
            <a:endParaRPr lang="en-US"/>
          </a:p>
        </p:txBody>
      </p:sp>
      <p:sp>
        <p:nvSpPr>
          <p:cNvPr id="6" name="Text 4"/>
          <p:cNvSpPr/>
          <p:nvPr/>
        </p:nvSpPr>
        <p:spPr>
          <a:xfrm>
            <a:off x="2103120" y="1554480"/>
            <a:ext cx="548640" cy="548640"/>
          </a:xfrm>
          <a:prstGeom prst="rect">
            <a:avLst/>
          </a:prstGeom>
          <a:noFill/>
          <a:ln/>
        </p:spPr>
        <p:txBody>
          <a:bodyPr wrap="square" rtlCol="0" anchor="ctr"/>
          <a:lstStyle/>
          <a:p>
            <a:pPr marL="0" indent="0" algn="ctr">
              <a:buNone/>
            </a:pPr>
            <a:r>
              <a:rPr lang="en-US" sz="1800" b="1" dirty="0">
                <a:solidFill>
                  <a:srgbClr val="FFFFFF"/>
                </a:solidFill>
                <a:latin typeface="Segoe UI" pitchFamily="34" charset="0"/>
                <a:ea typeface="Segoe UI" pitchFamily="34" charset="-122"/>
                <a:cs typeface="Segoe UI" pitchFamily="34" charset="-120"/>
              </a:rPr>
              <a:t>1</a:t>
            </a:r>
            <a:endParaRPr lang="en-US" sz="1800" dirty="0"/>
          </a:p>
        </p:txBody>
      </p:sp>
      <p:sp>
        <p:nvSpPr>
          <p:cNvPr id="7" name="Text 5"/>
          <p:cNvSpPr/>
          <p:nvPr/>
        </p:nvSpPr>
        <p:spPr>
          <a:xfrm>
            <a:off x="868680" y="2240280"/>
            <a:ext cx="3017520" cy="384048"/>
          </a:xfrm>
          <a:prstGeom prst="rect">
            <a:avLst/>
          </a:prstGeom>
          <a:noFill/>
          <a:ln/>
        </p:spPr>
        <p:txBody>
          <a:bodyPr wrap="square" rtlCol="0" anchor="ctr"/>
          <a:lstStyle/>
          <a:p>
            <a:pPr marL="0" indent="0" algn="ctr">
              <a:buNone/>
            </a:pPr>
            <a:r>
              <a:rPr lang="en-US" sz="1450" b="1" dirty="0">
                <a:solidFill>
                  <a:srgbClr val="3182CE"/>
                </a:solidFill>
                <a:latin typeface="Segoe UI" pitchFamily="34" charset="0"/>
                <a:ea typeface="Segoe UI" pitchFamily="34" charset="-122"/>
                <a:cs typeface="Segoe UI" pitchFamily="34" charset="-120"/>
              </a:rPr>
              <a:t>Baseline Discovery</a:t>
            </a:r>
            <a:endParaRPr lang="en-US" sz="1450" dirty="0"/>
          </a:p>
        </p:txBody>
      </p:sp>
      <p:sp>
        <p:nvSpPr>
          <p:cNvPr id="8" name="Text 6"/>
          <p:cNvSpPr/>
          <p:nvPr/>
        </p:nvSpPr>
        <p:spPr>
          <a:xfrm>
            <a:off x="868680" y="2697480"/>
            <a:ext cx="3017520" cy="1051560"/>
          </a:xfrm>
          <a:prstGeom prst="rect">
            <a:avLst/>
          </a:prstGeom>
          <a:noFill/>
          <a:ln/>
        </p:spPr>
        <p:txBody>
          <a:bodyPr wrap="square" rtlCol="0" anchor="t"/>
          <a:lstStyle/>
          <a:p>
            <a:pPr marL="0" indent="0" algn="ctr">
              <a:lnSpc>
                <a:spcPct val="120000"/>
              </a:lnSpc>
              <a:buNone/>
            </a:pPr>
            <a:r>
              <a:rPr lang="en-US" sz="1150" dirty="0">
                <a:solidFill>
                  <a:srgbClr val="4A5568"/>
                </a:solidFill>
                <a:latin typeface="Segoe UI" pitchFamily="34" charset="0"/>
                <a:ea typeface="Segoe UI" pitchFamily="34" charset="-122"/>
                <a:cs typeface="Segoe UI" pitchFamily="34" charset="-120"/>
              </a:rPr>
              <a:t>Classical Heuristic Miner</a:t>
            </a:r>
            <a:endParaRPr lang="en-US" sz="1150" dirty="0"/>
          </a:p>
          <a:p>
            <a:pPr marL="0" indent="0" algn="ctr">
              <a:lnSpc>
                <a:spcPct val="120000"/>
              </a:lnSpc>
              <a:buNone/>
            </a:pPr>
            <a:r>
              <a:rPr lang="en-US" sz="1150" dirty="0">
                <a:solidFill>
                  <a:srgbClr val="4A5568"/>
                </a:solidFill>
                <a:latin typeface="Segoe UI" pitchFamily="34" charset="0"/>
                <a:ea typeface="Segoe UI" pitchFamily="34" charset="-122"/>
                <a:cs typeface="Segoe UI" pitchFamily="34" charset="-120"/>
              </a:rPr>
              <a:t>Frequency-based</a:t>
            </a:r>
            <a:endParaRPr lang="en-US" sz="1150" dirty="0"/>
          </a:p>
          <a:p>
            <a:pPr marL="0" indent="0" algn="ctr">
              <a:lnSpc>
                <a:spcPct val="120000"/>
              </a:lnSpc>
              <a:buNone/>
            </a:pPr>
            <a:r>
              <a:rPr lang="en-US" sz="1150" dirty="0">
                <a:solidFill>
                  <a:srgbClr val="4A5568"/>
                </a:solidFill>
                <a:latin typeface="Segoe UI" pitchFamily="34" charset="0"/>
                <a:ea typeface="Segoe UI" pitchFamily="34" charset="-122"/>
                <a:cs typeface="Segoe UI" pitchFamily="34" charset="-120"/>
              </a:rPr>
              <a:t>~17 edges</a:t>
            </a:r>
            <a:endParaRPr lang="en-US" sz="1150" dirty="0"/>
          </a:p>
        </p:txBody>
      </p:sp>
      <p:sp>
        <p:nvSpPr>
          <p:cNvPr id="9" name="Text 7"/>
          <p:cNvSpPr/>
          <p:nvPr/>
        </p:nvSpPr>
        <p:spPr>
          <a:xfrm>
            <a:off x="868680" y="3840480"/>
            <a:ext cx="3017520" cy="320040"/>
          </a:xfrm>
          <a:prstGeom prst="rect">
            <a:avLst/>
          </a:prstGeom>
          <a:noFill/>
          <a:ln/>
        </p:spPr>
        <p:txBody>
          <a:bodyPr wrap="square" rtlCol="0" anchor="ctr"/>
          <a:lstStyle/>
          <a:p>
            <a:pPr marL="0" indent="0" algn="ctr">
              <a:buNone/>
            </a:pPr>
            <a:r>
              <a:rPr lang="en-US" sz="1100" b="1" i="1" dirty="0">
                <a:solidFill>
                  <a:srgbClr val="3182CE"/>
                </a:solidFill>
                <a:latin typeface="Segoe UI" pitchFamily="34" charset="0"/>
                <a:ea typeface="Segoe UI" pitchFamily="34" charset="-122"/>
                <a:cs typeface="Segoe UI" pitchFamily="34" charset="-120"/>
              </a:rPr>
              <a:t>Dominant pathways</a:t>
            </a:r>
            <a:endParaRPr lang="en-US" sz="1100" dirty="0"/>
          </a:p>
        </p:txBody>
      </p:sp>
      <p:sp>
        <p:nvSpPr>
          <p:cNvPr id="10" name="Text 8"/>
          <p:cNvSpPr/>
          <p:nvPr/>
        </p:nvSpPr>
        <p:spPr>
          <a:xfrm>
            <a:off x="4087368" y="2606040"/>
            <a:ext cx="457200" cy="457200"/>
          </a:xfrm>
          <a:prstGeom prst="rect">
            <a:avLst/>
          </a:prstGeom>
          <a:noFill/>
          <a:ln/>
        </p:spPr>
        <p:txBody>
          <a:bodyPr wrap="square" rtlCol="0" anchor="ctr"/>
          <a:lstStyle/>
          <a:p>
            <a:pPr marL="0" indent="0" algn="ctr">
              <a:buNone/>
            </a:pPr>
            <a:r>
              <a:rPr lang="en-US" sz="2200" b="1" dirty="0">
                <a:solidFill>
                  <a:srgbClr val="718096"/>
                </a:solidFill>
              </a:rPr>
              <a:t>→</a:t>
            </a:r>
            <a:endParaRPr lang="en-US" sz="2200" dirty="0"/>
          </a:p>
        </p:txBody>
      </p:sp>
      <p:sp>
        <p:nvSpPr>
          <p:cNvPr id="11" name="Shape 9"/>
          <p:cNvSpPr/>
          <p:nvPr/>
        </p:nvSpPr>
        <p:spPr>
          <a:xfrm>
            <a:off x="4572000" y="1325880"/>
            <a:ext cx="3383280" cy="3017520"/>
          </a:xfrm>
          <a:prstGeom prst="roundRect">
            <a:avLst>
              <a:gd name="adj" fmla="val 2424"/>
            </a:avLst>
          </a:prstGeom>
          <a:solidFill>
            <a:srgbClr val="FFFAF0"/>
          </a:solidFill>
          <a:ln w="15875">
            <a:solidFill>
              <a:srgbClr val="DD6B20"/>
            </a:solidFill>
            <a:prstDash val="solid"/>
          </a:ln>
        </p:spPr>
        <p:txBody>
          <a:bodyPr/>
          <a:lstStyle/>
          <a:p>
            <a:endParaRPr lang="en-US"/>
          </a:p>
        </p:txBody>
      </p:sp>
      <p:sp>
        <p:nvSpPr>
          <p:cNvPr id="12" name="Shape 10"/>
          <p:cNvSpPr/>
          <p:nvPr/>
        </p:nvSpPr>
        <p:spPr>
          <a:xfrm>
            <a:off x="5989320" y="1554480"/>
            <a:ext cx="548640" cy="548640"/>
          </a:xfrm>
          <a:prstGeom prst="ellipse">
            <a:avLst/>
          </a:prstGeom>
          <a:solidFill>
            <a:srgbClr val="DD6B20"/>
          </a:solidFill>
          <a:ln/>
        </p:spPr>
        <p:txBody>
          <a:bodyPr/>
          <a:lstStyle/>
          <a:p>
            <a:endParaRPr lang="en-US"/>
          </a:p>
        </p:txBody>
      </p:sp>
      <p:sp>
        <p:nvSpPr>
          <p:cNvPr id="13" name="Text 11"/>
          <p:cNvSpPr/>
          <p:nvPr/>
        </p:nvSpPr>
        <p:spPr>
          <a:xfrm>
            <a:off x="5989320" y="1554480"/>
            <a:ext cx="548640" cy="548640"/>
          </a:xfrm>
          <a:prstGeom prst="rect">
            <a:avLst/>
          </a:prstGeom>
          <a:noFill/>
          <a:ln/>
        </p:spPr>
        <p:txBody>
          <a:bodyPr wrap="square" rtlCol="0" anchor="ctr"/>
          <a:lstStyle/>
          <a:p>
            <a:pPr marL="0" indent="0" algn="ctr">
              <a:buNone/>
            </a:pPr>
            <a:r>
              <a:rPr lang="en-US" sz="1800" b="1" dirty="0">
                <a:solidFill>
                  <a:srgbClr val="FFFFFF"/>
                </a:solidFill>
                <a:latin typeface="Segoe UI" pitchFamily="34" charset="0"/>
                <a:ea typeface="Segoe UI" pitchFamily="34" charset="-122"/>
                <a:cs typeface="Segoe UI" pitchFamily="34" charset="-120"/>
              </a:rPr>
              <a:t>2</a:t>
            </a:r>
            <a:endParaRPr lang="en-US" sz="1800" dirty="0"/>
          </a:p>
        </p:txBody>
      </p:sp>
      <p:sp>
        <p:nvSpPr>
          <p:cNvPr id="14" name="Text 12"/>
          <p:cNvSpPr/>
          <p:nvPr/>
        </p:nvSpPr>
        <p:spPr>
          <a:xfrm>
            <a:off x="4754880" y="2240280"/>
            <a:ext cx="3017520" cy="384048"/>
          </a:xfrm>
          <a:prstGeom prst="rect">
            <a:avLst/>
          </a:prstGeom>
          <a:noFill/>
          <a:ln/>
        </p:spPr>
        <p:txBody>
          <a:bodyPr wrap="square" rtlCol="0" anchor="ctr"/>
          <a:lstStyle/>
          <a:p>
            <a:pPr marL="0" indent="0" algn="ctr">
              <a:buNone/>
            </a:pPr>
            <a:r>
              <a:rPr lang="en-US" sz="1450" b="1" dirty="0">
                <a:solidFill>
                  <a:srgbClr val="DD6B20"/>
                </a:solidFill>
                <a:latin typeface="Segoe UI" pitchFamily="34" charset="0"/>
                <a:ea typeface="Segoe UI" pitchFamily="34" charset="-122"/>
                <a:cs typeface="Segoe UI" pitchFamily="34" charset="-120"/>
              </a:rPr>
              <a:t>Bayesian Discovery</a:t>
            </a:r>
            <a:endParaRPr lang="en-US" sz="1450" dirty="0"/>
          </a:p>
        </p:txBody>
      </p:sp>
      <p:sp>
        <p:nvSpPr>
          <p:cNvPr id="15" name="Text 13"/>
          <p:cNvSpPr/>
          <p:nvPr/>
        </p:nvSpPr>
        <p:spPr>
          <a:xfrm>
            <a:off x="4754880" y="2697480"/>
            <a:ext cx="3017520" cy="1051560"/>
          </a:xfrm>
          <a:prstGeom prst="rect">
            <a:avLst/>
          </a:prstGeom>
          <a:noFill/>
          <a:ln/>
        </p:spPr>
        <p:txBody>
          <a:bodyPr wrap="square" rtlCol="0" anchor="t"/>
          <a:lstStyle/>
          <a:p>
            <a:pPr marL="0" indent="0" algn="ctr">
              <a:lnSpc>
                <a:spcPct val="120000"/>
              </a:lnSpc>
              <a:buNone/>
            </a:pPr>
            <a:r>
              <a:rPr lang="en-US" sz="1150" dirty="0">
                <a:solidFill>
                  <a:srgbClr val="4A5568"/>
                </a:solidFill>
                <a:latin typeface="Segoe UI" pitchFamily="34" charset="0"/>
                <a:ea typeface="Segoe UI" pitchFamily="34" charset="-122"/>
                <a:cs typeface="Segoe UI" pitchFamily="34" charset="-120"/>
              </a:rPr>
              <a:t>Bayesian Heuristic Miner</a:t>
            </a:r>
            <a:endParaRPr lang="en-US" sz="1150" dirty="0"/>
          </a:p>
          <a:p>
            <a:pPr marL="0" indent="0" algn="ctr">
              <a:lnSpc>
                <a:spcPct val="120000"/>
              </a:lnSpc>
              <a:buNone/>
            </a:pPr>
            <a:r>
              <a:rPr lang="en-US" sz="1150" dirty="0">
                <a:solidFill>
                  <a:srgbClr val="4A5568"/>
                </a:solidFill>
                <a:latin typeface="Segoe UI" pitchFamily="34" charset="0"/>
                <a:ea typeface="Segoe UI" pitchFamily="34" charset="-122"/>
                <a:cs typeface="Segoe UI" pitchFamily="34" charset="-120"/>
              </a:rPr>
              <a:t>Posterior-calibrated</a:t>
            </a:r>
            <a:endParaRPr lang="en-US" sz="1150" dirty="0"/>
          </a:p>
          <a:p>
            <a:pPr marL="0" indent="0" algn="ctr">
              <a:lnSpc>
                <a:spcPct val="120000"/>
              </a:lnSpc>
              <a:buNone/>
            </a:pPr>
            <a:r>
              <a:rPr lang="en-US" sz="1150" dirty="0">
                <a:solidFill>
                  <a:srgbClr val="4A5568"/>
                </a:solidFill>
                <a:latin typeface="Segoe UI" pitchFamily="34" charset="0"/>
                <a:ea typeface="Segoe UI" pitchFamily="34" charset="-122"/>
                <a:cs typeface="Segoe UI" pitchFamily="34" charset="-120"/>
              </a:rPr>
              <a:t>~32 edges</a:t>
            </a:r>
            <a:endParaRPr lang="en-US" sz="1150" dirty="0"/>
          </a:p>
        </p:txBody>
      </p:sp>
      <p:sp>
        <p:nvSpPr>
          <p:cNvPr id="16" name="Text 14"/>
          <p:cNvSpPr/>
          <p:nvPr/>
        </p:nvSpPr>
        <p:spPr>
          <a:xfrm>
            <a:off x="4754880" y="3840480"/>
            <a:ext cx="3017520" cy="320040"/>
          </a:xfrm>
          <a:prstGeom prst="rect">
            <a:avLst/>
          </a:prstGeom>
          <a:noFill/>
          <a:ln/>
        </p:spPr>
        <p:txBody>
          <a:bodyPr wrap="square" rtlCol="0" anchor="ctr"/>
          <a:lstStyle/>
          <a:p>
            <a:pPr marL="0" indent="0" algn="ctr">
              <a:buNone/>
            </a:pPr>
            <a:r>
              <a:rPr lang="en-US" sz="1100" b="1" i="1" dirty="0">
                <a:solidFill>
                  <a:srgbClr val="DD6B20"/>
                </a:solidFill>
                <a:latin typeface="Segoe UI" pitchFamily="34" charset="0"/>
                <a:ea typeface="Segoe UI" pitchFamily="34" charset="-122"/>
                <a:cs typeface="Segoe UI" pitchFamily="34" charset="-120"/>
              </a:rPr>
              <a:t>Core + exceptions</a:t>
            </a:r>
            <a:endParaRPr lang="en-US" sz="1100" dirty="0"/>
          </a:p>
        </p:txBody>
      </p:sp>
      <p:sp>
        <p:nvSpPr>
          <p:cNvPr id="17" name="Text 15"/>
          <p:cNvSpPr/>
          <p:nvPr/>
        </p:nvSpPr>
        <p:spPr>
          <a:xfrm>
            <a:off x="7973568" y="2606040"/>
            <a:ext cx="457200" cy="457200"/>
          </a:xfrm>
          <a:prstGeom prst="rect">
            <a:avLst/>
          </a:prstGeom>
          <a:noFill/>
          <a:ln/>
        </p:spPr>
        <p:txBody>
          <a:bodyPr wrap="square" rtlCol="0" anchor="ctr"/>
          <a:lstStyle/>
          <a:p>
            <a:pPr marL="0" indent="0" algn="ctr">
              <a:buNone/>
            </a:pPr>
            <a:r>
              <a:rPr lang="en-US" sz="2200" b="1" dirty="0">
                <a:solidFill>
                  <a:srgbClr val="718096"/>
                </a:solidFill>
              </a:rPr>
              <a:t>→</a:t>
            </a:r>
            <a:endParaRPr lang="en-US" sz="2200" dirty="0"/>
          </a:p>
        </p:txBody>
      </p:sp>
      <p:sp>
        <p:nvSpPr>
          <p:cNvPr id="18" name="Shape 16"/>
          <p:cNvSpPr/>
          <p:nvPr/>
        </p:nvSpPr>
        <p:spPr>
          <a:xfrm>
            <a:off x="8458200" y="1325880"/>
            <a:ext cx="3383280" cy="3017520"/>
          </a:xfrm>
          <a:prstGeom prst="roundRect">
            <a:avLst>
              <a:gd name="adj" fmla="val 2424"/>
            </a:avLst>
          </a:prstGeom>
          <a:solidFill>
            <a:srgbClr val="F0FFF4"/>
          </a:solidFill>
          <a:ln w="9525">
            <a:solidFill>
              <a:srgbClr val="E2E8F0"/>
            </a:solidFill>
            <a:prstDash val="solid"/>
          </a:ln>
        </p:spPr>
        <p:txBody>
          <a:bodyPr/>
          <a:lstStyle/>
          <a:p>
            <a:endParaRPr lang="en-US"/>
          </a:p>
        </p:txBody>
      </p:sp>
      <p:sp>
        <p:nvSpPr>
          <p:cNvPr id="19" name="Shape 17"/>
          <p:cNvSpPr/>
          <p:nvPr/>
        </p:nvSpPr>
        <p:spPr>
          <a:xfrm>
            <a:off x="9875520" y="1554480"/>
            <a:ext cx="548640" cy="548640"/>
          </a:xfrm>
          <a:prstGeom prst="ellipse">
            <a:avLst/>
          </a:prstGeom>
          <a:solidFill>
            <a:srgbClr val="38A169"/>
          </a:solidFill>
          <a:ln/>
        </p:spPr>
        <p:txBody>
          <a:bodyPr/>
          <a:lstStyle/>
          <a:p>
            <a:endParaRPr lang="en-US"/>
          </a:p>
        </p:txBody>
      </p:sp>
      <p:sp>
        <p:nvSpPr>
          <p:cNvPr id="20" name="Text 18"/>
          <p:cNvSpPr/>
          <p:nvPr/>
        </p:nvSpPr>
        <p:spPr>
          <a:xfrm>
            <a:off x="9875520" y="1554480"/>
            <a:ext cx="548640" cy="548640"/>
          </a:xfrm>
          <a:prstGeom prst="rect">
            <a:avLst/>
          </a:prstGeom>
          <a:noFill/>
          <a:ln/>
        </p:spPr>
        <p:txBody>
          <a:bodyPr wrap="square" rtlCol="0" anchor="ctr"/>
          <a:lstStyle/>
          <a:p>
            <a:pPr marL="0" indent="0" algn="ctr">
              <a:buNone/>
            </a:pPr>
            <a:r>
              <a:rPr lang="en-US" sz="1800" b="1" dirty="0">
                <a:solidFill>
                  <a:srgbClr val="FFFFFF"/>
                </a:solidFill>
                <a:latin typeface="Segoe UI" pitchFamily="34" charset="0"/>
                <a:ea typeface="Segoe UI" pitchFamily="34" charset="-122"/>
                <a:cs typeface="Segoe UI" pitchFamily="34" charset="-120"/>
              </a:rPr>
              <a:t>3</a:t>
            </a:r>
            <a:endParaRPr lang="en-US" sz="1800" dirty="0"/>
          </a:p>
        </p:txBody>
      </p:sp>
      <p:sp>
        <p:nvSpPr>
          <p:cNvPr id="21" name="Text 19"/>
          <p:cNvSpPr/>
          <p:nvPr/>
        </p:nvSpPr>
        <p:spPr>
          <a:xfrm>
            <a:off x="8641080" y="2240280"/>
            <a:ext cx="3017520" cy="384048"/>
          </a:xfrm>
          <a:prstGeom prst="rect">
            <a:avLst/>
          </a:prstGeom>
          <a:noFill/>
          <a:ln/>
        </p:spPr>
        <p:txBody>
          <a:bodyPr wrap="square" rtlCol="0" anchor="ctr"/>
          <a:lstStyle/>
          <a:p>
            <a:pPr marL="0" indent="0" algn="ctr">
              <a:buNone/>
            </a:pPr>
            <a:r>
              <a:rPr lang="en-US" sz="1450" b="1" dirty="0">
                <a:solidFill>
                  <a:srgbClr val="38A169"/>
                </a:solidFill>
                <a:latin typeface="Segoe UI" pitchFamily="34" charset="0"/>
                <a:ea typeface="Segoe UI" pitchFamily="34" charset="-122"/>
                <a:cs typeface="Segoe UI" pitchFamily="34" charset="-120"/>
              </a:rPr>
              <a:t>Temporal Analysis</a:t>
            </a:r>
            <a:endParaRPr lang="en-US" sz="1450" dirty="0"/>
          </a:p>
        </p:txBody>
      </p:sp>
      <p:sp>
        <p:nvSpPr>
          <p:cNvPr id="22" name="Text 20"/>
          <p:cNvSpPr/>
          <p:nvPr/>
        </p:nvSpPr>
        <p:spPr>
          <a:xfrm>
            <a:off x="8641080" y="2697480"/>
            <a:ext cx="3017520" cy="1051560"/>
          </a:xfrm>
          <a:prstGeom prst="rect">
            <a:avLst/>
          </a:prstGeom>
          <a:noFill/>
          <a:ln/>
        </p:spPr>
        <p:txBody>
          <a:bodyPr wrap="square" rtlCol="0" anchor="t"/>
          <a:lstStyle/>
          <a:p>
            <a:pPr marL="0" indent="0" algn="ctr">
              <a:lnSpc>
                <a:spcPct val="120000"/>
              </a:lnSpc>
              <a:buNone/>
            </a:pPr>
            <a:r>
              <a:rPr lang="en-US" sz="1150" dirty="0">
                <a:solidFill>
                  <a:srgbClr val="4A5568"/>
                </a:solidFill>
                <a:latin typeface="Segoe UI" pitchFamily="34" charset="0"/>
                <a:ea typeface="Segoe UI" pitchFamily="34" charset="-122"/>
                <a:cs typeface="Segoe UI" pitchFamily="34" charset="-120"/>
              </a:rPr>
              <a:t>Performance DFG</a:t>
            </a:r>
            <a:endParaRPr lang="en-US" sz="1150" dirty="0"/>
          </a:p>
          <a:p>
            <a:pPr marL="0" indent="0" algn="ctr">
              <a:lnSpc>
                <a:spcPct val="120000"/>
              </a:lnSpc>
              <a:buNone/>
            </a:pPr>
            <a:r>
              <a:rPr lang="en-US" sz="1150" dirty="0">
                <a:solidFill>
                  <a:srgbClr val="4A5568"/>
                </a:solidFill>
                <a:latin typeface="Segoe UI" pitchFamily="34" charset="0"/>
                <a:ea typeface="Segoe UI" pitchFamily="34" charset="-122"/>
                <a:cs typeface="Segoe UI" pitchFamily="34" charset="-120"/>
              </a:rPr>
              <a:t>Duration-based</a:t>
            </a:r>
            <a:endParaRPr lang="en-US" sz="1150" dirty="0"/>
          </a:p>
          <a:p>
            <a:pPr marL="0" indent="0" algn="ctr">
              <a:lnSpc>
                <a:spcPct val="120000"/>
              </a:lnSpc>
              <a:buNone/>
            </a:pPr>
            <a:r>
              <a:rPr lang="en-US" sz="1150" dirty="0">
                <a:solidFill>
                  <a:srgbClr val="4A5568"/>
                </a:solidFill>
                <a:latin typeface="Segoe UI" pitchFamily="34" charset="0"/>
                <a:ea typeface="Segoe UI" pitchFamily="34" charset="-122"/>
                <a:cs typeface="Segoe UI" pitchFamily="34" charset="-120"/>
              </a:rPr>
              <a:t>Mean + Median</a:t>
            </a:r>
            <a:endParaRPr lang="en-US" sz="1150" dirty="0"/>
          </a:p>
        </p:txBody>
      </p:sp>
      <p:sp>
        <p:nvSpPr>
          <p:cNvPr id="23" name="Text 21"/>
          <p:cNvSpPr/>
          <p:nvPr/>
        </p:nvSpPr>
        <p:spPr>
          <a:xfrm>
            <a:off x="8641080" y="3840480"/>
            <a:ext cx="3017520" cy="320040"/>
          </a:xfrm>
          <a:prstGeom prst="rect">
            <a:avLst/>
          </a:prstGeom>
          <a:noFill/>
          <a:ln/>
        </p:spPr>
        <p:txBody>
          <a:bodyPr wrap="square" rtlCol="0" anchor="ctr"/>
          <a:lstStyle/>
          <a:p>
            <a:pPr marL="0" indent="0" algn="ctr">
              <a:buNone/>
            </a:pPr>
            <a:r>
              <a:rPr lang="en-US" sz="1100" b="1" i="1" dirty="0">
                <a:solidFill>
                  <a:srgbClr val="38A169"/>
                </a:solidFill>
                <a:latin typeface="Segoe UI" pitchFamily="34" charset="0"/>
                <a:ea typeface="Segoe UI" pitchFamily="34" charset="-122"/>
                <a:cs typeface="Segoe UI" pitchFamily="34" charset="-120"/>
              </a:rPr>
              <a:t>Delay location</a:t>
            </a:r>
            <a:endParaRPr lang="en-US" sz="1100" dirty="0"/>
          </a:p>
        </p:txBody>
      </p:sp>
      <p:sp>
        <p:nvSpPr>
          <p:cNvPr id="24" name="Shape 22"/>
          <p:cNvSpPr/>
          <p:nvPr/>
        </p:nvSpPr>
        <p:spPr>
          <a:xfrm>
            <a:off x="411480" y="4846320"/>
            <a:ext cx="11365992" cy="548640"/>
          </a:xfrm>
          <a:prstGeom prst="roundRect">
            <a:avLst>
              <a:gd name="adj" fmla="val 13333"/>
            </a:avLst>
          </a:prstGeom>
          <a:solidFill>
            <a:srgbClr val="1A365D"/>
          </a:solidFill>
          <a:ln/>
        </p:spPr>
        <p:txBody>
          <a:bodyPr/>
          <a:lstStyle/>
          <a:p>
            <a:endParaRPr lang="en-US"/>
          </a:p>
        </p:txBody>
      </p:sp>
      <p:sp>
        <p:nvSpPr>
          <p:cNvPr id="25" name="Text 23"/>
          <p:cNvSpPr/>
          <p:nvPr/>
        </p:nvSpPr>
        <p:spPr>
          <a:xfrm>
            <a:off x="548640" y="4846320"/>
            <a:ext cx="11091672" cy="548640"/>
          </a:xfrm>
          <a:prstGeom prst="rect">
            <a:avLst/>
          </a:prstGeom>
          <a:noFill/>
          <a:ln/>
        </p:spPr>
        <p:txBody>
          <a:bodyPr wrap="square" rtlCol="0" anchor="ctr"/>
          <a:lstStyle/>
          <a:p>
            <a:pPr marL="0" indent="0" algn="ctr">
              <a:buNone/>
            </a:pPr>
            <a:r>
              <a:rPr lang="en-US" sz="1250" b="1" dirty="0">
                <a:solidFill>
                  <a:srgbClr val="FFFFFF"/>
                </a:solidFill>
                <a:latin typeface="Segoe UI" pitchFamily="34" charset="0"/>
                <a:ea typeface="Segoe UI" pitchFamily="34" charset="-122"/>
                <a:cs typeface="Segoe UI" pitchFamily="34" charset="-120"/>
              </a:rPr>
              <a:t>↓   Integrated Findings  →  Structural Confidence + Delay Location  →  Recommendations</a:t>
            </a:r>
            <a:endParaRPr lang="en-US" sz="1250" dirty="0"/>
          </a:p>
        </p:txBody>
      </p:sp>
      <p:sp>
        <p:nvSpPr>
          <p:cNvPr id="26" name="Text 24"/>
          <p:cNvSpPr/>
          <p:nvPr/>
        </p:nvSpPr>
        <p:spPr>
          <a:xfrm>
            <a:off x="822960" y="5623560"/>
            <a:ext cx="10515600" cy="548640"/>
          </a:xfrm>
          <a:prstGeom prst="rect">
            <a:avLst/>
          </a:prstGeom>
          <a:noFill/>
          <a:ln/>
        </p:spPr>
        <p:txBody>
          <a:bodyPr wrap="square" rtlCol="0" anchor="ctr"/>
          <a:lstStyle/>
          <a:p>
            <a:pPr marL="0" indent="0" algn="ctr">
              <a:buNone/>
            </a:pPr>
            <a:r>
              <a:rPr lang="en-US" sz="1200" i="1" dirty="0">
                <a:solidFill>
                  <a:srgbClr val="4A5568"/>
                </a:solidFill>
                <a:latin typeface="Segoe UI" pitchFamily="34" charset="0"/>
                <a:ea typeface="Segoe UI" pitchFamily="34" charset="-122"/>
                <a:cs typeface="Segoe UI" pitchFamily="34" charset="-120"/>
              </a:rPr>
              <a:t>Same statistical concern applied to two aspects of the same data: how much confidence does a transition deserve, and how much time does it cost?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92608"/>
            <a:ext cx="64008" cy="475488"/>
          </a:xfrm>
          <a:prstGeom prst="rect">
            <a:avLst/>
          </a:prstGeom>
          <a:solidFill>
            <a:srgbClr val="E53E3E"/>
          </a:solidFill>
          <a:ln/>
        </p:spPr>
        <p:txBody>
          <a:bodyPr/>
          <a:lstStyle/>
          <a:p>
            <a:endParaRPr lang="en-US"/>
          </a:p>
        </p:txBody>
      </p:sp>
      <p:sp>
        <p:nvSpPr>
          <p:cNvPr id="3" name="Text 1"/>
          <p:cNvSpPr/>
          <p:nvPr/>
        </p:nvSpPr>
        <p:spPr>
          <a:xfrm>
            <a:off x="566928" y="237744"/>
            <a:ext cx="11155680" cy="585216"/>
          </a:xfrm>
          <a:prstGeom prst="rect">
            <a:avLst/>
          </a:prstGeom>
          <a:noFill/>
          <a:ln/>
        </p:spPr>
        <p:txBody>
          <a:bodyPr wrap="square" rtlCol="0" anchor="ctr"/>
          <a:lstStyle/>
          <a:p>
            <a:pPr marL="0" indent="0" algn="l">
              <a:buNone/>
            </a:pPr>
            <a:r>
              <a:rPr lang="en-US" sz="2500" b="1" dirty="0">
                <a:solidFill>
                  <a:srgbClr val="1A365D"/>
                </a:solidFill>
                <a:latin typeface="Segoe UI" pitchFamily="34" charset="0"/>
                <a:ea typeface="Segoe UI" pitchFamily="34" charset="-122"/>
                <a:cs typeface="Segoe UI" pitchFamily="34" charset="-120"/>
              </a:rPr>
              <a:t>⚠️  Why the Classical Measure Fails on Clinical Data</a:t>
            </a:r>
            <a:endParaRPr lang="en-US" sz="2500" dirty="0"/>
          </a:p>
        </p:txBody>
      </p:sp>
      <p:sp>
        <p:nvSpPr>
          <p:cNvPr id="4" name="Shape 2"/>
          <p:cNvSpPr/>
          <p:nvPr/>
        </p:nvSpPr>
        <p:spPr>
          <a:xfrm>
            <a:off x="411480" y="1188720"/>
            <a:ext cx="5532120" cy="2834640"/>
          </a:xfrm>
          <a:prstGeom prst="roundRect">
            <a:avLst>
              <a:gd name="adj" fmla="val 2581"/>
            </a:avLst>
          </a:prstGeom>
          <a:solidFill>
            <a:srgbClr val="FFF5F5"/>
          </a:solidFill>
          <a:ln w="9525">
            <a:solidFill>
              <a:srgbClr val="E2E8F0"/>
            </a:solidFill>
            <a:prstDash val="solid"/>
          </a:ln>
        </p:spPr>
        <p:txBody>
          <a:bodyPr/>
          <a:lstStyle/>
          <a:p>
            <a:endParaRPr lang="en-US"/>
          </a:p>
        </p:txBody>
      </p:sp>
      <p:sp>
        <p:nvSpPr>
          <p:cNvPr id="5" name="Text 3"/>
          <p:cNvSpPr/>
          <p:nvPr/>
        </p:nvSpPr>
        <p:spPr>
          <a:xfrm>
            <a:off x="640080" y="1371600"/>
            <a:ext cx="5029200" cy="320040"/>
          </a:xfrm>
          <a:prstGeom prst="rect">
            <a:avLst/>
          </a:prstGeom>
          <a:noFill/>
          <a:ln/>
        </p:spPr>
        <p:txBody>
          <a:bodyPr wrap="square" rtlCol="0" anchor="ctr"/>
          <a:lstStyle/>
          <a:p>
            <a:pPr marL="0" indent="0">
              <a:buNone/>
            </a:pPr>
            <a:r>
              <a:rPr lang="en-US" sz="1200" dirty="0">
                <a:solidFill>
                  <a:srgbClr val="4A5568"/>
                </a:solidFill>
                <a:latin typeface="Segoe UI" pitchFamily="34" charset="0"/>
                <a:ea typeface="Segoe UI" pitchFamily="34" charset="-122"/>
                <a:cs typeface="Segoe UI" pitchFamily="34" charset="-120"/>
              </a:rPr>
              <a:t>Transition observed</a:t>
            </a:r>
            <a:endParaRPr lang="en-US" sz="1200" dirty="0"/>
          </a:p>
        </p:txBody>
      </p:sp>
      <p:sp>
        <p:nvSpPr>
          <p:cNvPr id="6" name="Text 4"/>
          <p:cNvSpPr/>
          <p:nvPr/>
        </p:nvSpPr>
        <p:spPr>
          <a:xfrm>
            <a:off x="640080" y="1691640"/>
            <a:ext cx="5029200" cy="685800"/>
          </a:xfrm>
          <a:prstGeom prst="rect">
            <a:avLst/>
          </a:prstGeom>
          <a:noFill/>
          <a:ln/>
        </p:spPr>
        <p:txBody>
          <a:bodyPr wrap="square" rtlCol="0" anchor="ctr"/>
          <a:lstStyle/>
          <a:p>
            <a:pPr marL="0" indent="0">
              <a:buNone/>
            </a:pPr>
            <a:r>
              <a:rPr lang="en-US" sz="3400" b="1" dirty="0">
                <a:solidFill>
                  <a:srgbClr val="E53E3E"/>
                </a:solidFill>
                <a:latin typeface="Segoe UI" pitchFamily="34" charset="0"/>
                <a:ea typeface="Segoe UI" pitchFamily="34" charset="-122"/>
                <a:cs typeface="Segoe UI" pitchFamily="34" charset="-120"/>
              </a:rPr>
              <a:t>14 times</a:t>
            </a:r>
            <a:endParaRPr lang="en-US" sz="3400" dirty="0"/>
          </a:p>
        </p:txBody>
      </p:sp>
      <p:sp>
        <p:nvSpPr>
          <p:cNvPr id="7" name="Text 5"/>
          <p:cNvSpPr/>
          <p:nvPr/>
        </p:nvSpPr>
        <p:spPr>
          <a:xfrm>
            <a:off x="640080" y="2423160"/>
            <a:ext cx="5029200" cy="320040"/>
          </a:xfrm>
          <a:prstGeom prst="rect">
            <a:avLst/>
          </a:prstGeom>
          <a:noFill/>
          <a:ln/>
        </p:spPr>
        <p:txBody>
          <a:bodyPr wrap="square" rtlCol="0" anchor="ctr"/>
          <a:lstStyle/>
          <a:p>
            <a:pPr marL="0" indent="0">
              <a:buNone/>
            </a:pPr>
            <a:r>
              <a:rPr lang="en-US" sz="1200" dirty="0">
                <a:solidFill>
                  <a:srgbClr val="4A5568"/>
                </a:solidFill>
                <a:latin typeface="Segoe UI" pitchFamily="34" charset="0"/>
                <a:ea typeface="Segoe UI" pitchFamily="34" charset="-122"/>
                <a:cs typeface="Segoe UI" pitchFamily="34" charset="-120"/>
              </a:rPr>
              <a:t>vs. transition observed</a:t>
            </a:r>
            <a:endParaRPr lang="en-US" sz="1200" dirty="0"/>
          </a:p>
        </p:txBody>
      </p:sp>
      <p:sp>
        <p:nvSpPr>
          <p:cNvPr id="8" name="Text 6"/>
          <p:cNvSpPr/>
          <p:nvPr/>
        </p:nvSpPr>
        <p:spPr>
          <a:xfrm>
            <a:off x="640080" y="2743200"/>
            <a:ext cx="5029200" cy="685800"/>
          </a:xfrm>
          <a:prstGeom prst="rect">
            <a:avLst/>
          </a:prstGeom>
          <a:noFill/>
          <a:ln/>
        </p:spPr>
        <p:txBody>
          <a:bodyPr wrap="square" rtlCol="0" anchor="ctr"/>
          <a:lstStyle/>
          <a:p>
            <a:pPr marL="0" indent="0">
              <a:buNone/>
            </a:pPr>
            <a:r>
              <a:rPr lang="en-US" sz="3400" b="1" dirty="0">
                <a:solidFill>
                  <a:srgbClr val="1A365D"/>
                </a:solidFill>
                <a:latin typeface="Segoe UI" pitchFamily="34" charset="0"/>
                <a:ea typeface="Segoe UI" pitchFamily="34" charset="-122"/>
                <a:cs typeface="Segoe UI" pitchFamily="34" charset="-120"/>
              </a:rPr>
              <a:t>160,000+ times</a:t>
            </a:r>
            <a:endParaRPr lang="en-US" sz="3400" dirty="0"/>
          </a:p>
        </p:txBody>
      </p:sp>
      <p:sp>
        <p:nvSpPr>
          <p:cNvPr id="9" name="Shape 7"/>
          <p:cNvSpPr/>
          <p:nvPr/>
        </p:nvSpPr>
        <p:spPr>
          <a:xfrm>
            <a:off x="6217920" y="1188720"/>
            <a:ext cx="5532120" cy="2834640"/>
          </a:xfrm>
          <a:prstGeom prst="roundRect">
            <a:avLst>
              <a:gd name="adj" fmla="val 2581"/>
            </a:avLst>
          </a:prstGeom>
          <a:solidFill>
            <a:srgbClr val="F7FAFC"/>
          </a:solidFill>
          <a:ln w="9525">
            <a:solidFill>
              <a:srgbClr val="E2E8F0"/>
            </a:solidFill>
            <a:prstDash val="solid"/>
          </a:ln>
        </p:spPr>
        <p:txBody>
          <a:bodyPr/>
          <a:lstStyle/>
          <a:p>
            <a:endParaRPr lang="en-US"/>
          </a:p>
        </p:txBody>
      </p:sp>
      <p:sp>
        <p:nvSpPr>
          <p:cNvPr id="10" name="Text 8"/>
          <p:cNvSpPr/>
          <p:nvPr/>
        </p:nvSpPr>
        <p:spPr>
          <a:xfrm>
            <a:off x="6446520" y="1371600"/>
            <a:ext cx="5074920" cy="2514600"/>
          </a:xfrm>
          <a:prstGeom prst="rect">
            <a:avLst/>
          </a:prstGeom>
          <a:noFill/>
          <a:ln/>
        </p:spPr>
        <p:txBody>
          <a:bodyPr wrap="square" rtlCol="0" anchor="t"/>
          <a:lstStyle/>
          <a:p>
            <a:pPr marL="0" indent="0">
              <a:lnSpc>
                <a:spcPct val="112000"/>
              </a:lnSpc>
              <a:buNone/>
            </a:pPr>
            <a:r>
              <a:rPr lang="en-US" sz="1300" dirty="0">
                <a:solidFill>
                  <a:srgbClr val="1A202C"/>
                </a:solidFill>
                <a:latin typeface="Consolas" pitchFamily="34" charset="0"/>
                <a:ea typeface="Consolas" pitchFamily="34" charset="-122"/>
                <a:cs typeface="Consolas" pitchFamily="34" charset="-120"/>
              </a:rPr>
              <a:t>dep(A,B) = </a:t>
            </a:r>
            <a:r>
              <a:rPr lang="en-US" sz="1300" b="1" dirty="0">
                <a:solidFill>
                  <a:srgbClr val="1A365D"/>
                </a:solidFill>
                <a:latin typeface="Consolas" pitchFamily="34" charset="0"/>
                <a:ea typeface="Consolas" pitchFamily="34" charset="-122"/>
                <a:cs typeface="Consolas" pitchFamily="34" charset="-120"/>
              </a:rPr>
              <a:t>[f(A→B) − f(B→A)] / [f(A→B) + f(B→A) + 1]
</a:t>
            </a:r>
            <a:r>
              <a:rPr lang="en-US" sz="1200" dirty="0">
                <a:solidFill>
                  <a:srgbClr val="4A5568"/>
                </a:solidFill>
                <a:latin typeface="Segoe UI" pitchFamily="34" charset="0"/>
                <a:ea typeface="Segoe UI" pitchFamily="34" charset="-122"/>
                <a:cs typeface="Segoe UI" pitchFamily="34" charset="-120"/>
              </a:rPr>
              <a:t>Can assign these two transitions </a:t>
            </a:r>
            <a:r>
              <a:rPr lang="en-US" sz="1200" b="1" dirty="0">
                <a:solidFill>
                  <a:srgbClr val="E53E3E"/>
                </a:solidFill>
                <a:latin typeface="Segoe UI" pitchFamily="34" charset="0"/>
                <a:ea typeface="Segoe UI" pitchFamily="34" charset="-122"/>
                <a:cs typeface="Segoe UI" pitchFamily="34" charset="-120"/>
              </a:rPr>
              <a:t>numerically similar scores</a:t>
            </a:r>
            <a:r>
              <a:rPr lang="en-US" sz="1200" dirty="0">
                <a:solidFill>
                  <a:srgbClr val="4A5568"/>
                </a:solidFill>
                <a:latin typeface="Segoe UI" pitchFamily="34" charset="0"/>
                <a:ea typeface="Segoe UI" pitchFamily="34" charset="-122"/>
                <a:cs typeface="Segoe UI" pitchFamily="34" charset="-120"/>
              </a:rPr>
              <a:t> if their frequency ratios happen to be similar.</a:t>
            </a:r>
            <a:endParaRPr lang="en-US" sz="1300" dirty="0"/>
          </a:p>
          <a:p>
            <a:pPr marL="0" indent="0">
              <a:lnSpc>
                <a:spcPct val="112000"/>
              </a:lnSpc>
              <a:buNone/>
            </a:pPr>
            <a:endParaRPr lang="en-US" sz="1300" dirty="0"/>
          </a:p>
          <a:p>
            <a:pPr marL="0" indent="0">
              <a:lnSpc>
                <a:spcPct val="112000"/>
              </a:lnSpc>
              <a:buNone/>
            </a:pPr>
            <a:r>
              <a:rPr lang="en-US" sz="1200" dirty="0">
                <a:solidFill>
                  <a:srgbClr val="4A5568"/>
                </a:solidFill>
                <a:latin typeface="Segoe UI" pitchFamily="34" charset="0"/>
                <a:ea typeface="Segoe UI" pitchFamily="34" charset="-122"/>
                <a:cs typeface="Segoe UI" pitchFamily="34" charset="-120"/>
              </a:rPr>
              <a:t>The +1 correction is fixed and ad hoc. It does not scale with evidence.</a:t>
            </a:r>
            <a:endParaRPr lang="en-US" sz="1300" dirty="0"/>
          </a:p>
        </p:txBody>
      </p:sp>
      <p:sp>
        <p:nvSpPr>
          <p:cNvPr id="11" name="Shape 9"/>
          <p:cNvSpPr/>
          <p:nvPr/>
        </p:nvSpPr>
        <p:spPr>
          <a:xfrm>
            <a:off x="411480" y="4251960"/>
            <a:ext cx="3703320" cy="1371600"/>
          </a:xfrm>
          <a:prstGeom prst="roundRect">
            <a:avLst>
              <a:gd name="adj" fmla="val 5333"/>
            </a:avLst>
          </a:prstGeom>
          <a:solidFill>
            <a:srgbClr val="FFFFFF"/>
          </a:solidFill>
          <a:ln w="9525">
            <a:solidFill>
              <a:srgbClr val="E2E8F0"/>
            </a:solidFill>
            <a:prstDash val="solid"/>
          </a:ln>
        </p:spPr>
        <p:txBody>
          <a:bodyPr/>
          <a:lstStyle/>
          <a:p>
            <a:endParaRPr lang="en-US"/>
          </a:p>
        </p:txBody>
      </p:sp>
      <p:sp>
        <p:nvSpPr>
          <p:cNvPr id="12" name="Shape 10"/>
          <p:cNvSpPr/>
          <p:nvPr/>
        </p:nvSpPr>
        <p:spPr>
          <a:xfrm>
            <a:off x="411480" y="4251960"/>
            <a:ext cx="64008" cy="1371600"/>
          </a:xfrm>
          <a:prstGeom prst="roundRect">
            <a:avLst>
              <a:gd name="adj" fmla="val 42857"/>
            </a:avLst>
          </a:prstGeom>
          <a:solidFill>
            <a:srgbClr val="E53E3E"/>
          </a:solidFill>
          <a:ln/>
        </p:spPr>
        <p:txBody>
          <a:bodyPr/>
          <a:lstStyle/>
          <a:p>
            <a:endParaRPr lang="en-US"/>
          </a:p>
        </p:txBody>
      </p:sp>
      <p:sp>
        <p:nvSpPr>
          <p:cNvPr id="13" name="Text 11"/>
          <p:cNvSpPr/>
          <p:nvPr/>
        </p:nvSpPr>
        <p:spPr>
          <a:xfrm>
            <a:off x="640080" y="4370832"/>
            <a:ext cx="3291840" cy="310896"/>
          </a:xfrm>
          <a:prstGeom prst="rect">
            <a:avLst/>
          </a:prstGeom>
          <a:noFill/>
          <a:ln/>
        </p:spPr>
        <p:txBody>
          <a:bodyPr wrap="square" rtlCol="0" anchor="ctr"/>
          <a:lstStyle/>
          <a:p>
            <a:pPr marL="0" indent="0">
              <a:buNone/>
            </a:pPr>
            <a:r>
              <a:rPr lang="en-US" sz="1250" b="1" dirty="0">
                <a:solidFill>
                  <a:srgbClr val="E53E3E"/>
                </a:solidFill>
                <a:latin typeface="Segoe UI" pitchFamily="34" charset="0"/>
                <a:ea typeface="Segoe UI" pitchFamily="34" charset="-122"/>
                <a:cs typeface="Segoe UI" pitchFamily="34" charset="-120"/>
              </a:rPr>
              <a:t>No confidence</a:t>
            </a:r>
            <a:endParaRPr lang="en-US" sz="1250" dirty="0"/>
          </a:p>
        </p:txBody>
      </p:sp>
      <p:sp>
        <p:nvSpPr>
          <p:cNvPr id="14" name="Text 12"/>
          <p:cNvSpPr/>
          <p:nvPr/>
        </p:nvSpPr>
        <p:spPr>
          <a:xfrm>
            <a:off x="640080" y="4700016"/>
            <a:ext cx="3310128" cy="868680"/>
          </a:xfrm>
          <a:prstGeom prst="rect">
            <a:avLst/>
          </a:prstGeom>
          <a:noFill/>
          <a:ln/>
        </p:spPr>
        <p:txBody>
          <a:bodyPr wrap="square" rtlCol="0" anchor="t"/>
          <a:lstStyle/>
          <a:p>
            <a:pPr marL="0" indent="0">
              <a:lnSpc>
                <a:spcPct val="105000"/>
              </a:lnSpc>
              <a:buNone/>
            </a:pPr>
            <a:r>
              <a:rPr lang="en-US" sz="1050" dirty="0">
                <a:solidFill>
                  <a:srgbClr val="4A5568"/>
                </a:solidFill>
                <a:latin typeface="Segoe UI" pitchFamily="34" charset="0"/>
                <a:ea typeface="Segoe UI" pitchFamily="34" charset="-122"/>
                <a:cs typeface="Segoe UI" pitchFamily="34" charset="-120"/>
              </a:rPr>
              <a:t>Treats every frequency ratio as equally reliable, regardless of sample size</a:t>
            </a:r>
            <a:endParaRPr lang="en-US" sz="1050" dirty="0"/>
          </a:p>
        </p:txBody>
      </p:sp>
      <p:sp>
        <p:nvSpPr>
          <p:cNvPr id="15" name="Shape 13"/>
          <p:cNvSpPr/>
          <p:nvPr/>
        </p:nvSpPr>
        <p:spPr>
          <a:xfrm>
            <a:off x="4325112" y="4251960"/>
            <a:ext cx="3703320" cy="1371600"/>
          </a:xfrm>
          <a:prstGeom prst="roundRect">
            <a:avLst>
              <a:gd name="adj" fmla="val 5333"/>
            </a:avLst>
          </a:prstGeom>
          <a:solidFill>
            <a:srgbClr val="FFFFFF"/>
          </a:solidFill>
          <a:ln w="9525">
            <a:solidFill>
              <a:srgbClr val="E2E8F0"/>
            </a:solidFill>
            <a:prstDash val="solid"/>
          </a:ln>
        </p:spPr>
        <p:txBody>
          <a:bodyPr/>
          <a:lstStyle/>
          <a:p>
            <a:endParaRPr lang="en-US"/>
          </a:p>
        </p:txBody>
      </p:sp>
      <p:sp>
        <p:nvSpPr>
          <p:cNvPr id="16" name="Shape 14"/>
          <p:cNvSpPr/>
          <p:nvPr/>
        </p:nvSpPr>
        <p:spPr>
          <a:xfrm>
            <a:off x="4325112" y="4251960"/>
            <a:ext cx="64008" cy="1371600"/>
          </a:xfrm>
          <a:prstGeom prst="roundRect">
            <a:avLst>
              <a:gd name="adj" fmla="val 42857"/>
            </a:avLst>
          </a:prstGeom>
          <a:solidFill>
            <a:srgbClr val="DD6B20"/>
          </a:solidFill>
          <a:ln/>
        </p:spPr>
        <p:txBody>
          <a:bodyPr/>
          <a:lstStyle/>
          <a:p>
            <a:endParaRPr lang="en-US"/>
          </a:p>
        </p:txBody>
      </p:sp>
      <p:sp>
        <p:nvSpPr>
          <p:cNvPr id="17" name="Text 15"/>
          <p:cNvSpPr/>
          <p:nvPr/>
        </p:nvSpPr>
        <p:spPr>
          <a:xfrm>
            <a:off x="4553712" y="4370832"/>
            <a:ext cx="3291840" cy="310896"/>
          </a:xfrm>
          <a:prstGeom prst="rect">
            <a:avLst/>
          </a:prstGeom>
          <a:noFill/>
          <a:ln/>
        </p:spPr>
        <p:txBody>
          <a:bodyPr wrap="square" rtlCol="0" anchor="ctr"/>
          <a:lstStyle/>
          <a:p>
            <a:pPr marL="0" indent="0">
              <a:buNone/>
            </a:pPr>
            <a:r>
              <a:rPr lang="en-US" sz="1250" b="1" dirty="0">
                <a:solidFill>
                  <a:srgbClr val="DD6B20"/>
                </a:solidFill>
                <a:latin typeface="Segoe UI" pitchFamily="34" charset="0"/>
                <a:ea typeface="Segoe UI" pitchFamily="34" charset="-122"/>
                <a:cs typeface="Segoe UI" pitchFamily="34" charset="-120"/>
              </a:rPr>
              <a:t>No domain knowledge</a:t>
            </a:r>
            <a:endParaRPr lang="en-US" sz="1250" dirty="0"/>
          </a:p>
        </p:txBody>
      </p:sp>
      <p:sp>
        <p:nvSpPr>
          <p:cNvPr id="18" name="Text 16"/>
          <p:cNvSpPr/>
          <p:nvPr/>
        </p:nvSpPr>
        <p:spPr>
          <a:xfrm>
            <a:off x="4553712" y="4700016"/>
            <a:ext cx="3310128" cy="868680"/>
          </a:xfrm>
          <a:prstGeom prst="rect">
            <a:avLst/>
          </a:prstGeom>
          <a:noFill/>
          <a:ln/>
        </p:spPr>
        <p:txBody>
          <a:bodyPr wrap="square" rtlCol="0" anchor="t"/>
          <a:lstStyle/>
          <a:p>
            <a:pPr marL="0" indent="0">
              <a:lnSpc>
                <a:spcPct val="105000"/>
              </a:lnSpc>
              <a:buNone/>
            </a:pPr>
            <a:r>
              <a:rPr lang="en-US" sz="1050" dirty="0">
                <a:solidFill>
                  <a:srgbClr val="4A5568"/>
                </a:solidFill>
                <a:latin typeface="Segoe UI" pitchFamily="34" charset="0"/>
                <a:ea typeface="Segoe UI" pitchFamily="34" charset="-122"/>
                <a:cs typeface="Segoe UI" pitchFamily="34" charset="-120"/>
              </a:rPr>
              <a:t>Cannot encode that some clinical sequences are near-deterministic by design</a:t>
            </a:r>
            <a:endParaRPr lang="en-US" sz="1050" dirty="0"/>
          </a:p>
        </p:txBody>
      </p:sp>
      <p:sp>
        <p:nvSpPr>
          <p:cNvPr id="19" name="Shape 17"/>
          <p:cNvSpPr/>
          <p:nvPr/>
        </p:nvSpPr>
        <p:spPr>
          <a:xfrm>
            <a:off x="8238744" y="4251960"/>
            <a:ext cx="3703320" cy="1371600"/>
          </a:xfrm>
          <a:prstGeom prst="roundRect">
            <a:avLst>
              <a:gd name="adj" fmla="val 5333"/>
            </a:avLst>
          </a:prstGeom>
          <a:solidFill>
            <a:srgbClr val="FFFFFF"/>
          </a:solidFill>
          <a:ln w="9525">
            <a:solidFill>
              <a:srgbClr val="E2E8F0"/>
            </a:solidFill>
            <a:prstDash val="solid"/>
          </a:ln>
        </p:spPr>
        <p:txBody>
          <a:bodyPr/>
          <a:lstStyle/>
          <a:p>
            <a:endParaRPr lang="en-US"/>
          </a:p>
        </p:txBody>
      </p:sp>
      <p:sp>
        <p:nvSpPr>
          <p:cNvPr id="20" name="Shape 18"/>
          <p:cNvSpPr/>
          <p:nvPr/>
        </p:nvSpPr>
        <p:spPr>
          <a:xfrm>
            <a:off x="8238744" y="4251960"/>
            <a:ext cx="64008" cy="1371600"/>
          </a:xfrm>
          <a:prstGeom prst="roundRect">
            <a:avLst>
              <a:gd name="adj" fmla="val 42857"/>
            </a:avLst>
          </a:prstGeom>
          <a:solidFill>
            <a:srgbClr val="805AD5"/>
          </a:solidFill>
          <a:ln/>
        </p:spPr>
        <p:txBody>
          <a:bodyPr/>
          <a:lstStyle/>
          <a:p>
            <a:endParaRPr lang="en-US"/>
          </a:p>
        </p:txBody>
      </p:sp>
      <p:sp>
        <p:nvSpPr>
          <p:cNvPr id="21" name="Text 19"/>
          <p:cNvSpPr/>
          <p:nvPr/>
        </p:nvSpPr>
        <p:spPr>
          <a:xfrm>
            <a:off x="8467344" y="4370832"/>
            <a:ext cx="3291840" cy="310896"/>
          </a:xfrm>
          <a:prstGeom prst="rect">
            <a:avLst/>
          </a:prstGeom>
          <a:noFill/>
          <a:ln/>
        </p:spPr>
        <p:txBody>
          <a:bodyPr wrap="square" rtlCol="0" anchor="ctr"/>
          <a:lstStyle/>
          <a:p>
            <a:pPr marL="0" indent="0">
              <a:buNone/>
            </a:pPr>
            <a:r>
              <a:rPr lang="en-US" sz="1250" b="1" dirty="0">
                <a:solidFill>
                  <a:srgbClr val="805AD5"/>
                </a:solidFill>
                <a:latin typeface="Segoe UI" pitchFamily="34" charset="0"/>
                <a:ea typeface="Segoe UI" pitchFamily="34" charset="-122"/>
                <a:cs typeface="Segoe UI" pitchFamily="34" charset="-120"/>
              </a:rPr>
              <a:t>Binary outcome</a:t>
            </a:r>
            <a:endParaRPr lang="en-US" sz="1250" dirty="0"/>
          </a:p>
        </p:txBody>
      </p:sp>
      <p:sp>
        <p:nvSpPr>
          <p:cNvPr id="22" name="Text 20"/>
          <p:cNvSpPr/>
          <p:nvPr/>
        </p:nvSpPr>
        <p:spPr>
          <a:xfrm>
            <a:off x="8467344" y="4700016"/>
            <a:ext cx="3310128" cy="868680"/>
          </a:xfrm>
          <a:prstGeom prst="rect">
            <a:avLst/>
          </a:prstGeom>
          <a:noFill/>
          <a:ln/>
        </p:spPr>
        <p:txBody>
          <a:bodyPr wrap="square" rtlCol="0" anchor="t"/>
          <a:lstStyle/>
          <a:p>
            <a:pPr marL="0" indent="0">
              <a:lnSpc>
                <a:spcPct val="105000"/>
              </a:lnSpc>
              <a:buNone/>
            </a:pPr>
            <a:r>
              <a:rPr lang="en-US" sz="1050" dirty="0">
                <a:solidFill>
                  <a:srgbClr val="4A5568"/>
                </a:solidFill>
                <a:latin typeface="Segoe UI" pitchFamily="34" charset="0"/>
                <a:ea typeface="Segoe UI" pitchFamily="34" charset="-122"/>
                <a:cs typeface="Segoe UI" pitchFamily="34" charset="-120"/>
              </a:rPr>
              <a:t>Rare transitions are either kept as noise or discarded as noise. No middle ground.</a:t>
            </a:r>
            <a:endParaRPr lang="en-US" sz="1050" dirty="0"/>
          </a:p>
        </p:txBody>
      </p:sp>
      <p:sp>
        <p:nvSpPr>
          <p:cNvPr id="23" name="Shape 21"/>
          <p:cNvSpPr/>
          <p:nvPr/>
        </p:nvSpPr>
        <p:spPr>
          <a:xfrm>
            <a:off x="411480" y="5852160"/>
            <a:ext cx="11365992" cy="502920"/>
          </a:xfrm>
          <a:prstGeom prst="roundRect">
            <a:avLst>
              <a:gd name="adj" fmla="val 14545"/>
            </a:avLst>
          </a:prstGeom>
          <a:solidFill>
            <a:srgbClr val="1A365D"/>
          </a:solidFill>
          <a:ln/>
        </p:spPr>
        <p:txBody>
          <a:bodyPr/>
          <a:lstStyle/>
          <a:p>
            <a:endParaRPr lang="en-US"/>
          </a:p>
        </p:txBody>
      </p:sp>
      <p:sp>
        <p:nvSpPr>
          <p:cNvPr id="24" name="Text 22"/>
          <p:cNvSpPr/>
          <p:nvPr/>
        </p:nvSpPr>
        <p:spPr>
          <a:xfrm>
            <a:off x="548640" y="5852160"/>
            <a:ext cx="11091672" cy="502920"/>
          </a:xfrm>
          <a:prstGeom prst="rect">
            <a:avLst/>
          </a:prstGeom>
          <a:noFill/>
          <a:ln/>
        </p:spPr>
        <p:txBody>
          <a:bodyPr wrap="square" rtlCol="0" anchor="ctr"/>
          <a:lstStyle/>
          <a:p>
            <a:pPr marL="0" indent="0" algn="ctr">
              <a:buNone/>
            </a:pPr>
            <a:r>
              <a:rPr lang="en-US" sz="1250" b="1" dirty="0">
                <a:solidFill>
                  <a:srgbClr val="FFFFFF"/>
                </a:solidFill>
                <a:latin typeface="Segoe UI" pitchFamily="34" charset="0"/>
                <a:ea typeface="Segoe UI" pitchFamily="34" charset="-122"/>
                <a:cs typeface="Segoe UI" pitchFamily="34" charset="-120"/>
              </a:rPr>
              <a:t>In a 162,286-case log, activity pairs differ in evidence by four orders of magnitude — the measure is blind to this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92608"/>
            <a:ext cx="64008" cy="475488"/>
          </a:xfrm>
          <a:prstGeom prst="rect">
            <a:avLst/>
          </a:prstGeom>
          <a:solidFill>
            <a:srgbClr val="D69E2E"/>
          </a:solidFill>
          <a:ln/>
        </p:spPr>
        <p:txBody>
          <a:bodyPr/>
          <a:lstStyle/>
          <a:p>
            <a:endParaRPr lang="en-US"/>
          </a:p>
        </p:txBody>
      </p:sp>
      <p:sp>
        <p:nvSpPr>
          <p:cNvPr id="3" name="Text 1"/>
          <p:cNvSpPr/>
          <p:nvPr/>
        </p:nvSpPr>
        <p:spPr>
          <a:xfrm>
            <a:off x="566928" y="237744"/>
            <a:ext cx="11155680" cy="585216"/>
          </a:xfrm>
          <a:prstGeom prst="rect">
            <a:avLst/>
          </a:prstGeom>
          <a:noFill/>
          <a:ln/>
        </p:spPr>
        <p:txBody>
          <a:bodyPr wrap="square" rtlCol="0" anchor="ctr"/>
          <a:lstStyle/>
          <a:p>
            <a:pPr marL="0" indent="0" algn="l">
              <a:buNone/>
            </a:pPr>
            <a:r>
              <a:rPr lang="en-US" sz="2500" b="1" dirty="0">
                <a:solidFill>
                  <a:srgbClr val="1A365D"/>
                </a:solidFill>
                <a:latin typeface="Segoe UI" pitchFamily="34" charset="0"/>
                <a:ea typeface="Segoe UI" pitchFamily="34" charset="-122"/>
                <a:cs typeface="Segoe UI" pitchFamily="34" charset="-120"/>
              </a:rPr>
              <a:t>⭐  The Bayesian Heuristic Miner: Core Contribution</a:t>
            </a:r>
            <a:endParaRPr lang="en-US" sz="2500" dirty="0"/>
          </a:p>
        </p:txBody>
      </p:sp>
      <p:sp>
        <p:nvSpPr>
          <p:cNvPr id="4" name="Shape 2"/>
          <p:cNvSpPr/>
          <p:nvPr/>
        </p:nvSpPr>
        <p:spPr>
          <a:xfrm>
            <a:off x="411480" y="1115568"/>
            <a:ext cx="5532120" cy="2057400"/>
          </a:xfrm>
          <a:prstGeom prst="roundRect">
            <a:avLst>
              <a:gd name="adj" fmla="val 3556"/>
            </a:avLst>
          </a:prstGeom>
          <a:solidFill>
            <a:srgbClr val="FFF5F5"/>
          </a:solidFill>
          <a:ln w="9525">
            <a:solidFill>
              <a:srgbClr val="E2E8F0"/>
            </a:solidFill>
            <a:prstDash val="solid"/>
          </a:ln>
        </p:spPr>
        <p:txBody>
          <a:bodyPr/>
          <a:lstStyle/>
          <a:p>
            <a:endParaRPr lang="en-US"/>
          </a:p>
        </p:txBody>
      </p:sp>
      <p:sp>
        <p:nvSpPr>
          <p:cNvPr id="5" name="Shape 3"/>
          <p:cNvSpPr/>
          <p:nvPr/>
        </p:nvSpPr>
        <p:spPr>
          <a:xfrm>
            <a:off x="411480" y="1115568"/>
            <a:ext cx="64008" cy="2057400"/>
          </a:xfrm>
          <a:prstGeom prst="roundRect">
            <a:avLst>
              <a:gd name="adj" fmla="val 42857"/>
            </a:avLst>
          </a:prstGeom>
          <a:solidFill>
            <a:srgbClr val="E53E3E"/>
          </a:solidFill>
          <a:ln/>
        </p:spPr>
        <p:txBody>
          <a:bodyPr/>
          <a:lstStyle/>
          <a:p>
            <a:endParaRPr lang="en-US"/>
          </a:p>
        </p:txBody>
      </p:sp>
      <p:sp>
        <p:nvSpPr>
          <p:cNvPr id="6" name="Text 4"/>
          <p:cNvSpPr/>
          <p:nvPr/>
        </p:nvSpPr>
        <p:spPr>
          <a:xfrm>
            <a:off x="658368" y="1225296"/>
            <a:ext cx="5029200" cy="292608"/>
          </a:xfrm>
          <a:prstGeom prst="rect">
            <a:avLst/>
          </a:prstGeom>
          <a:noFill/>
          <a:ln/>
        </p:spPr>
        <p:txBody>
          <a:bodyPr wrap="square" rtlCol="0" anchor="ctr"/>
          <a:lstStyle/>
          <a:p>
            <a:pPr marL="0" indent="0">
              <a:buNone/>
            </a:pPr>
            <a:r>
              <a:rPr lang="en-US" sz="1200" b="1" dirty="0">
                <a:solidFill>
                  <a:srgbClr val="E53E3E"/>
                </a:solidFill>
                <a:latin typeface="Segoe UI" pitchFamily="34" charset="0"/>
                <a:ea typeface="Segoe UI" pitchFamily="34" charset="-122"/>
                <a:cs typeface="Segoe UI" pitchFamily="34" charset="-120"/>
              </a:rPr>
              <a:t>CLASSICAL (Problematic)</a:t>
            </a:r>
            <a:endParaRPr lang="en-US" sz="1200" dirty="0"/>
          </a:p>
        </p:txBody>
      </p:sp>
      <p:sp>
        <p:nvSpPr>
          <p:cNvPr id="7" name="Text 5"/>
          <p:cNvSpPr/>
          <p:nvPr/>
        </p:nvSpPr>
        <p:spPr>
          <a:xfrm>
            <a:off x="658368" y="1536192"/>
            <a:ext cx="5120640" cy="365760"/>
          </a:xfrm>
          <a:prstGeom prst="rect">
            <a:avLst/>
          </a:prstGeom>
          <a:noFill/>
          <a:ln/>
        </p:spPr>
        <p:txBody>
          <a:bodyPr wrap="square" rtlCol="0" anchor="ctr"/>
          <a:lstStyle/>
          <a:p>
            <a:pPr marL="0" indent="0">
              <a:buNone/>
            </a:pPr>
            <a:r>
              <a:rPr lang="en-US" sz="1100" dirty="0">
                <a:solidFill>
                  <a:srgbClr val="1A202C"/>
                </a:solidFill>
                <a:latin typeface="Consolas" pitchFamily="34" charset="0"/>
                <a:ea typeface="Consolas" pitchFamily="34" charset="-122"/>
                <a:cs typeface="Consolas" pitchFamily="34" charset="-120"/>
              </a:rPr>
              <a:t>dep(A,B) = [f(A→B) − f(B→A)] / [f(A→B) + f(B→A) + 1]</a:t>
            </a:r>
            <a:endParaRPr lang="en-US" sz="1100" dirty="0"/>
          </a:p>
        </p:txBody>
      </p:sp>
      <p:sp>
        <p:nvSpPr>
          <p:cNvPr id="8" name="Text 6"/>
          <p:cNvSpPr/>
          <p:nvPr/>
        </p:nvSpPr>
        <p:spPr>
          <a:xfrm>
            <a:off x="658368" y="1938528"/>
            <a:ext cx="5120640" cy="1097280"/>
          </a:xfrm>
          <a:prstGeom prst="rect">
            <a:avLst/>
          </a:prstGeom>
          <a:noFill/>
          <a:ln/>
        </p:spPr>
        <p:txBody>
          <a:bodyPr wrap="square" rtlCol="0" anchor="t"/>
          <a:lstStyle/>
          <a:p>
            <a:pPr marL="0" indent="0">
              <a:lnSpc>
                <a:spcPct val="115000"/>
              </a:lnSpc>
              <a:buNone/>
            </a:pPr>
            <a:r>
              <a:rPr lang="en-US" sz="1050" dirty="0">
                <a:solidFill>
                  <a:srgbClr val="4A5568"/>
                </a:solidFill>
                <a:latin typeface="Segoe UI" pitchFamily="34" charset="0"/>
                <a:ea typeface="Segoe UI" pitchFamily="34" charset="-122"/>
                <a:cs typeface="Segoe UI" pitchFamily="34" charset="-120"/>
              </a:rPr>
              <a:t>• Treats 5 observations same as 5,000</a:t>
            </a:r>
            <a:endParaRPr lang="en-US" sz="1050" dirty="0"/>
          </a:p>
          <a:p>
            <a:pPr marL="0" indent="0">
              <a:lnSpc>
                <a:spcPct val="115000"/>
              </a:lnSpc>
              <a:buNone/>
            </a:pPr>
            <a:r>
              <a:rPr lang="en-US" sz="1050" dirty="0">
                <a:solidFill>
                  <a:srgbClr val="4A5568"/>
                </a:solidFill>
                <a:latin typeface="Segoe UI" pitchFamily="34" charset="0"/>
                <a:ea typeface="Segoe UI" pitchFamily="34" charset="-122"/>
                <a:cs typeface="Segoe UI" pitchFamily="34" charset="-120"/>
              </a:rPr>
              <a:t>• No statistical confidence in rare pairs</a:t>
            </a:r>
            <a:endParaRPr lang="en-US" sz="1050" dirty="0"/>
          </a:p>
          <a:p>
            <a:pPr marL="0" indent="0">
              <a:lnSpc>
                <a:spcPct val="115000"/>
              </a:lnSpc>
              <a:buNone/>
            </a:pPr>
            <a:r>
              <a:rPr lang="en-US" sz="1050" dirty="0">
                <a:solidFill>
                  <a:srgbClr val="4A5568"/>
                </a:solidFill>
                <a:latin typeface="Segoe UI" pitchFamily="34" charset="0"/>
                <a:ea typeface="Segoe UI" pitchFamily="34" charset="-122"/>
                <a:cs typeface="Segoe UI" pitchFamily="34" charset="-120"/>
              </a:rPr>
              <a:t>• Fixed +1 ad hoc correction</a:t>
            </a:r>
            <a:endParaRPr lang="en-US" sz="1050" dirty="0"/>
          </a:p>
        </p:txBody>
      </p:sp>
      <p:sp>
        <p:nvSpPr>
          <p:cNvPr id="9" name="Shape 7"/>
          <p:cNvSpPr/>
          <p:nvPr/>
        </p:nvSpPr>
        <p:spPr>
          <a:xfrm>
            <a:off x="6217920" y="1115568"/>
            <a:ext cx="5532120" cy="2057400"/>
          </a:xfrm>
          <a:prstGeom prst="roundRect">
            <a:avLst>
              <a:gd name="adj" fmla="val 3556"/>
            </a:avLst>
          </a:prstGeom>
          <a:solidFill>
            <a:srgbClr val="F0FFF4"/>
          </a:solidFill>
          <a:ln w="9525">
            <a:solidFill>
              <a:srgbClr val="E2E8F0"/>
            </a:solidFill>
            <a:prstDash val="solid"/>
          </a:ln>
        </p:spPr>
        <p:txBody>
          <a:bodyPr/>
          <a:lstStyle/>
          <a:p>
            <a:endParaRPr lang="en-US"/>
          </a:p>
        </p:txBody>
      </p:sp>
      <p:sp>
        <p:nvSpPr>
          <p:cNvPr id="10" name="Shape 8"/>
          <p:cNvSpPr/>
          <p:nvPr/>
        </p:nvSpPr>
        <p:spPr>
          <a:xfrm>
            <a:off x="6217920" y="1115568"/>
            <a:ext cx="64008" cy="2057400"/>
          </a:xfrm>
          <a:prstGeom prst="roundRect">
            <a:avLst>
              <a:gd name="adj" fmla="val 42857"/>
            </a:avLst>
          </a:prstGeom>
          <a:solidFill>
            <a:srgbClr val="38A169"/>
          </a:solidFill>
          <a:ln/>
        </p:spPr>
        <p:txBody>
          <a:bodyPr/>
          <a:lstStyle/>
          <a:p>
            <a:endParaRPr lang="en-US"/>
          </a:p>
        </p:txBody>
      </p:sp>
      <p:sp>
        <p:nvSpPr>
          <p:cNvPr id="11" name="Text 9"/>
          <p:cNvSpPr/>
          <p:nvPr/>
        </p:nvSpPr>
        <p:spPr>
          <a:xfrm>
            <a:off x="6464808" y="1225296"/>
            <a:ext cx="5029200" cy="292608"/>
          </a:xfrm>
          <a:prstGeom prst="rect">
            <a:avLst/>
          </a:prstGeom>
          <a:noFill/>
          <a:ln/>
        </p:spPr>
        <p:txBody>
          <a:bodyPr wrap="square" rtlCol="0" anchor="ctr"/>
          <a:lstStyle/>
          <a:p>
            <a:pPr marL="0" indent="0">
              <a:buNone/>
            </a:pPr>
            <a:r>
              <a:rPr lang="en-US" sz="1200" b="1" dirty="0">
                <a:solidFill>
                  <a:srgbClr val="38A169"/>
                </a:solidFill>
                <a:latin typeface="Segoe UI" pitchFamily="34" charset="0"/>
                <a:ea typeface="Segoe UI" pitchFamily="34" charset="-122"/>
                <a:cs typeface="Segoe UI" pitchFamily="34" charset="-120"/>
              </a:rPr>
              <a:t>BAYESIAN (Proposed)</a:t>
            </a:r>
            <a:endParaRPr lang="en-US" sz="1200" dirty="0"/>
          </a:p>
        </p:txBody>
      </p:sp>
      <p:sp>
        <p:nvSpPr>
          <p:cNvPr id="12" name="Text 10"/>
          <p:cNvSpPr/>
          <p:nvPr/>
        </p:nvSpPr>
        <p:spPr>
          <a:xfrm>
            <a:off x="6464808" y="1536192"/>
            <a:ext cx="5120640" cy="868680"/>
          </a:xfrm>
          <a:prstGeom prst="rect">
            <a:avLst/>
          </a:prstGeom>
          <a:noFill/>
          <a:ln/>
        </p:spPr>
        <p:txBody>
          <a:bodyPr wrap="square" rtlCol="0" anchor="ctr"/>
          <a:lstStyle/>
          <a:p>
            <a:pPr marL="0" indent="0">
              <a:lnSpc>
                <a:spcPct val="112000"/>
              </a:lnSpc>
              <a:buNone/>
            </a:pPr>
            <a:r>
              <a:rPr lang="en-US" sz="1050" dirty="0">
                <a:solidFill>
                  <a:srgbClr val="1A202C"/>
                </a:solidFill>
                <a:latin typeface="Consolas" pitchFamily="34" charset="0"/>
                <a:ea typeface="Consolas" pitchFamily="34" charset="-122"/>
                <a:cs typeface="Consolas" pitchFamily="34" charset="-120"/>
              </a:rPr>
              <a:t>p(A→B) ~ Beta(α, β)</a:t>
            </a:r>
            <a:endParaRPr lang="en-US" sz="1050" dirty="0"/>
          </a:p>
          <a:p>
            <a:pPr marL="0" indent="0">
              <a:lnSpc>
                <a:spcPct val="112000"/>
              </a:lnSpc>
              <a:buNone/>
            </a:pPr>
            <a:r>
              <a:rPr lang="en-US" sz="1050" dirty="0">
                <a:solidFill>
                  <a:srgbClr val="1A202C"/>
                </a:solidFill>
                <a:latin typeface="Consolas" pitchFamily="34" charset="0"/>
                <a:ea typeface="Consolas" pitchFamily="34" charset="-122"/>
                <a:cs typeface="Consolas" pitchFamily="34" charset="-120"/>
              </a:rPr>
              <a:t>E[p(A→B)] = [f(A→B) + α] / [f(A→B) + f(B→A) + α + β]</a:t>
            </a:r>
            <a:endParaRPr lang="en-US" sz="1050" dirty="0"/>
          </a:p>
          <a:p>
            <a:pPr marL="0" indent="0">
              <a:lnSpc>
                <a:spcPct val="112000"/>
              </a:lnSpc>
              <a:buNone/>
            </a:pPr>
            <a:r>
              <a:rPr lang="en-US" sz="1050" dirty="0">
                <a:solidFill>
                  <a:srgbClr val="1A202C"/>
                </a:solidFill>
                <a:latin typeface="Consolas" pitchFamily="34" charset="0"/>
                <a:ea typeface="Consolas" pitchFamily="34" charset="-122"/>
                <a:cs typeface="Consolas" pitchFamily="34" charset="-120"/>
              </a:rPr>
              <a:t>dep_bayes = (E_AB − E_BA) / (E_AB + E_BA)</a:t>
            </a:r>
            <a:endParaRPr lang="en-US" sz="1050" dirty="0"/>
          </a:p>
        </p:txBody>
      </p:sp>
      <p:sp>
        <p:nvSpPr>
          <p:cNvPr id="13" name="Text 11"/>
          <p:cNvSpPr/>
          <p:nvPr/>
        </p:nvSpPr>
        <p:spPr>
          <a:xfrm>
            <a:off x="6464808" y="2450592"/>
            <a:ext cx="5120640" cy="640080"/>
          </a:xfrm>
          <a:prstGeom prst="rect">
            <a:avLst/>
          </a:prstGeom>
          <a:noFill/>
          <a:ln/>
        </p:spPr>
        <p:txBody>
          <a:bodyPr wrap="square" rtlCol="0" anchor="t"/>
          <a:lstStyle/>
          <a:p>
            <a:pPr marL="0" indent="0">
              <a:lnSpc>
                <a:spcPct val="115000"/>
              </a:lnSpc>
              <a:buNone/>
            </a:pPr>
            <a:r>
              <a:rPr lang="en-US" sz="1050" dirty="0">
                <a:solidFill>
                  <a:srgbClr val="4A5568"/>
                </a:solidFill>
                <a:latin typeface="Segoe UI" pitchFamily="34" charset="0"/>
                <a:ea typeface="Segoe UI" pitchFamily="34" charset="-122"/>
                <a:cs typeface="Segoe UI" pitchFamily="34" charset="-120"/>
              </a:rPr>
              <a:t>• Sample-size-aware shrinkage   • Domain-informed priors</a:t>
            </a:r>
            <a:endParaRPr lang="en-US" sz="1050" dirty="0"/>
          </a:p>
          <a:p>
            <a:pPr marL="0" indent="0">
              <a:lnSpc>
                <a:spcPct val="115000"/>
              </a:lnSpc>
              <a:buNone/>
            </a:pPr>
            <a:r>
              <a:rPr lang="en-US" sz="1050" dirty="0">
                <a:solidFill>
                  <a:srgbClr val="4A5568"/>
                </a:solidFill>
                <a:latin typeface="Segoe UI" pitchFamily="34" charset="0"/>
                <a:ea typeface="Segoe UI" pitchFamily="34" charset="-122"/>
                <a:cs typeface="Segoe UI" pitchFamily="34" charset="-120"/>
              </a:rPr>
              <a:t>• Converges to classical for large N   • Closed form: O(N + k²)</a:t>
            </a:r>
            <a:endParaRPr lang="en-US" sz="1050" dirty="0"/>
          </a:p>
        </p:txBody>
      </p:sp>
      <p:sp>
        <p:nvSpPr>
          <p:cNvPr id="14" name="Text 12"/>
          <p:cNvSpPr/>
          <p:nvPr/>
        </p:nvSpPr>
        <p:spPr>
          <a:xfrm>
            <a:off x="411480" y="3310128"/>
            <a:ext cx="7315200" cy="310896"/>
          </a:xfrm>
          <a:prstGeom prst="rect">
            <a:avLst/>
          </a:prstGeom>
          <a:noFill/>
          <a:ln/>
        </p:spPr>
        <p:txBody>
          <a:bodyPr wrap="square" rtlCol="0" anchor="ctr"/>
          <a:lstStyle/>
          <a:p>
            <a:pPr marL="0" indent="0">
              <a:buNone/>
            </a:pPr>
            <a:r>
              <a:rPr lang="en-US" sz="1300" b="1" dirty="0">
                <a:solidFill>
                  <a:srgbClr val="1A202C"/>
                </a:solidFill>
                <a:latin typeface="Segoe UI" pitchFamily="34" charset="0"/>
                <a:ea typeface="Segoe UI" pitchFamily="34" charset="-122"/>
                <a:cs typeface="Segoe UI" pitchFamily="34" charset="-120"/>
              </a:rPr>
              <a:t>Prior Configuration (Domain-Knowledge Informed)</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11480" y="3657600"/>
          <a:ext cx="11365992" cy="1645920"/>
        </p:xfrm>
        <a:graphic>
          <a:graphicData uri="http://schemas.openxmlformats.org/drawingml/2006/table">
            <a:tbl>
              <a:tblPr/>
              <a:tblGrid>
                <a:gridCol w="329184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702552">
                  <a:extLst>
                    <a:ext uri="{9D8B030D-6E8A-4147-A177-3AD203B41FA5}">
                      <a16:colId xmlns:a16="http://schemas.microsoft.com/office/drawing/2014/main" val="20003"/>
                    </a:ext>
                  </a:extLst>
                </a:gridCol>
              </a:tblGrid>
              <a:tr h="329184">
                <a:tc>
                  <a:txBody>
                    <a:bodyPr/>
                    <a:lstStyle/>
                    <a:p>
                      <a:pPr marL="0" indent="0">
                        <a:buNone/>
                      </a:pPr>
                      <a:r>
                        <a:rPr lang="en-US" sz="1050" b="1" dirty="0">
                          <a:solidFill>
                            <a:srgbClr val="FFFFFF"/>
                          </a:solidFill>
                          <a:latin typeface="Segoe UI" pitchFamily="34" charset="0"/>
                          <a:ea typeface="Segoe UI" pitchFamily="34" charset="-122"/>
                          <a:cs typeface="Segoe UI" pitchFamily="34" charset="-120"/>
                        </a:rPr>
                        <a:t>Activity Pair Category</a:t>
                      </a:r>
                      <a:endParaRPr lang="en-US" sz="1050" dirty="0">
                        <a:latin typeface="Segoe UI" charset="0"/>
                        <a:ea typeface="Segoe UI" charset="0"/>
                        <a:cs typeface="Segoe U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A365D"/>
                    </a:solidFill>
                  </a:tcPr>
                </a:tc>
                <a:tc>
                  <a:txBody>
                    <a:bodyPr/>
                    <a:lstStyle/>
                    <a:p>
                      <a:pPr marL="0" indent="0" algn="ctr">
                        <a:buNone/>
                      </a:pPr>
                      <a:r>
                        <a:rPr lang="en-US" sz="1050" b="1" dirty="0">
                          <a:solidFill>
                            <a:srgbClr val="FFFFFF"/>
                          </a:solidFill>
                          <a:latin typeface="Segoe UI" pitchFamily="34" charset="0"/>
                          <a:ea typeface="Segoe UI" pitchFamily="34" charset="-122"/>
                          <a:cs typeface="Segoe UI" pitchFamily="34" charset="-120"/>
                        </a:rPr>
                        <a:t>α</a:t>
                      </a:r>
                      <a:endParaRPr lang="en-US" sz="1050" dirty="0">
                        <a:latin typeface="Segoe UI" charset="0"/>
                        <a:ea typeface="Segoe UI" charset="0"/>
                        <a:cs typeface="Segoe U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A365D"/>
                    </a:solidFill>
                  </a:tcPr>
                </a:tc>
                <a:tc>
                  <a:txBody>
                    <a:bodyPr/>
                    <a:lstStyle/>
                    <a:p>
                      <a:pPr marL="0" indent="0" algn="ctr">
                        <a:buNone/>
                      </a:pPr>
                      <a:r>
                        <a:rPr lang="en-US" sz="1050" b="1" dirty="0">
                          <a:solidFill>
                            <a:srgbClr val="FFFFFF"/>
                          </a:solidFill>
                          <a:latin typeface="Segoe UI" pitchFamily="34" charset="0"/>
                          <a:ea typeface="Segoe UI" pitchFamily="34" charset="-122"/>
                          <a:cs typeface="Segoe UI" pitchFamily="34" charset="-120"/>
                        </a:rPr>
                        <a:t>β</a:t>
                      </a:r>
                      <a:endParaRPr lang="en-US" sz="1050" dirty="0">
                        <a:latin typeface="Segoe UI" charset="0"/>
                        <a:ea typeface="Segoe UI" charset="0"/>
                        <a:cs typeface="Segoe U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A365D"/>
                    </a:solidFill>
                  </a:tcPr>
                </a:tc>
                <a:tc>
                  <a:txBody>
                    <a:bodyPr/>
                    <a:lstStyle/>
                    <a:p>
                      <a:pPr marL="0" indent="0">
                        <a:buNone/>
                      </a:pPr>
                      <a:r>
                        <a:rPr lang="en-US" sz="1050" b="1" dirty="0">
                          <a:solidFill>
                            <a:srgbClr val="FFFFFF"/>
                          </a:solidFill>
                          <a:latin typeface="Segoe UI" pitchFamily="34" charset="0"/>
                          <a:ea typeface="Segoe UI" pitchFamily="34" charset="-122"/>
                          <a:cs typeface="Segoe UI" pitchFamily="34" charset="-120"/>
                        </a:rPr>
                        <a:t>Rationale</a:t>
                      </a:r>
                      <a:endParaRPr lang="en-US" sz="1050" dirty="0">
                        <a:latin typeface="Segoe UI" charset="0"/>
                        <a:ea typeface="Segoe UI" charset="0"/>
                        <a:cs typeface="Segoe U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A365D"/>
                    </a:solidFill>
                  </a:tcPr>
                </a:tc>
                <a:extLst>
                  <a:ext uri="{0D108BD9-81ED-4DB2-BD59-A6C34878D82A}">
                    <a16:rowId xmlns:a16="http://schemas.microsoft.com/office/drawing/2014/main" val="10000"/>
                  </a:ext>
                </a:extLst>
              </a:tr>
              <a:tr h="329184">
                <a:tc>
                  <a:txBody>
                    <a:bodyPr/>
                    <a:lstStyle/>
                    <a:p>
                      <a:pPr marL="0" indent="0">
                        <a:buNone/>
                      </a:pPr>
                      <a:r>
                        <a:rPr lang="en-US" sz="1050" dirty="0">
                          <a:solidFill>
                            <a:srgbClr val="4A5568"/>
                          </a:solidFill>
                          <a:latin typeface="Segoe UI" pitchFamily="34" charset="0"/>
                          <a:ea typeface="Segoe UI" pitchFamily="34" charset="-122"/>
                          <a:cs typeface="Segoe UI" pitchFamily="34" charset="-120"/>
                        </a:rPr>
                        <a:t>Near-deterministic clinical sequence</a:t>
                      </a:r>
                      <a:endParaRPr lang="en-US" sz="1050" dirty="0">
                        <a:latin typeface="Segoe UI" charset="0"/>
                        <a:ea typeface="Segoe UI" charset="0"/>
                        <a:cs typeface="Segoe U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A5568"/>
                          </a:solidFill>
                          <a:latin typeface="Segoe UI" pitchFamily="34" charset="0"/>
                          <a:ea typeface="Segoe UI" pitchFamily="34" charset="-122"/>
                          <a:cs typeface="Segoe UI" pitchFamily="34" charset="-120"/>
                        </a:rPr>
                        <a:t>5.0</a:t>
                      </a:r>
                      <a:endParaRPr lang="en-US" sz="1050" dirty="0">
                        <a:latin typeface="Segoe UI" charset="0"/>
                        <a:ea typeface="Segoe UI" charset="0"/>
                        <a:cs typeface="Segoe U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A5568"/>
                          </a:solidFill>
                          <a:latin typeface="Segoe UI" pitchFamily="34" charset="0"/>
                          <a:ea typeface="Segoe UI" pitchFamily="34" charset="-122"/>
                          <a:cs typeface="Segoe UI" pitchFamily="34" charset="-120"/>
                        </a:rPr>
                        <a:t>1.0</a:t>
                      </a:r>
                      <a:endParaRPr lang="en-US" sz="1050" dirty="0">
                        <a:latin typeface="Segoe UI" charset="0"/>
                        <a:ea typeface="Segoe UI" charset="0"/>
                        <a:cs typeface="Segoe U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4A5568"/>
                          </a:solidFill>
                          <a:latin typeface="Segoe UI" pitchFamily="34" charset="0"/>
                          <a:ea typeface="Segoe UI" pitchFamily="34" charset="-122"/>
                          <a:cs typeface="Segoe UI" pitchFamily="34" charset="-120"/>
                        </a:rPr>
                        <a:t>Strong prior: core pathway (Prep → Incision)</a:t>
                      </a:r>
                      <a:endParaRPr lang="en-US" sz="1050" dirty="0">
                        <a:latin typeface="Segoe UI" charset="0"/>
                        <a:ea typeface="Segoe UI" charset="0"/>
                        <a:cs typeface="Segoe U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050" dirty="0">
                          <a:solidFill>
                            <a:srgbClr val="4A5568"/>
                          </a:solidFill>
                          <a:latin typeface="Segoe UI" pitchFamily="34" charset="0"/>
                          <a:ea typeface="Segoe UI" pitchFamily="34" charset="-122"/>
                          <a:cs typeface="Segoe UI" pitchFamily="34" charset="-120"/>
                        </a:rPr>
                        <a:t>Cleaning sub-process</a:t>
                      </a:r>
                      <a:endParaRPr lang="en-US" sz="1050" dirty="0">
                        <a:latin typeface="Segoe UI" charset="0"/>
                        <a:ea typeface="Segoe UI" charset="0"/>
                        <a:cs typeface="Segoe U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A5568"/>
                          </a:solidFill>
                          <a:latin typeface="Segoe UI" pitchFamily="34" charset="0"/>
                          <a:ea typeface="Segoe UI" pitchFamily="34" charset="-122"/>
                          <a:cs typeface="Segoe UI" pitchFamily="34" charset="-120"/>
                        </a:rPr>
                        <a:t>3.0</a:t>
                      </a:r>
                      <a:endParaRPr lang="en-US" sz="1050" dirty="0">
                        <a:latin typeface="Segoe UI" charset="0"/>
                        <a:ea typeface="Segoe UI" charset="0"/>
                        <a:cs typeface="Segoe U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A5568"/>
                          </a:solidFill>
                          <a:latin typeface="Segoe UI" pitchFamily="34" charset="0"/>
                          <a:ea typeface="Segoe UI" pitchFamily="34" charset="-122"/>
                          <a:cs typeface="Segoe UI" pitchFamily="34" charset="-120"/>
                        </a:rPr>
                        <a:t>1.0</a:t>
                      </a:r>
                      <a:endParaRPr lang="en-US" sz="1050" dirty="0">
                        <a:latin typeface="Segoe UI" charset="0"/>
                        <a:ea typeface="Segoe UI" charset="0"/>
                        <a:cs typeface="Segoe U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4A5568"/>
                          </a:solidFill>
                          <a:latin typeface="Segoe UI" pitchFamily="34" charset="0"/>
                          <a:ea typeface="Segoe UI" pitchFamily="34" charset="-122"/>
                          <a:cs typeface="Segoe UI" pitchFamily="34" charset="-120"/>
                        </a:rPr>
                        <a:t>Moderate prior: commonly followed</a:t>
                      </a:r>
                      <a:endParaRPr lang="en-US" sz="1050" dirty="0">
                        <a:latin typeface="Segoe UI" charset="0"/>
                        <a:ea typeface="Segoe UI" charset="0"/>
                        <a:cs typeface="Segoe U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buNone/>
                      </a:pPr>
                      <a:r>
                        <a:rPr lang="en-US" sz="1050" dirty="0">
                          <a:solidFill>
                            <a:srgbClr val="4A5568"/>
                          </a:solidFill>
                          <a:latin typeface="Segoe UI" pitchFamily="34" charset="0"/>
                          <a:ea typeface="Segoe UI" pitchFamily="34" charset="-122"/>
                          <a:cs typeface="Segoe UI" pitchFamily="34" charset="-120"/>
                        </a:rPr>
                        <a:t>Rare but clinically important</a:t>
                      </a:r>
                      <a:endParaRPr lang="en-US" sz="1050" dirty="0">
                        <a:latin typeface="Segoe UI" charset="0"/>
                        <a:ea typeface="Segoe UI" charset="0"/>
                        <a:cs typeface="Segoe U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A5568"/>
                          </a:solidFill>
                          <a:latin typeface="Segoe UI" pitchFamily="34" charset="0"/>
                          <a:ea typeface="Segoe UI" pitchFamily="34" charset="-122"/>
                          <a:cs typeface="Segoe UI" pitchFamily="34" charset="-120"/>
                        </a:rPr>
                        <a:t>2.0</a:t>
                      </a:r>
                      <a:endParaRPr lang="en-US" sz="1050" dirty="0">
                        <a:latin typeface="Segoe UI" charset="0"/>
                        <a:ea typeface="Segoe UI" charset="0"/>
                        <a:cs typeface="Segoe U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A5568"/>
                          </a:solidFill>
                          <a:latin typeface="Segoe UI" pitchFamily="34" charset="0"/>
                          <a:ea typeface="Segoe UI" pitchFamily="34" charset="-122"/>
                          <a:cs typeface="Segoe UI" pitchFamily="34" charset="-120"/>
                        </a:rPr>
                        <a:t>1.0</a:t>
                      </a:r>
                      <a:endParaRPr lang="en-US" sz="1050" dirty="0">
                        <a:latin typeface="Segoe UI" charset="0"/>
                        <a:ea typeface="Segoe UI" charset="0"/>
                        <a:cs typeface="Segoe U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4A5568"/>
                          </a:solidFill>
                          <a:latin typeface="Segoe UI" pitchFamily="34" charset="0"/>
                          <a:ea typeface="Segoe UI" pitchFamily="34" charset="-122"/>
                          <a:cs typeface="Segoe UI" pitchFamily="34" charset="-120"/>
                        </a:rPr>
                        <a:t>Mild prior: genuine but infrequent (Induction → Patient Ready)</a:t>
                      </a:r>
                      <a:endParaRPr lang="en-US" sz="1050" dirty="0">
                        <a:latin typeface="Segoe UI" charset="0"/>
                        <a:ea typeface="Segoe UI" charset="0"/>
                        <a:cs typeface="Segoe U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1050" dirty="0">
                          <a:solidFill>
                            <a:srgbClr val="4A5568"/>
                          </a:solidFill>
                          <a:latin typeface="Segoe UI" pitchFamily="34" charset="0"/>
                          <a:ea typeface="Segoe UI" pitchFamily="34" charset="-122"/>
                          <a:cs typeface="Segoe UI" pitchFamily="34" charset="-120"/>
                        </a:rPr>
                        <a:t>All other pairs</a:t>
                      </a:r>
                      <a:endParaRPr lang="en-US" sz="1050" dirty="0">
                        <a:latin typeface="Segoe UI" charset="0"/>
                        <a:ea typeface="Segoe UI" charset="0"/>
                        <a:cs typeface="Segoe U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A5568"/>
                          </a:solidFill>
                          <a:latin typeface="Segoe UI" pitchFamily="34" charset="0"/>
                          <a:ea typeface="Segoe UI" pitchFamily="34" charset="-122"/>
                          <a:cs typeface="Segoe UI" pitchFamily="34" charset="-120"/>
                        </a:rPr>
                        <a:t>1.0</a:t>
                      </a:r>
                      <a:endParaRPr lang="en-US" sz="1050" dirty="0">
                        <a:latin typeface="Segoe UI" charset="0"/>
                        <a:ea typeface="Segoe UI" charset="0"/>
                        <a:cs typeface="Segoe U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A5568"/>
                          </a:solidFill>
                          <a:latin typeface="Segoe UI" pitchFamily="34" charset="0"/>
                          <a:ea typeface="Segoe UI" pitchFamily="34" charset="-122"/>
                          <a:cs typeface="Segoe UI" pitchFamily="34" charset="-120"/>
                        </a:rPr>
                        <a:t>1.0</a:t>
                      </a:r>
                      <a:endParaRPr lang="en-US" sz="1050" dirty="0">
                        <a:latin typeface="Segoe UI" charset="0"/>
                        <a:ea typeface="Segoe UI" charset="0"/>
                        <a:cs typeface="Segoe U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4A5568"/>
                          </a:solidFill>
                          <a:latin typeface="Segoe UI" pitchFamily="34" charset="0"/>
                          <a:ea typeface="Segoe UI" pitchFamily="34" charset="-122"/>
                          <a:cs typeface="Segoe UI" pitchFamily="34" charset="-120"/>
                        </a:rPr>
                        <a:t>Neutral: uniform (uninformative)</a:t>
                      </a:r>
                      <a:endParaRPr lang="en-US" sz="1050" dirty="0">
                        <a:latin typeface="Segoe UI" charset="0"/>
                        <a:ea typeface="Segoe UI" charset="0"/>
                        <a:cs typeface="Segoe U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6" name="Shape 13"/>
          <p:cNvSpPr/>
          <p:nvPr/>
        </p:nvSpPr>
        <p:spPr>
          <a:xfrm>
            <a:off x="411480" y="5742432"/>
            <a:ext cx="11365992" cy="658368"/>
          </a:xfrm>
          <a:prstGeom prst="roundRect">
            <a:avLst>
              <a:gd name="adj" fmla="val 11111"/>
            </a:avLst>
          </a:prstGeom>
          <a:solidFill>
            <a:srgbClr val="1A365D"/>
          </a:solidFill>
          <a:ln/>
        </p:spPr>
        <p:txBody>
          <a:bodyPr/>
          <a:lstStyle/>
          <a:p>
            <a:endParaRPr lang="en-US"/>
          </a:p>
        </p:txBody>
      </p:sp>
      <p:sp>
        <p:nvSpPr>
          <p:cNvPr id="17" name="Text 14"/>
          <p:cNvSpPr/>
          <p:nvPr/>
        </p:nvSpPr>
        <p:spPr>
          <a:xfrm>
            <a:off x="548640" y="5742432"/>
            <a:ext cx="11091672" cy="658368"/>
          </a:xfrm>
          <a:prstGeom prst="rect">
            <a:avLst/>
          </a:prstGeom>
          <a:noFill/>
          <a:ln/>
        </p:spPr>
        <p:txBody>
          <a:bodyPr wrap="square" rtlCol="0" anchor="ctr"/>
          <a:lstStyle/>
          <a:p>
            <a:pPr marL="0" indent="0" algn="ctr">
              <a:buNone/>
            </a:pPr>
            <a:r>
              <a:rPr lang="en-US" sz="1250" b="1" dirty="0">
                <a:solidFill>
                  <a:srgbClr val="FFFFFF"/>
                </a:solidFill>
                <a:latin typeface="Segoe UI" pitchFamily="34" charset="0"/>
                <a:ea typeface="Segoe UI" pitchFamily="34" charset="-122"/>
                <a:cs typeface="Segoe UI" pitchFamily="34" charset="-120"/>
              </a:rPr>
              <a:t>Key Property: When f(A→B) ≫ α, the posterior converges to the classical formula. Conservative by design — dominant pathways unchanged, only low-frequency treatment improved.</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92608"/>
            <a:ext cx="64008" cy="475488"/>
          </a:xfrm>
          <a:prstGeom prst="rect">
            <a:avLst/>
          </a:prstGeom>
          <a:solidFill>
            <a:srgbClr val="319795"/>
          </a:solidFill>
          <a:ln/>
        </p:spPr>
        <p:txBody>
          <a:bodyPr/>
          <a:lstStyle/>
          <a:p>
            <a:endParaRPr lang="en-US"/>
          </a:p>
        </p:txBody>
      </p:sp>
      <p:sp>
        <p:nvSpPr>
          <p:cNvPr id="3" name="Text 1"/>
          <p:cNvSpPr/>
          <p:nvPr/>
        </p:nvSpPr>
        <p:spPr>
          <a:xfrm>
            <a:off x="566928" y="237744"/>
            <a:ext cx="11155680" cy="585216"/>
          </a:xfrm>
          <a:prstGeom prst="rect">
            <a:avLst/>
          </a:prstGeom>
          <a:noFill/>
          <a:ln/>
        </p:spPr>
        <p:txBody>
          <a:bodyPr wrap="square" rtlCol="0" anchor="ctr"/>
          <a:lstStyle/>
          <a:p>
            <a:pPr marL="0" indent="0" algn="l">
              <a:buNone/>
            </a:pPr>
            <a:r>
              <a:rPr lang="en-US" sz="2500" b="1" dirty="0">
                <a:solidFill>
                  <a:srgbClr val="1A365D"/>
                </a:solidFill>
                <a:latin typeface="Segoe UI" pitchFamily="34" charset="0"/>
                <a:ea typeface="Segoe UI" pitchFamily="34" charset="-122"/>
                <a:cs typeface="Segoe UI" pitchFamily="34" charset="-120"/>
              </a:rPr>
              <a:t>🧪  Experimental Design: Two Complementary Paths</a:t>
            </a:r>
            <a:endParaRPr lang="en-US" sz="2500" dirty="0"/>
          </a:p>
        </p:txBody>
      </p:sp>
      <p:sp>
        <p:nvSpPr>
          <p:cNvPr id="4" name="Shape 2"/>
          <p:cNvSpPr/>
          <p:nvPr/>
        </p:nvSpPr>
        <p:spPr>
          <a:xfrm>
            <a:off x="411480" y="1234440"/>
            <a:ext cx="5532120" cy="4114800"/>
          </a:xfrm>
          <a:prstGeom prst="roundRect">
            <a:avLst>
              <a:gd name="adj" fmla="val 1778"/>
            </a:avLst>
          </a:prstGeom>
          <a:solidFill>
            <a:srgbClr val="EBF8FF"/>
          </a:solidFill>
          <a:ln w="9525">
            <a:solidFill>
              <a:srgbClr val="E2E8F0"/>
            </a:solidFill>
            <a:prstDash val="solid"/>
          </a:ln>
        </p:spPr>
        <p:txBody>
          <a:bodyPr/>
          <a:lstStyle/>
          <a:p>
            <a:endParaRPr lang="en-US"/>
          </a:p>
        </p:txBody>
      </p:sp>
      <p:sp>
        <p:nvSpPr>
          <p:cNvPr id="5" name="Shape 3"/>
          <p:cNvSpPr/>
          <p:nvPr/>
        </p:nvSpPr>
        <p:spPr>
          <a:xfrm>
            <a:off x="411480" y="1234440"/>
            <a:ext cx="64008" cy="4114800"/>
          </a:xfrm>
          <a:prstGeom prst="roundRect">
            <a:avLst>
              <a:gd name="adj" fmla="val 42857"/>
            </a:avLst>
          </a:prstGeom>
          <a:solidFill>
            <a:srgbClr val="3182CE"/>
          </a:solidFill>
          <a:ln/>
        </p:spPr>
        <p:txBody>
          <a:bodyPr/>
          <a:lstStyle/>
          <a:p>
            <a:endParaRPr lang="en-US"/>
          </a:p>
        </p:txBody>
      </p:sp>
      <p:sp>
        <p:nvSpPr>
          <p:cNvPr id="6" name="Text 4"/>
          <p:cNvSpPr/>
          <p:nvPr/>
        </p:nvSpPr>
        <p:spPr>
          <a:xfrm>
            <a:off x="685800" y="1417320"/>
            <a:ext cx="5029200" cy="365760"/>
          </a:xfrm>
          <a:prstGeom prst="rect">
            <a:avLst/>
          </a:prstGeom>
          <a:noFill/>
          <a:ln/>
        </p:spPr>
        <p:txBody>
          <a:bodyPr wrap="square" rtlCol="0" anchor="ctr"/>
          <a:lstStyle/>
          <a:p>
            <a:pPr marL="0" indent="0">
              <a:buNone/>
            </a:pPr>
            <a:r>
              <a:rPr lang="en-US" sz="1500" b="1" dirty="0">
                <a:solidFill>
                  <a:srgbClr val="3182CE"/>
                </a:solidFill>
                <a:latin typeface="Segoe UI" pitchFamily="34" charset="0"/>
                <a:ea typeface="Segoe UI" pitchFamily="34" charset="-122"/>
                <a:cs typeface="Segoe UI" pitchFamily="34" charset="-120"/>
              </a:rPr>
              <a:t>📊  Depth-First Path</a:t>
            </a:r>
            <a:endParaRPr lang="en-US" sz="1500" dirty="0"/>
          </a:p>
        </p:txBody>
      </p:sp>
      <p:sp>
        <p:nvSpPr>
          <p:cNvPr id="7" name="Text 5"/>
          <p:cNvSpPr/>
          <p:nvPr/>
        </p:nvSpPr>
        <p:spPr>
          <a:xfrm>
            <a:off x="685800" y="1874520"/>
            <a:ext cx="5029200" cy="3291840"/>
          </a:xfrm>
          <a:prstGeom prst="rect">
            <a:avLst/>
          </a:prstGeom>
          <a:noFill/>
          <a:ln/>
        </p:spPr>
        <p:txBody>
          <a:bodyPr wrap="square" rtlCol="0" anchor="t"/>
          <a:lstStyle/>
          <a:p>
            <a:pPr marL="0" indent="0">
              <a:lnSpc>
                <a:spcPct val="118000"/>
              </a:lnSpc>
              <a:buNone/>
            </a:pPr>
            <a:r>
              <a:rPr lang="en-US" sz="1200" b="1" dirty="0">
                <a:solidFill>
                  <a:srgbClr val="1A202C"/>
                </a:solidFill>
                <a:latin typeface="Segoe UI" pitchFamily="34" charset="0"/>
                <a:ea typeface="Segoe UI" pitchFamily="34" charset="-122"/>
                <a:cs typeface="Segoe UI" pitchFamily="34" charset="-120"/>
              </a:rPr>
              <a:t>Scope: </a:t>
            </a:r>
            <a:r>
              <a:rPr lang="en-US" sz="1200" dirty="0">
                <a:solidFill>
                  <a:srgbClr val="4A5568"/>
                </a:solidFill>
                <a:latin typeface="Segoe UI" pitchFamily="34" charset="0"/>
                <a:ea typeface="Segoe UI" pitchFamily="34" charset="-122"/>
                <a:cs typeface="Segoe UI" pitchFamily="34" charset="-120"/>
              </a:rPr>
              <a:t>Full dataset (162,286 cases)
</a:t>
            </a:r>
            <a:r>
              <a:rPr lang="en-US" sz="1200" b="1" dirty="0">
                <a:solidFill>
                  <a:srgbClr val="1A202C"/>
                </a:solidFill>
                <a:latin typeface="Segoe UI" pitchFamily="34" charset="0"/>
                <a:ea typeface="Segoe UI" pitchFamily="34" charset="-122"/>
                <a:cs typeface="Segoe UI" pitchFamily="34" charset="-120"/>
              </a:rPr>
              <a:t>Purpose: </a:t>
            </a:r>
            <a:r>
              <a:rPr lang="en-US" sz="1200" dirty="0">
                <a:solidFill>
                  <a:srgbClr val="4A5568"/>
                </a:solidFill>
                <a:latin typeface="Segoe UI" pitchFamily="34" charset="0"/>
                <a:ea typeface="Segoe UI" pitchFamily="34" charset="-122"/>
                <a:cs typeface="Segoe UI" pitchFamily="34" charset="-120"/>
              </a:rPr>
              <a:t>Directly answers RQ1–RQ3
1. Baseline Heuristic Miner
2. Bayesian Heuristic Miner
3. Performance DFG (Mean + Median)
</a:t>
            </a:r>
            <a:r>
              <a:rPr lang="en-US" sz="1200" b="1" dirty="0">
                <a:solidFill>
                  <a:srgbClr val="1A202C"/>
                </a:solidFill>
                <a:latin typeface="Segoe UI" pitchFamily="34" charset="0"/>
                <a:ea typeface="Segoe UI" pitchFamily="34" charset="-122"/>
                <a:cs typeface="Segoe UI" pitchFamily="34" charset="-120"/>
              </a:rPr>
              <a:t>Output: </a:t>
            </a:r>
            <a:r>
              <a:rPr lang="en-US" sz="1200" dirty="0">
                <a:solidFill>
                  <a:srgbClr val="4A5568"/>
                </a:solidFill>
                <a:latin typeface="Segoe UI" pitchFamily="34" charset="0"/>
                <a:ea typeface="Segoe UI" pitchFamily="34" charset="-122"/>
                <a:cs typeface="Segoe UI" pitchFamily="34" charset="-120"/>
              </a:rPr>
              <a:t>Institution-level structural model + delay map</a:t>
            </a:r>
            <a:endParaRPr lang="en-US" sz="1200" dirty="0"/>
          </a:p>
        </p:txBody>
      </p:sp>
      <p:sp>
        <p:nvSpPr>
          <p:cNvPr id="8" name="Shape 6"/>
          <p:cNvSpPr/>
          <p:nvPr/>
        </p:nvSpPr>
        <p:spPr>
          <a:xfrm>
            <a:off x="6217920" y="1234440"/>
            <a:ext cx="5532120" cy="4114800"/>
          </a:xfrm>
          <a:prstGeom prst="roundRect">
            <a:avLst>
              <a:gd name="adj" fmla="val 1778"/>
            </a:avLst>
          </a:prstGeom>
          <a:solidFill>
            <a:srgbClr val="F0FFF4"/>
          </a:solidFill>
          <a:ln w="9525">
            <a:solidFill>
              <a:srgbClr val="E2E8F0"/>
            </a:solidFill>
            <a:prstDash val="solid"/>
          </a:ln>
        </p:spPr>
        <p:txBody>
          <a:bodyPr/>
          <a:lstStyle/>
          <a:p>
            <a:endParaRPr lang="en-US"/>
          </a:p>
        </p:txBody>
      </p:sp>
      <p:sp>
        <p:nvSpPr>
          <p:cNvPr id="9" name="Shape 7"/>
          <p:cNvSpPr/>
          <p:nvPr/>
        </p:nvSpPr>
        <p:spPr>
          <a:xfrm>
            <a:off x="6217920" y="1234440"/>
            <a:ext cx="64008" cy="4114800"/>
          </a:xfrm>
          <a:prstGeom prst="roundRect">
            <a:avLst>
              <a:gd name="adj" fmla="val 42857"/>
            </a:avLst>
          </a:prstGeom>
          <a:solidFill>
            <a:srgbClr val="38A169"/>
          </a:solidFill>
          <a:ln/>
        </p:spPr>
        <p:txBody>
          <a:bodyPr/>
          <a:lstStyle/>
          <a:p>
            <a:endParaRPr lang="en-US"/>
          </a:p>
        </p:txBody>
      </p:sp>
      <p:sp>
        <p:nvSpPr>
          <p:cNvPr id="10" name="Text 8"/>
          <p:cNvSpPr/>
          <p:nvPr/>
        </p:nvSpPr>
        <p:spPr>
          <a:xfrm>
            <a:off x="6492240" y="1417320"/>
            <a:ext cx="5029200" cy="365760"/>
          </a:xfrm>
          <a:prstGeom prst="rect">
            <a:avLst/>
          </a:prstGeom>
          <a:noFill/>
          <a:ln/>
        </p:spPr>
        <p:txBody>
          <a:bodyPr wrap="square" rtlCol="0" anchor="ctr"/>
          <a:lstStyle/>
          <a:p>
            <a:pPr marL="0" indent="0">
              <a:buNone/>
            </a:pPr>
            <a:r>
              <a:rPr lang="en-US" sz="1500" b="1" dirty="0">
                <a:solidFill>
                  <a:srgbClr val="38A169"/>
                </a:solidFill>
                <a:latin typeface="Segoe UI" pitchFamily="34" charset="0"/>
                <a:ea typeface="Segoe UI" pitchFamily="34" charset="-122"/>
                <a:cs typeface="Segoe UI" pitchFamily="34" charset="-120"/>
              </a:rPr>
              <a:t>🔍  Breadth-First Path</a:t>
            </a:r>
            <a:endParaRPr lang="en-US" sz="1500" dirty="0"/>
          </a:p>
        </p:txBody>
      </p:sp>
      <p:sp>
        <p:nvSpPr>
          <p:cNvPr id="11" name="Text 9"/>
          <p:cNvSpPr/>
          <p:nvPr/>
        </p:nvSpPr>
        <p:spPr>
          <a:xfrm>
            <a:off x="6492240" y="1874520"/>
            <a:ext cx="5029200" cy="3291840"/>
          </a:xfrm>
          <a:prstGeom prst="rect">
            <a:avLst/>
          </a:prstGeom>
          <a:noFill/>
          <a:ln/>
        </p:spPr>
        <p:txBody>
          <a:bodyPr wrap="square" rtlCol="0" anchor="t"/>
          <a:lstStyle/>
          <a:p>
            <a:pPr marL="0" indent="0">
              <a:lnSpc>
                <a:spcPct val="118000"/>
              </a:lnSpc>
              <a:buNone/>
            </a:pPr>
            <a:r>
              <a:rPr lang="en-US" sz="1200" b="1" dirty="0">
                <a:solidFill>
                  <a:srgbClr val="1A202C"/>
                </a:solidFill>
                <a:latin typeface="Segoe UI" pitchFamily="34" charset="0"/>
                <a:ea typeface="Segoe UI" pitchFamily="34" charset="-122"/>
                <a:cs typeface="Segoe UI" pitchFamily="34" charset="-120"/>
              </a:rPr>
              <a:t>Scope: </a:t>
            </a:r>
            <a:r>
              <a:rPr lang="en-US" sz="1200" dirty="0">
                <a:solidFill>
                  <a:srgbClr val="4A5568"/>
                </a:solidFill>
                <a:latin typeface="Segoe UI" pitchFamily="34" charset="0"/>
                <a:ea typeface="Segoe UI" pitchFamily="34" charset="-122"/>
                <a:cs typeface="Segoe UI" pitchFamily="34" charset="-120"/>
              </a:rPr>
              <a:t>22 granular re-runs across subgroups
</a:t>
            </a:r>
            <a:r>
              <a:rPr lang="en-US" sz="1200" b="1" dirty="0">
                <a:solidFill>
                  <a:srgbClr val="1A202C"/>
                </a:solidFill>
                <a:latin typeface="Segoe UI" pitchFamily="34" charset="0"/>
                <a:ea typeface="Segoe UI" pitchFamily="34" charset="-122"/>
                <a:cs typeface="Segoe UI" pitchFamily="34" charset="-120"/>
              </a:rPr>
              <a:t>Purpose: </a:t>
            </a:r>
            <a:r>
              <a:rPr lang="en-US" sz="1200" dirty="0">
                <a:solidFill>
                  <a:srgbClr val="4A5568"/>
                </a:solidFill>
                <a:latin typeface="Segoe UI" pitchFamily="34" charset="0"/>
                <a:ea typeface="Segoe UI" pitchFamily="34" charset="-122"/>
                <a:cs typeface="Segoe UI" pitchFamily="34" charset="-120"/>
              </a:rPr>
              <a:t>Tests generalizability, supports RQ4
• 13 surgical specialties
• 4 theatre locations (Main OR, SDC, Endoscopy, ObGyn)
• 5 highest-volume surgeons
</a:t>
            </a:r>
            <a:r>
              <a:rPr lang="en-US" sz="1200" b="1" dirty="0">
                <a:solidFill>
                  <a:srgbClr val="1A202C"/>
                </a:solidFill>
                <a:latin typeface="Segoe UI" pitchFamily="34" charset="0"/>
                <a:ea typeface="Segoe UI" pitchFamily="34" charset="-122"/>
                <a:cs typeface="Segoe UI" pitchFamily="34" charset="-120"/>
              </a:rPr>
              <a:t>Output: </a:t>
            </a:r>
            <a:r>
              <a:rPr lang="en-US" sz="1200" dirty="0">
                <a:solidFill>
                  <a:srgbClr val="4A5568"/>
                </a:solidFill>
                <a:latin typeface="Segoe UI" pitchFamily="34" charset="0"/>
                <a:ea typeface="Segoe UI" pitchFamily="34" charset="-122"/>
                <a:cs typeface="Segoe UI" pitchFamily="34" charset="-120"/>
              </a:rPr>
              <a:t>Same pipeline, same parameters per subgroup → structural stability + temporal variation</a:t>
            </a:r>
            <a:endParaRPr lang="en-US" sz="1200" dirty="0"/>
          </a:p>
        </p:txBody>
      </p:sp>
      <p:sp>
        <p:nvSpPr>
          <p:cNvPr id="12" name="Shape 10"/>
          <p:cNvSpPr/>
          <p:nvPr/>
        </p:nvSpPr>
        <p:spPr>
          <a:xfrm>
            <a:off x="411480" y="5669280"/>
            <a:ext cx="11365992" cy="502920"/>
          </a:xfrm>
          <a:prstGeom prst="roundRect">
            <a:avLst>
              <a:gd name="adj" fmla="val 14545"/>
            </a:avLst>
          </a:prstGeom>
          <a:solidFill>
            <a:srgbClr val="1A365D"/>
          </a:solidFill>
          <a:ln/>
        </p:spPr>
        <p:txBody>
          <a:bodyPr/>
          <a:lstStyle/>
          <a:p>
            <a:endParaRPr lang="en-US"/>
          </a:p>
        </p:txBody>
      </p:sp>
      <p:sp>
        <p:nvSpPr>
          <p:cNvPr id="13" name="Text 11"/>
          <p:cNvSpPr/>
          <p:nvPr/>
        </p:nvSpPr>
        <p:spPr>
          <a:xfrm>
            <a:off x="548640" y="5669280"/>
            <a:ext cx="11091672" cy="502920"/>
          </a:xfrm>
          <a:prstGeom prst="rect">
            <a:avLst/>
          </a:prstGeom>
          <a:noFill/>
          <a:ln/>
        </p:spPr>
        <p:txBody>
          <a:bodyPr wrap="square" rtlCol="0" anchor="ctr"/>
          <a:lstStyle/>
          <a:p>
            <a:pPr marL="0" indent="0" algn="ctr">
              <a:buNone/>
            </a:pPr>
            <a:r>
              <a:rPr lang="en-US" sz="1250" b="1" dirty="0">
                <a:solidFill>
                  <a:srgbClr val="FFFFFF"/>
                </a:solidFill>
                <a:latin typeface="Segoe UI" pitchFamily="34" charset="0"/>
                <a:ea typeface="Segoe UI" pitchFamily="34" charset="-122"/>
                <a:cs typeface="Segoe UI" pitchFamily="34" charset="-120"/>
              </a:rPr>
              <a:t>Both paths converge on → Results → Recommendations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92608"/>
            <a:ext cx="64008" cy="475488"/>
          </a:xfrm>
          <a:prstGeom prst="rect">
            <a:avLst/>
          </a:prstGeom>
          <a:solidFill>
            <a:srgbClr val="2C5282"/>
          </a:solidFill>
          <a:ln/>
        </p:spPr>
        <p:txBody>
          <a:bodyPr/>
          <a:lstStyle/>
          <a:p>
            <a:endParaRPr lang="en-US"/>
          </a:p>
        </p:txBody>
      </p:sp>
      <p:sp>
        <p:nvSpPr>
          <p:cNvPr id="3" name="Text 1"/>
          <p:cNvSpPr/>
          <p:nvPr/>
        </p:nvSpPr>
        <p:spPr>
          <a:xfrm>
            <a:off x="566928" y="237744"/>
            <a:ext cx="11155680" cy="585216"/>
          </a:xfrm>
          <a:prstGeom prst="rect">
            <a:avLst/>
          </a:prstGeom>
          <a:noFill/>
          <a:ln/>
        </p:spPr>
        <p:txBody>
          <a:bodyPr wrap="square" rtlCol="0" anchor="ctr"/>
          <a:lstStyle/>
          <a:p>
            <a:pPr marL="0" indent="0" algn="l">
              <a:buNone/>
            </a:pPr>
            <a:r>
              <a:rPr lang="en-US" sz="2500" b="1" dirty="0">
                <a:solidFill>
                  <a:srgbClr val="1A365D"/>
                </a:solidFill>
                <a:latin typeface="Segoe UI" pitchFamily="34" charset="0"/>
                <a:ea typeface="Segoe UI" pitchFamily="34" charset="-122"/>
                <a:cs typeface="Segoe UI" pitchFamily="34" charset="-120"/>
              </a:rPr>
              <a:t>📁  Dataset: Aga Khan University Hospital (AKUH)</a:t>
            </a:r>
            <a:endParaRPr lang="en-US" sz="2500" dirty="0"/>
          </a:p>
        </p:txBody>
      </p:sp>
      <p:sp>
        <p:nvSpPr>
          <p:cNvPr id="4" name="Shape 2"/>
          <p:cNvSpPr/>
          <p:nvPr/>
        </p:nvSpPr>
        <p:spPr>
          <a:xfrm>
            <a:off x="411480" y="1188720"/>
            <a:ext cx="5394960" cy="1965960"/>
          </a:xfrm>
          <a:prstGeom prst="roundRect">
            <a:avLst>
              <a:gd name="adj" fmla="val 3721"/>
            </a:avLst>
          </a:prstGeom>
          <a:solidFill>
            <a:srgbClr val="F7FAFC"/>
          </a:solidFill>
          <a:ln w="9525">
            <a:solidFill>
              <a:srgbClr val="E2E8F0"/>
            </a:solidFill>
            <a:prstDash val="solid"/>
          </a:ln>
        </p:spPr>
        <p:txBody>
          <a:bodyPr/>
          <a:lstStyle/>
          <a:p>
            <a:endParaRPr lang="en-US"/>
          </a:p>
        </p:txBody>
      </p:sp>
      <p:sp>
        <p:nvSpPr>
          <p:cNvPr id="5" name="Shape 3"/>
          <p:cNvSpPr/>
          <p:nvPr/>
        </p:nvSpPr>
        <p:spPr>
          <a:xfrm>
            <a:off x="411480" y="1188720"/>
            <a:ext cx="64008" cy="1965960"/>
          </a:xfrm>
          <a:prstGeom prst="roundRect">
            <a:avLst>
              <a:gd name="adj" fmla="val 42857"/>
            </a:avLst>
          </a:prstGeom>
          <a:solidFill>
            <a:srgbClr val="3182CE"/>
          </a:solidFill>
          <a:ln/>
        </p:spPr>
        <p:txBody>
          <a:bodyPr/>
          <a:lstStyle/>
          <a:p>
            <a:endParaRPr lang="en-US"/>
          </a:p>
        </p:txBody>
      </p:sp>
      <p:sp>
        <p:nvSpPr>
          <p:cNvPr id="6" name="Text 4"/>
          <p:cNvSpPr/>
          <p:nvPr/>
        </p:nvSpPr>
        <p:spPr>
          <a:xfrm>
            <a:off x="640080" y="1316736"/>
            <a:ext cx="4983480" cy="1737360"/>
          </a:xfrm>
          <a:prstGeom prst="rect">
            <a:avLst/>
          </a:prstGeom>
          <a:noFill/>
          <a:ln/>
        </p:spPr>
        <p:txBody>
          <a:bodyPr wrap="square" rtlCol="0" anchor="t"/>
          <a:lstStyle/>
          <a:p>
            <a:pPr marL="0" indent="0">
              <a:lnSpc>
                <a:spcPct val="115000"/>
              </a:lnSpc>
              <a:buNone/>
            </a:pPr>
            <a:r>
              <a:rPr lang="en-US" sz="1250" b="1" dirty="0">
                <a:solidFill>
                  <a:srgbClr val="3182CE"/>
                </a:solidFill>
                <a:latin typeface="Segoe UI" pitchFamily="34" charset="0"/>
                <a:ea typeface="Segoe UI" pitchFamily="34" charset="-122"/>
                <a:cs typeface="Segoe UI" pitchFamily="34" charset="-120"/>
              </a:rPr>
              <a:t>Data Sources (5 systems)</a:t>
            </a:r>
          </a:p>
          <a:p>
            <a:pPr marL="0" indent="0">
              <a:lnSpc>
                <a:spcPct val="115000"/>
              </a:lnSpc>
              <a:buNone/>
            </a:pPr>
            <a:r>
              <a:rPr lang="en-US" sz="1250" b="1" dirty="0">
                <a:solidFill>
                  <a:srgbClr val="3182CE"/>
                </a:solidFill>
                <a:latin typeface="Segoe UI" pitchFamily="34" charset="0"/>
                <a:ea typeface="Segoe UI" pitchFamily="34" charset="-122"/>
                <a:cs typeface="Segoe UI" pitchFamily="34" charset="-120"/>
              </a:rPr>
              <a:t>
</a:t>
            </a:r>
            <a:r>
              <a:rPr lang="en-US" sz="1100" dirty="0">
                <a:solidFill>
                  <a:srgbClr val="4A5568"/>
                </a:solidFill>
                <a:latin typeface="Segoe UI" pitchFamily="34" charset="0"/>
                <a:ea typeface="Segoe UI" pitchFamily="34" charset="-122"/>
                <a:cs typeface="Segoe UI" pitchFamily="34" charset="-120"/>
              </a:rPr>
              <a:t>• CCMS — Medical record numbers</a:t>
            </a:r>
            <a:endParaRPr lang="en-US" sz="1250" dirty="0"/>
          </a:p>
          <a:p>
            <a:pPr marL="0" indent="0">
              <a:lnSpc>
                <a:spcPct val="115000"/>
              </a:lnSpc>
              <a:buNone/>
            </a:pPr>
            <a:r>
              <a:rPr lang="en-US" sz="1100" dirty="0">
                <a:solidFill>
                  <a:srgbClr val="4A5568"/>
                </a:solidFill>
                <a:latin typeface="Segoe UI" pitchFamily="34" charset="0"/>
                <a:ea typeface="Segoe UI" pitchFamily="34" charset="-122"/>
                <a:cs typeface="Segoe UI" pitchFamily="34" charset="-120"/>
              </a:rPr>
              <a:t>• ADT — Admission records</a:t>
            </a:r>
            <a:endParaRPr lang="en-US" sz="1250" dirty="0"/>
          </a:p>
          <a:p>
            <a:pPr marL="0" indent="0">
              <a:lnSpc>
                <a:spcPct val="115000"/>
              </a:lnSpc>
              <a:buNone/>
            </a:pPr>
            <a:r>
              <a:rPr lang="en-US" sz="1100" dirty="0">
                <a:solidFill>
                  <a:srgbClr val="4A5568"/>
                </a:solidFill>
                <a:latin typeface="Segoe UI" pitchFamily="34" charset="0"/>
                <a:ea typeface="Segoe UI" pitchFamily="34" charset="-122"/>
                <a:cs typeface="Segoe UI" pitchFamily="34" charset="-120"/>
              </a:rPr>
              <a:t>• HIMS — Diagnosis &amp; procedure coding</a:t>
            </a:r>
            <a:endParaRPr lang="en-US" sz="1250" dirty="0"/>
          </a:p>
          <a:p>
            <a:pPr marL="0" indent="0">
              <a:lnSpc>
                <a:spcPct val="115000"/>
              </a:lnSpc>
              <a:buNone/>
            </a:pPr>
            <a:r>
              <a:rPr lang="en-US" sz="1100" dirty="0">
                <a:solidFill>
                  <a:srgbClr val="4A5568"/>
                </a:solidFill>
                <a:latin typeface="Segoe UI" pitchFamily="34" charset="0"/>
                <a:ea typeface="Segoe UI" pitchFamily="34" charset="-122"/>
                <a:cs typeface="Segoe UI" pitchFamily="34" charset="-120"/>
              </a:rPr>
              <a:t>• PHA — Pharmacy    • BB — Blood Bank</a:t>
            </a:r>
            <a:endParaRPr lang="en-US" sz="1250" dirty="0"/>
          </a:p>
        </p:txBody>
      </p:sp>
      <p:sp>
        <p:nvSpPr>
          <p:cNvPr id="7" name="Shape 5"/>
          <p:cNvSpPr/>
          <p:nvPr/>
        </p:nvSpPr>
        <p:spPr>
          <a:xfrm>
            <a:off x="411480" y="3291840"/>
            <a:ext cx="5394960" cy="2286000"/>
          </a:xfrm>
          <a:prstGeom prst="roundRect">
            <a:avLst>
              <a:gd name="adj" fmla="val 3200"/>
            </a:avLst>
          </a:prstGeom>
          <a:solidFill>
            <a:srgbClr val="FFFAF0"/>
          </a:solidFill>
          <a:ln w="9525">
            <a:solidFill>
              <a:srgbClr val="E2E8F0"/>
            </a:solidFill>
            <a:prstDash val="solid"/>
          </a:ln>
        </p:spPr>
        <p:txBody>
          <a:bodyPr/>
          <a:lstStyle/>
          <a:p>
            <a:endParaRPr lang="en-US"/>
          </a:p>
        </p:txBody>
      </p:sp>
      <p:sp>
        <p:nvSpPr>
          <p:cNvPr id="8" name="Shape 6"/>
          <p:cNvSpPr/>
          <p:nvPr/>
        </p:nvSpPr>
        <p:spPr>
          <a:xfrm>
            <a:off x="411480" y="3291840"/>
            <a:ext cx="64008" cy="2286000"/>
          </a:xfrm>
          <a:prstGeom prst="roundRect">
            <a:avLst>
              <a:gd name="adj" fmla="val 42857"/>
            </a:avLst>
          </a:prstGeom>
          <a:solidFill>
            <a:srgbClr val="DD6B20"/>
          </a:solidFill>
          <a:ln/>
        </p:spPr>
        <p:txBody>
          <a:bodyPr/>
          <a:lstStyle/>
          <a:p>
            <a:endParaRPr lang="en-US"/>
          </a:p>
        </p:txBody>
      </p:sp>
      <p:sp>
        <p:nvSpPr>
          <p:cNvPr id="9" name="Text 7"/>
          <p:cNvSpPr/>
          <p:nvPr/>
        </p:nvSpPr>
        <p:spPr>
          <a:xfrm>
            <a:off x="640080" y="3419856"/>
            <a:ext cx="4983480" cy="2057400"/>
          </a:xfrm>
          <a:prstGeom prst="rect">
            <a:avLst/>
          </a:prstGeom>
          <a:noFill/>
          <a:ln/>
        </p:spPr>
        <p:txBody>
          <a:bodyPr wrap="square" rtlCol="0" anchor="t"/>
          <a:lstStyle/>
          <a:p>
            <a:pPr marL="0" indent="0">
              <a:lnSpc>
                <a:spcPct val="118000"/>
              </a:lnSpc>
              <a:buNone/>
            </a:pPr>
            <a:r>
              <a:rPr lang="en-US" sz="1250" b="1" dirty="0">
                <a:solidFill>
                  <a:srgbClr val="DD6B20"/>
                </a:solidFill>
                <a:latin typeface="Segoe UI" pitchFamily="34" charset="0"/>
                <a:ea typeface="Segoe UI" pitchFamily="34" charset="-122"/>
                <a:cs typeface="Segoe UI" pitchFamily="34" charset="-120"/>
              </a:rPr>
              <a:t>15 Perioperative Activities</a:t>
            </a:r>
          </a:p>
          <a:p>
            <a:pPr marL="0" indent="0">
              <a:lnSpc>
                <a:spcPct val="118000"/>
              </a:lnSpc>
              <a:buNone/>
            </a:pPr>
            <a:r>
              <a:rPr lang="en-US" sz="1250" b="1" dirty="0">
                <a:solidFill>
                  <a:srgbClr val="DD6B20"/>
                </a:solidFill>
                <a:latin typeface="Segoe UI" pitchFamily="34" charset="0"/>
                <a:ea typeface="Segoe UI" pitchFamily="34" charset="-122"/>
                <a:cs typeface="Segoe UI" pitchFamily="34" charset="-120"/>
              </a:rPr>
              <a:t>
</a:t>
            </a:r>
            <a:r>
              <a:rPr lang="en-US" sz="1050" dirty="0">
                <a:solidFill>
                  <a:srgbClr val="4A5568"/>
                </a:solidFill>
                <a:latin typeface="Segoe UI" pitchFamily="34" charset="0"/>
                <a:ea typeface="Segoe UI" pitchFamily="34" charset="-122"/>
                <a:cs typeface="Segoe UI" pitchFamily="34" charset="-120"/>
              </a:rPr>
              <a:t>Admission → Patient Sent → Patient Arrived → Cleaning Start → Cleaning End → Patient In → Induction Start → Patient Ready → Prep Start → Incision → Dressing → Timeout → Recovery In → Recovery Out → Discharge</a:t>
            </a:r>
            <a:endParaRPr lang="en-US" sz="1250" dirty="0"/>
          </a:p>
        </p:txBody>
      </p:sp>
      <p:sp>
        <p:nvSpPr>
          <p:cNvPr id="10" name="Shape 8"/>
          <p:cNvSpPr/>
          <p:nvPr/>
        </p:nvSpPr>
        <p:spPr>
          <a:xfrm>
            <a:off x="6080760" y="1188720"/>
            <a:ext cx="5669280" cy="3291840"/>
          </a:xfrm>
          <a:prstGeom prst="roundRect">
            <a:avLst>
              <a:gd name="adj" fmla="val 2222"/>
            </a:avLst>
          </a:prstGeom>
          <a:solidFill>
            <a:srgbClr val="1A365D"/>
          </a:solidFill>
          <a:ln w="9525">
            <a:solidFill>
              <a:srgbClr val="E2E8F0"/>
            </a:solidFill>
            <a:prstDash val="solid"/>
          </a:ln>
        </p:spPr>
        <p:txBody>
          <a:bodyPr/>
          <a:lstStyle/>
          <a:p>
            <a:endParaRPr lang="en-US"/>
          </a:p>
        </p:txBody>
      </p:sp>
      <p:sp>
        <p:nvSpPr>
          <p:cNvPr id="11" name="Text 9"/>
          <p:cNvSpPr/>
          <p:nvPr/>
        </p:nvSpPr>
        <p:spPr>
          <a:xfrm>
            <a:off x="6309360" y="1316736"/>
            <a:ext cx="5212080" cy="292608"/>
          </a:xfrm>
          <a:prstGeom prst="rect">
            <a:avLst/>
          </a:prstGeom>
          <a:noFill/>
          <a:ln/>
        </p:spPr>
        <p:txBody>
          <a:bodyPr wrap="square" rtlCol="0" anchor="ctr"/>
          <a:lstStyle/>
          <a:p>
            <a:pPr marL="0" indent="0">
              <a:buNone/>
            </a:pPr>
            <a:r>
              <a:rPr lang="en-US" sz="1100" b="1" kern="0" spc="150" dirty="0">
                <a:solidFill>
                  <a:srgbClr val="90CDF4"/>
                </a:solidFill>
                <a:latin typeface="Segoe UI" pitchFamily="34" charset="0"/>
                <a:ea typeface="Segoe UI" pitchFamily="34" charset="-122"/>
                <a:cs typeface="Segoe UI" pitchFamily="34" charset="-120"/>
              </a:rPr>
              <a:t>DATA CLEANING FUNNEL</a:t>
            </a:r>
            <a:endParaRPr lang="en-US" sz="1100" dirty="0"/>
          </a:p>
        </p:txBody>
      </p:sp>
      <p:sp>
        <p:nvSpPr>
          <p:cNvPr id="12" name="Text 10"/>
          <p:cNvSpPr/>
          <p:nvPr/>
        </p:nvSpPr>
        <p:spPr>
          <a:xfrm>
            <a:off x="6309360" y="1664208"/>
            <a:ext cx="3291840" cy="384048"/>
          </a:xfrm>
          <a:prstGeom prst="rect">
            <a:avLst/>
          </a:prstGeom>
          <a:noFill/>
          <a:ln/>
        </p:spPr>
        <p:txBody>
          <a:bodyPr wrap="square" rtlCol="0" anchor="ctr"/>
          <a:lstStyle/>
          <a:p>
            <a:pPr marL="0" indent="0">
              <a:buNone/>
            </a:pPr>
            <a:r>
              <a:rPr lang="en-US" sz="1100" b="1" dirty="0">
                <a:solidFill>
                  <a:srgbClr val="BEE3F8"/>
                </a:solidFill>
                <a:latin typeface="Segoe UI" pitchFamily="34" charset="0"/>
                <a:ea typeface="Segoe UI" pitchFamily="34" charset="-122"/>
                <a:cs typeface="Segoe UI" pitchFamily="34" charset="-120"/>
              </a:rPr>
              <a:t>Raw extract</a:t>
            </a:r>
            <a:endParaRPr lang="en-US" sz="1100" dirty="0"/>
          </a:p>
        </p:txBody>
      </p:sp>
      <p:sp>
        <p:nvSpPr>
          <p:cNvPr id="13" name="Text 11"/>
          <p:cNvSpPr/>
          <p:nvPr/>
        </p:nvSpPr>
        <p:spPr>
          <a:xfrm>
            <a:off x="9509760" y="1664208"/>
            <a:ext cx="2011680" cy="384048"/>
          </a:xfrm>
          <a:prstGeom prst="rect">
            <a:avLst/>
          </a:prstGeom>
          <a:noFill/>
          <a:ln/>
        </p:spPr>
        <p:txBody>
          <a:bodyPr wrap="square" rtlCol="0" anchor="ctr"/>
          <a:lstStyle/>
          <a:p>
            <a:pPr marL="0" indent="0" algn="r">
              <a:buNone/>
            </a:pPr>
            <a:r>
              <a:rPr lang="en-US" sz="1500" b="1" dirty="0">
                <a:solidFill>
                  <a:srgbClr val="FFFFFF"/>
                </a:solidFill>
                <a:latin typeface="Segoe UI" pitchFamily="34" charset="0"/>
                <a:ea typeface="Segoe UI" pitchFamily="34" charset="-122"/>
                <a:cs typeface="Segoe UI" pitchFamily="34" charset="-120"/>
              </a:rPr>
              <a:t>445,897</a:t>
            </a:r>
            <a:endParaRPr lang="en-US" sz="1500" dirty="0"/>
          </a:p>
        </p:txBody>
      </p:sp>
      <p:sp>
        <p:nvSpPr>
          <p:cNvPr id="14" name="Shape 12"/>
          <p:cNvSpPr/>
          <p:nvPr/>
        </p:nvSpPr>
        <p:spPr>
          <a:xfrm>
            <a:off x="6309360" y="2084832"/>
            <a:ext cx="5212080" cy="0"/>
          </a:xfrm>
          <a:prstGeom prst="line">
            <a:avLst/>
          </a:prstGeom>
          <a:noFill/>
          <a:ln w="9525">
            <a:solidFill>
              <a:srgbClr val="2C5282"/>
            </a:solidFill>
            <a:prstDash val="solid"/>
          </a:ln>
        </p:spPr>
        <p:txBody>
          <a:bodyPr/>
          <a:lstStyle/>
          <a:p>
            <a:endParaRPr lang="en-US"/>
          </a:p>
        </p:txBody>
      </p:sp>
      <p:sp>
        <p:nvSpPr>
          <p:cNvPr id="15" name="Text 13"/>
          <p:cNvSpPr/>
          <p:nvPr/>
        </p:nvSpPr>
        <p:spPr>
          <a:xfrm>
            <a:off x="6309360" y="2112264"/>
            <a:ext cx="3291840" cy="384048"/>
          </a:xfrm>
          <a:prstGeom prst="rect">
            <a:avLst/>
          </a:prstGeom>
          <a:noFill/>
          <a:ln/>
        </p:spPr>
        <p:txBody>
          <a:bodyPr wrap="square" rtlCol="0" anchor="ctr"/>
          <a:lstStyle/>
          <a:p>
            <a:pPr marL="0" indent="0">
              <a:buNone/>
            </a:pPr>
            <a:r>
              <a:rPr lang="en-US" sz="1100" dirty="0">
                <a:solidFill>
                  <a:srgbClr val="BEE3F8"/>
                </a:solidFill>
                <a:latin typeface="Segoe UI" pitchFamily="34" charset="0"/>
                <a:ea typeface="Segoe UI" pitchFamily="34" charset="-122"/>
                <a:cs typeface="Segoe UI" pitchFamily="34" charset="-120"/>
              </a:rPr>
              <a:t>Require incision timestamp</a:t>
            </a:r>
            <a:endParaRPr lang="en-US" sz="1100" dirty="0"/>
          </a:p>
        </p:txBody>
      </p:sp>
      <p:sp>
        <p:nvSpPr>
          <p:cNvPr id="16" name="Text 14"/>
          <p:cNvSpPr/>
          <p:nvPr/>
        </p:nvSpPr>
        <p:spPr>
          <a:xfrm>
            <a:off x="9509760" y="2112264"/>
            <a:ext cx="2011680" cy="384048"/>
          </a:xfrm>
          <a:prstGeom prst="rect">
            <a:avLst/>
          </a:prstGeom>
          <a:noFill/>
          <a:ln/>
        </p:spPr>
        <p:txBody>
          <a:bodyPr wrap="square" rtlCol="0" anchor="ctr"/>
          <a:lstStyle/>
          <a:p>
            <a:pPr marL="0" indent="0" algn="r">
              <a:buNone/>
            </a:pPr>
            <a:r>
              <a:rPr lang="en-US" sz="1200" b="1" dirty="0">
                <a:solidFill>
                  <a:srgbClr val="BEE3F8"/>
                </a:solidFill>
                <a:latin typeface="Segoe UI" pitchFamily="34" charset="0"/>
                <a:ea typeface="Segoe UI" pitchFamily="34" charset="-122"/>
                <a:cs typeface="Segoe UI" pitchFamily="34" charset="-120"/>
              </a:rPr>
              <a:t>335,314</a:t>
            </a:r>
            <a:endParaRPr lang="en-US" sz="1200" dirty="0"/>
          </a:p>
        </p:txBody>
      </p:sp>
      <p:sp>
        <p:nvSpPr>
          <p:cNvPr id="17" name="Shape 15"/>
          <p:cNvSpPr/>
          <p:nvPr/>
        </p:nvSpPr>
        <p:spPr>
          <a:xfrm>
            <a:off x="6309360" y="2532888"/>
            <a:ext cx="5212080" cy="0"/>
          </a:xfrm>
          <a:prstGeom prst="line">
            <a:avLst/>
          </a:prstGeom>
          <a:noFill/>
          <a:ln w="9525">
            <a:solidFill>
              <a:srgbClr val="2C5282"/>
            </a:solidFill>
            <a:prstDash val="solid"/>
          </a:ln>
        </p:spPr>
        <p:txBody>
          <a:bodyPr/>
          <a:lstStyle/>
          <a:p>
            <a:endParaRPr lang="en-US"/>
          </a:p>
        </p:txBody>
      </p:sp>
      <p:sp>
        <p:nvSpPr>
          <p:cNvPr id="18" name="Text 16"/>
          <p:cNvSpPr/>
          <p:nvPr/>
        </p:nvSpPr>
        <p:spPr>
          <a:xfrm>
            <a:off x="6309360" y="2560320"/>
            <a:ext cx="3291840" cy="384048"/>
          </a:xfrm>
          <a:prstGeom prst="rect">
            <a:avLst/>
          </a:prstGeom>
          <a:noFill/>
          <a:ln/>
        </p:spPr>
        <p:txBody>
          <a:bodyPr wrap="square" rtlCol="0" anchor="ctr"/>
          <a:lstStyle/>
          <a:p>
            <a:pPr marL="0" indent="0">
              <a:buNone/>
            </a:pPr>
            <a:r>
              <a:rPr lang="en-US" sz="1100" dirty="0">
                <a:solidFill>
                  <a:srgbClr val="BEE3F8"/>
                </a:solidFill>
                <a:latin typeface="Segoe UI" pitchFamily="34" charset="0"/>
                <a:ea typeface="Segoe UI" pitchFamily="34" charset="-122"/>
                <a:cs typeface="Segoe UI" pitchFamily="34" charset="-120"/>
              </a:rPr>
              <a:t>Fix chronology errors</a:t>
            </a:r>
            <a:endParaRPr lang="en-US" sz="1100" dirty="0"/>
          </a:p>
        </p:txBody>
      </p:sp>
      <p:sp>
        <p:nvSpPr>
          <p:cNvPr id="19" name="Text 17"/>
          <p:cNvSpPr/>
          <p:nvPr/>
        </p:nvSpPr>
        <p:spPr>
          <a:xfrm>
            <a:off x="9509760" y="2560320"/>
            <a:ext cx="2011680" cy="384048"/>
          </a:xfrm>
          <a:prstGeom prst="rect">
            <a:avLst/>
          </a:prstGeom>
          <a:noFill/>
          <a:ln/>
        </p:spPr>
        <p:txBody>
          <a:bodyPr wrap="square" rtlCol="0" anchor="ctr"/>
          <a:lstStyle/>
          <a:p>
            <a:pPr marL="0" indent="0" algn="r">
              <a:buNone/>
            </a:pPr>
            <a:r>
              <a:rPr lang="en-US" sz="1200" b="1" dirty="0">
                <a:solidFill>
                  <a:srgbClr val="BEE3F8"/>
                </a:solidFill>
                <a:latin typeface="Segoe UI" pitchFamily="34" charset="0"/>
                <a:ea typeface="Segoe UI" pitchFamily="34" charset="-122"/>
                <a:cs typeface="Segoe UI" pitchFamily="34" charset="-120"/>
              </a:rPr>
              <a:t>183,611</a:t>
            </a:r>
            <a:endParaRPr lang="en-US" sz="1200" dirty="0"/>
          </a:p>
        </p:txBody>
      </p:sp>
      <p:sp>
        <p:nvSpPr>
          <p:cNvPr id="20" name="Shape 18"/>
          <p:cNvSpPr/>
          <p:nvPr/>
        </p:nvSpPr>
        <p:spPr>
          <a:xfrm>
            <a:off x="6309360" y="2980944"/>
            <a:ext cx="5212080" cy="0"/>
          </a:xfrm>
          <a:prstGeom prst="line">
            <a:avLst/>
          </a:prstGeom>
          <a:noFill/>
          <a:ln w="9525">
            <a:solidFill>
              <a:srgbClr val="2C5282"/>
            </a:solidFill>
            <a:prstDash val="solid"/>
          </a:ln>
        </p:spPr>
        <p:txBody>
          <a:bodyPr/>
          <a:lstStyle/>
          <a:p>
            <a:endParaRPr lang="en-US"/>
          </a:p>
        </p:txBody>
      </p:sp>
      <p:sp>
        <p:nvSpPr>
          <p:cNvPr id="21" name="Text 19"/>
          <p:cNvSpPr/>
          <p:nvPr/>
        </p:nvSpPr>
        <p:spPr>
          <a:xfrm>
            <a:off x="6309360" y="3008376"/>
            <a:ext cx="3291840" cy="384048"/>
          </a:xfrm>
          <a:prstGeom prst="rect">
            <a:avLst/>
          </a:prstGeom>
          <a:noFill/>
          <a:ln/>
        </p:spPr>
        <p:txBody>
          <a:bodyPr wrap="square" rtlCol="0" anchor="ctr"/>
          <a:lstStyle/>
          <a:p>
            <a:pPr marL="0" indent="0">
              <a:buNone/>
            </a:pPr>
            <a:r>
              <a:rPr lang="en-US" sz="1100" dirty="0">
                <a:solidFill>
                  <a:srgbClr val="BEE3F8"/>
                </a:solidFill>
                <a:latin typeface="Segoe UI" pitchFamily="34" charset="0"/>
                <a:ea typeface="Segoe UI" pitchFamily="34" charset="-122"/>
                <a:cs typeface="Segoe UI" pitchFamily="34" charset="-120"/>
              </a:rPr>
              <a:t>Post-discharge fix</a:t>
            </a:r>
            <a:endParaRPr lang="en-US" sz="1100" dirty="0"/>
          </a:p>
        </p:txBody>
      </p:sp>
      <p:sp>
        <p:nvSpPr>
          <p:cNvPr id="22" name="Text 20"/>
          <p:cNvSpPr/>
          <p:nvPr/>
        </p:nvSpPr>
        <p:spPr>
          <a:xfrm>
            <a:off x="9509760" y="3008376"/>
            <a:ext cx="2011680" cy="384048"/>
          </a:xfrm>
          <a:prstGeom prst="rect">
            <a:avLst/>
          </a:prstGeom>
          <a:noFill/>
          <a:ln/>
        </p:spPr>
        <p:txBody>
          <a:bodyPr wrap="square" rtlCol="0" anchor="ctr"/>
          <a:lstStyle/>
          <a:p>
            <a:pPr marL="0" indent="0" algn="r">
              <a:buNone/>
            </a:pPr>
            <a:r>
              <a:rPr lang="en-US" sz="1200" b="1" dirty="0">
                <a:solidFill>
                  <a:srgbClr val="BEE3F8"/>
                </a:solidFill>
                <a:latin typeface="Segoe UI" pitchFamily="34" charset="0"/>
                <a:ea typeface="Segoe UI" pitchFamily="34" charset="-122"/>
                <a:cs typeface="Segoe UI" pitchFamily="34" charset="-120"/>
              </a:rPr>
              <a:t>183,145</a:t>
            </a:r>
            <a:endParaRPr lang="en-US" sz="1200" dirty="0"/>
          </a:p>
        </p:txBody>
      </p:sp>
      <p:sp>
        <p:nvSpPr>
          <p:cNvPr id="23" name="Shape 21"/>
          <p:cNvSpPr/>
          <p:nvPr/>
        </p:nvSpPr>
        <p:spPr>
          <a:xfrm>
            <a:off x="6309360" y="3429000"/>
            <a:ext cx="5212080" cy="0"/>
          </a:xfrm>
          <a:prstGeom prst="line">
            <a:avLst/>
          </a:prstGeom>
          <a:noFill/>
          <a:ln w="9525">
            <a:solidFill>
              <a:srgbClr val="2C5282"/>
            </a:solidFill>
            <a:prstDash val="solid"/>
          </a:ln>
        </p:spPr>
        <p:txBody>
          <a:bodyPr/>
          <a:lstStyle/>
          <a:p>
            <a:endParaRPr lang="en-US"/>
          </a:p>
        </p:txBody>
      </p:sp>
      <p:sp>
        <p:nvSpPr>
          <p:cNvPr id="24" name="Text 22"/>
          <p:cNvSpPr/>
          <p:nvPr/>
        </p:nvSpPr>
        <p:spPr>
          <a:xfrm>
            <a:off x="6309360" y="3456432"/>
            <a:ext cx="3291840" cy="384048"/>
          </a:xfrm>
          <a:prstGeom prst="rect">
            <a:avLst/>
          </a:prstGeom>
          <a:noFill/>
          <a:ln/>
        </p:spPr>
        <p:txBody>
          <a:bodyPr wrap="square" rtlCol="0" anchor="ctr"/>
          <a:lstStyle/>
          <a:p>
            <a:pPr marL="0" indent="0">
              <a:buNone/>
            </a:pPr>
            <a:r>
              <a:rPr lang="en-US" sz="1100" dirty="0">
                <a:solidFill>
                  <a:srgbClr val="BEE3F8"/>
                </a:solidFill>
                <a:latin typeface="Segoe UI" pitchFamily="34" charset="0"/>
                <a:ea typeface="Segoe UI" pitchFamily="34" charset="-122"/>
                <a:cs typeface="Segoe UI" pitchFamily="34" charset="-120"/>
              </a:rPr>
              <a:t>Date filter (≥2009)</a:t>
            </a:r>
            <a:endParaRPr lang="en-US" sz="1100" dirty="0"/>
          </a:p>
        </p:txBody>
      </p:sp>
      <p:sp>
        <p:nvSpPr>
          <p:cNvPr id="25" name="Text 23"/>
          <p:cNvSpPr/>
          <p:nvPr/>
        </p:nvSpPr>
        <p:spPr>
          <a:xfrm>
            <a:off x="9509760" y="3456432"/>
            <a:ext cx="2011680" cy="384048"/>
          </a:xfrm>
          <a:prstGeom prst="rect">
            <a:avLst/>
          </a:prstGeom>
          <a:noFill/>
          <a:ln/>
        </p:spPr>
        <p:txBody>
          <a:bodyPr wrap="square" rtlCol="0" anchor="ctr"/>
          <a:lstStyle/>
          <a:p>
            <a:pPr marL="0" indent="0" algn="r">
              <a:buNone/>
            </a:pPr>
            <a:r>
              <a:rPr lang="en-US" sz="1200" b="1" dirty="0">
                <a:solidFill>
                  <a:srgbClr val="BEE3F8"/>
                </a:solidFill>
                <a:latin typeface="Segoe UI" pitchFamily="34" charset="0"/>
                <a:ea typeface="Segoe UI" pitchFamily="34" charset="-122"/>
                <a:cs typeface="Segoe UI" pitchFamily="34" charset="-120"/>
              </a:rPr>
              <a:t>183,040</a:t>
            </a:r>
            <a:endParaRPr lang="en-US" sz="1200" dirty="0"/>
          </a:p>
        </p:txBody>
      </p:sp>
      <p:sp>
        <p:nvSpPr>
          <p:cNvPr id="26" name="Shape 24"/>
          <p:cNvSpPr/>
          <p:nvPr/>
        </p:nvSpPr>
        <p:spPr>
          <a:xfrm>
            <a:off x="6309360" y="3877056"/>
            <a:ext cx="5212080" cy="0"/>
          </a:xfrm>
          <a:prstGeom prst="line">
            <a:avLst/>
          </a:prstGeom>
          <a:noFill/>
          <a:ln w="9525">
            <a:solidFill>
              <a:srgbClr val="2C5282"/>
            </a:solidFill>
            <a:prstDash val="solid"/>
          </a:ln>
        </p:spPr>
        <p:txBody>
          <a:bodyPr/>
          <a:lstStyle/>
          <a:p>
            <a:endParaRPr lang="en-US"/>
          </a:p>
        </p:txBody>
      </p:sp>
      <p:sp>
        <p:nvSpPr>
          <p:cNvPr id="27" name="Text 25"/>
          <p:cNvSpPr/>
          <p:nvPr/>
        </p:nvSpPr>
        <p:spPr>
          <a:xfrm>
            <a:off x="6309360" y="3904488"/>
            <a:ext cx="3291840" cy="384048"/>
          </a:xfrm>
          <a:prstGeom prst="rect">
            <a:avLst/>
          </a:prstGeom>
          <a:noFill/>
          <a:ln/>
        </p:spPr>
        <p:txBody>
          <a:bodyPr wrap="square" rtlCol="0" anchor="ctr"/>
          <a:lstStyle/>
          <a:p>
            <a:pPr marL="0" indent="0">
              <a:buNone/>
            </a:pPr>
            <a:r>
              <a:rPr lang="en-US" sz="1100" b="1" dirty="0">
                <a:solidFill>
                  <a:srgbClr val="68D391"/>
                </a:solidFill>
                <a:latin typeface="Segoe UI" pitchFamily="34" charset="0"/>
                <a:ea typeface="Segoe UI" pitchFamily="34" charset="-122"/>
                <a:cs typeface="Segoe UI" pitchFamily="34" charset="-120"/>
              </a:rPr>
              <a:t>Final dataset</a:t>
            </a:r>
            <a:endParaRPr lang="en-US" sz="1100" dirty="0"/>
          </a:p>
        </p:txBody>
      </p:sp>
      <p:sp>
        <p:nvSpPr>
          <p:cNvPr id="28" name="Text 26"/>
          <p:cNvSpPr/>
          <p:nvPr/>
        </p:nvSpPr>
        <p:spPr>
          <a:xfrm>
            <a:off x="9509760" y="3904488"/>
            <a:ext cx="2011680" cy="384048"/>
          </a:xfrm>
          <a:prstGeom prst="rect">
            <a:avLst/>
          </a:prstGeom>
          <a:noFill/>
          <a:ln/>
        </p:spPr>
        <p:txBody>
          <a:bodyPr wrap="square" rtlCol="0" anchor="ctr"/>
          <a:lstStyle/>
          <a:p>
            <a:pPr marL="0" indent="0" algn="r">
              <a:buNone/>
            </a:pPr>
            <a:r>
              <a:rPr lang="en-US" sz="1600" b="1" dirty="0">
                <a:solidFill>
                  <a:srgbClr val="68D391"/>
                </a:solidFill>
                <a:latin typeface="Segoe UI" pitchFamily="34" charset="0"/>
                <a:ea typeface="Segoe UI" pitchFamily="34" charset="-122"/>
                <a:cs typeface="Segoe UI" pitchFamily="34" charset="-120"/>
              </a:rPr>
              <a:t>162,286</a:t>
            </a:r>
            <a:endParaRPr lang="en-US" sz="1600" dirty="0"/>
          </a:p>
        </p:txBody>
      </p:sp>
      <p:sp>
        <p:nvSpPr>
          <p:cNvPr id="29" name="Shape 27"/>
          <p:cNvSpPr/>
          <p:nvPr/>
        </p:nvSpPr>
        <p:spPr>
          <a:xfrm>
            <a:off x="6080760" y="4617720"/>
            <a:ext cx="5669280" cy="1234440"/>
          </a:xfrm>
          <a:prstGeom prst="roundRect">
            <a:avLst>
              <a:gd name="adj" fmla="val 5926"/>
            </a:avLst>
          </a:prstGeom>
          <a:solidFill>
            <a:srgbClr val="FFF5F5"/>
          </a:solidFill>
          <a:ln w="9525">
            <a:solidFill>
              <a:srgbClr val="E2E8F0"/>
            </a:solidFill>
            <a:prstDash val="solid"/>
          </a:ln>
        </p:spPr>
        <p:txBody>
          <a:bodyPr/>
          <a:lstStyle/>
          <a:p>
            <a:endParaRPr lang="en-US"/>
          </a:p>
        </p:txBody>
      </p:sp>
      <p:sp>
        <p:nvSpPr>
          <p:cNvPr id="30" name="Shape 28"/>
          <p:cNvSpPr/>
          <p:nvPr/>
        </p:nvSpPr>
        <p:spPr>
          <a:xfrm>
            <a:off x="6080760" y="4617720"/>
            <a:ext cx="64008" cy="1234440"/>
          </a:xfrm>
          <a:prstGeom prst="roundRect">
            <a:avLst>
              <a:gd name="adj" fmla="val 42857"/>
            </a:avLst>
          </a:prstGeom>
          <a:solidFill>
            <a:srgbClr val="E53E3E"/>
          </a:solidFill>
          <a:ln/>
        </p:spPr>
        <p:txBody>
          <a:bodyPr/>
          <a:lstStyle/>
          <a:p>
            <a:endParaRPr lang="en-US"/>
          </a:p>
        </p:txBody>
      </p:sp>
      <p:sp>
        <p:nvSpPr>
          <p:cNvPr id="31" name="Text 29"/>
          <p:cNvSpPr/>
          <p:nvPr/>
        </p:nvSpPr>
        <p:spPr>
          <a:xfrm>
            <a:off x="6309360" y="4736592"/>
            <a:ext cx="5212080" cy="1005840"/>
          </a:xfrm>
          <a:prstGeom prst="rect">
            <a:avLst/>
          </a:prstGeom>
          <a:noFill/>
          <a:ln/>
        </p:spPr>
        <p:txBody>
          <a:bodyPr wrap="square" rtlCol="0" anchor="t"/>
          <a:lstStyle/>
          <a:p>
            <a:pPr marL="0" indent="0">
              <a:lnSpc>
                <a:spcPct val="112000"/>
              </a:lnSpc>
              <a:buNone/>
            </a:pPr>
            <a:r>
              <a:rPr lang="en-US" sz="1100" b="1" dirty="0">
                <a:solidFill>
                  <a:srgbClr val="E53E3E"/>
                </a:solidFill>
                <a:latin typeface="Segoe UI" pitchFamily="34" charset="0"/>
                <a:ea typeface="Segoe UI" pitchFamily="34" charset="-122"/>
                <a:cs typeface="Segoe UI" pitchFamily="34" charset="-120"/>
              </a:rPr>
              <a:t>Note: </a:t>
            </a:r>
            <a:r>
              <a:rPr lang="en-US" sz="1050" dirty="0">
                <a:solidFill>
                  <a:srgbClr val="4A5568"/>
                </a:solidFill>
                <a:latin typeface="Segoe UI" pitchFamily="34" charset="0"/>
                <a:ea typeface="Segoe UI" pitchFamily="34" charset="-122"/>
                <a:cs typeface="Segoe UI" pitchFamily="34" charset="-120"/>
              </a:rPr>
              <a:t>64% case loss, predominantly from chronologically inconsistent timestamps (default values in source system). Largest single removal step (151,703 cases). Acknowledged openly as a limitation.</a:t>
            </a:r>
            <a:endParaRPr lang="en-US" sz="1100" dirty="0"/>
          </a:p>
        </p:txBody>
      </p:sp>
      <p:sp>
        <p:nvSpPr>
          <p:cNvPr id="32" name="Text 30"/>
          <p:cNvSpPr/>
          <p:nvPr/>
        </p:nvSpPr>
        <p:spPr>
          <a:xfrm>
            <a:off x="411480" y="5989320"/>
            <a:ext cx="11338560" cy="320040"/>
          </a:xfrm>
          <a:prstGeom prst="rect">
            <a:avLst/>
          </a:prstGeom>
          <a:noFill/>
          <a:ln/>
        </p:spPr>
        <p:txBody>
          <a:bodyPr wrap="square" rtlCol="0" anchor="ctr"/>
          <a:lstStyle/>
          <a:p>
            <a:pPr marL="0" indent="0" algn="ctr">
              <a:buNone/>
            </a:pPr>
            <a:r>
              <a:rPr lang="en-US" sz="1150" b="1" dirty="0">
                <a:solidFill>
                  <a:srgbClr val="1A365D"/>
                </a:solidFill>
                <a:latin typeface="Segoe UI" pitchFamily="34" charset="0"/>
                <a:ea typeface="Segoe UI" pitchFamily="34" charset="-122"/>
                <a:cs typeface="Segoe UI" pitchFamily="34" charset="-120"/>
              </a:rPr>
              <a:t>Final composition: 13 specialties  |  4 locations  |  top-5 surgeons  |  multi-year span</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92608"/>
            <a:ext cx="64008" cy="475488"/>
          </a:xfrm>
          <a:prstGeom prst="rect">
            <a:avLst/>
          </a:prstGeom>
          <a:solidFill>
            <a:srgbClr val="3182CE"/>
          </a:solidFill>
          <a:ln/>
        </p:spPr>
        <p:txBody>
          <a:bodyPr/>
          <a:lstStyle/>
          <a:p>
            <a:endParaRPr lang="en-US"/>
          </a:p>
        </p:txBody>
      </p:sp>
      <p:sp>
        <p:nvSpPr>
          <p:cNvPr id="3" name="Text 1"/>
          <p:cNvSpPr/>
          <p:nvPr/>
        </p:nvSpPr>
        <p:spPr>
          <a:xfrm>
            <a:off x="566928" y="237744"/>
            <a:ext cx="11155680" cy="585216"/>
          </a:xfrm>
          <a:prstGeom prst="rect">
            <a:avLst/>
          </a:prstGeom>
          <a:noFill/>
          <a:ln/>
        </p:spPr>
        <p:txBody>
          <a:bodyPr wrap="square" rtlCol="0" anchor="ctr"/>
          <a:lstStyle/>
          <a:p>
            <a:pPr marL="0" indent="0" algn="l">
              <a:buNone/>
            </a:pPr>
            <a:r>
              <a:rPr lang="en-US" sz="2500" b="1" dirty="0">
                <a:solidFill>
                  <a:srgbClr val="1A365D"/>
                </a:solidFill>
                <a:latin typeface="Segoe UI" pitchFamily="34" charset="0"/>
                <a:ea typeface="Segoe UI" pitchFamily="34" charset="-122"/>
                <a:cs typeface="Segoe UI" pitchFamily="34" charset="-120"/>
              </a:rPr>
              <a:t>📈  Results: Structural Discovery</a:t>
            </a:r>
            <a:endParaRPr lang="en-US" sz="2500" dirty="0"/>
          </a:p>
        </p:txBody>
      </p:sp>
      <p:sp>
        <p:nvSpPr>
          <p:cNvPr id="4" name="Shape 2"/>
          <p:cNvSpPr/>
          <p:nvPr/>
        </p:nvSpPr>
        <p:spPr>
          <a:xfrm>
            <a:off x="411480" y="1115568"/>
            <a:ext cx="5532120" cy="1783080"/>
          </a:xfrm>
          <a:prstGeom prst="roundRect">
            <a:avLst>
              <a:gd name="adj" fmla="val 4103"/>
            </a:avLst>
          </a:prstGeom>
          <a:solidFill>
            <a:srgbClr val="EBF8FF"/>
          </a:solidFill>
          <a:ln w="9525">
            <a:solidFill>
              <a:srgbClr val="E2E8F0"/>
            </a:solidFill>
            <a:prstDash val="solid"/>
          </a:ln>
        </p:spPr>
        <p:txBody>
          <a:bodyPr/>
          <a:lstStyle/>
          <a:p>
            <a:endParaRPr lang="en-US"/>
          </a:p>
        </p:txBody>
      </p:sp>
      <p:sp>
        <p:nvSpPr>
          <p:cNvPr id="5" name="Shape 3"/>
          <p:cNvSpPr/>
          <p:nvPr/>
        </p:nvSpPr>
        <p:spPr>
          <a:xfrm>
            <a:off x="411480" y="1115568"/>
            <a:ext cx="64008" cy="1783080"/>
          </a:xfrm>
          <a:prstGeom prst="roundRect">
            <a:avLst>
              <a:gd name="adj" fmla="val 42857"/>
            </a:avLst>
          </a:prstGeom>
          <a:solidFill>
            <a:srgbClr val="3182CE"/>
          </a:solidFill>
          <a:ln/>
        </p:spPr>
        <p:txBody>
          <a:bodyPr/>
          <a:lstStyle/>
          <a:p>
            <a:endParaRPr lang="en-US"/>
          </a:p>
        </p:txBody>
      </p:sp>
      <p:sp>
        <p:nvSpPr>
          <p:cNvPr id="6" name="Text 4"/>
          <p:cNvSpPr/>
          <p:nvPr/>
        </p:nvSpPr>
        <p:spPr>
          <a:xfrm>
            <a:off x="658368" y="1225296"/>
            <a:ext cx="5029200" cy="310896"/>
          </a:xfrm>
          <a:prstGeom prst="rect">
            <a:avLst/>
          </a:prstGeom>
          <a:noFill/>
          <a:ln/>
        </p:spPr>
        <p:txBody>
          <a:bodyPr wrap="square" rtlCol="0" anchor="ctr"/>
          <a:lstStyle/>
          <a:p>
            <a:pPr marL="0" indent="0">
              <a:buNone/>
            </a:pPr>
            <a:r>
              <a:rPr lang="en-US" sz="1300" b="1" dirty="0">
                <a:solidFill>
                  <a:srgbClr val="1A365D"/>
                </a:solidFill>
                <a:latin typeface="Segoe UI" pitchFamily="34" charset="0"/>
                <a:ea typeface="Segoe UI" pitchFamily="34" charset="-122"/>
                <a:cs typeface="Segoe UI" pitchFamily="34" charset="-120"/>
              </a:rPr>
              <a:t>Baseline Heuristic Miner</a:t>
            </a:r>
            <a:endParaRPr lang="en-US" sz="1300" dirty="0"/>
          </a:p>
        </p:txBody>
      </p:sp>
      <p:sp>
        <p:nvSpPr>
          <p:cNvPr id="7" name="Text 5"/>
          <p:cNvSpPr/>
          <p:nvPr/>
        </p:nvSpPr>
        <p:spPr>
          <a:xfrm>
            <a:off x="658368" y="1481328"/>
            <a:ext cx="1554480" cy="777240"/>
          </a:xfrm>
          <a:prstGeom prst="rect">
            <a:avLst/>
          </a:prstGeom>
          <a:noFill/>
          <a:ln/>
        </p:spPr>
        <p:txBody>
          <a:bodyPr wrap="square" rtlCol="0" anchor="ctr"/>
          <a:lstStyle/>
          <a:p>
            <a:pPr marL="0" indent="0">
              <a:buNone/>
            </a:pPr>
            <a:r>
              <a:rPr lang="en-US" sz="4400" b="1" dirty="0">
                <a:solidFill>
                  <a:srgbClr val="3182CE"/>
                </a:solidFill>
                <a:latin typeface="Segoe UI" pitchFamily="34" charset="0"/>
                <a:ea typeface="Segoe UI" pitchFamily="34" charset="-122"/>
                <a:cs typeface="Segoe UI" pitchFamily="34" charset="-120"/>
              </a:rPr>
              <a:t>17</a:t>
            </a:r>
            <a:endParaRPr lang="en-US" sz="4400" dirty="0"/>
          </a:p>
        </p:txBody>
      </p:sp>
      <p:sp>
        <p:nvSpPr>
          <p:cNvPr id="8" name="Text 6"/>
          <p:cNvSpPr/>
          <p:nvPr/>
        </p:nvSpPr>
        <p:spPr>
          <a:xfrm>
            <a:off x="658368" y="2267712"/>
            <a:ext cx="2194560" cy="274320"/>
          </a:xfrm>
          <a:prstGeom prst="rect">
            <a:avLst/>
          </a:prstGeom>
          <a:noFill/>
          <a:ln/>
        </p:spPr>
        <p:txBody>
          <a:bodyPr wrap="square" rtlCol="0" anchor="ctr"/>
          <a:lstStyle/>
          <a:p>
            <a:pPr marL="0" indent="0">
              <a:buNone/>
            </a:pPr>
            <a:r>
              <a:rPr lang="en-US" sz="1050" dirty="0">
                <a:solidFill>
                  <a:srgbClr val="4A5568"/>
                </a:solidFill>
                <a:latin typeface="Segoe UI" pitchFamily="34" charset="0"/>
                <a:ea typeface="Segoe UI" pitchFamily="34" charset="-122"/>
                <a:cs typeface="Segoe UI" pitchFamily="34" charset="-120"/>
              </a:rPr>
              <a:t>edges retained</a:t>
            </a:r>
            <a:endParaRPr lang="en-US" sz="1050" dirty="0"/>
          </a:p>
        </p:txBody>
      </p:sp>
      <p:sp>
        <p:nvSpPr>
          <p:cNvPr id="9" name="Text 7"/>
          <p:cNvSpPr/>
          <p:nvPr/>
        </p:nvSpPr>
        <p:spPr>
          <a:xfrm>
            <a:off x="2651760" y="1572768"/>
            <a:ext cx="3200400" cy="1188720"/>
          </a:xfrm>
          <a:prstGeom prst="rect">
            <a:avLst/>
          </a:prstGeom>
          <a:noFill/>
          <a:ln/>
        </p:spPr>
        <p:txBody>
          <a:bodyPr wrap="square" rtlCol="0" anchor="t"/>
          <a:lstStyle/>
          <a:p>
            <a:pPr marL="0" indent="0">
              <a:lnSpc>
                <a:spcPct val="115000"/>
              </a:lnSpc>
              <a:buNone/>
            </a:pPr>
            <a:r>
              <a:rPr lang="en-US" sz="1000" dirty="0">
                <a:solidFill>
                  <a:srgbClr val="4A5568"/>
                </a:solidFill>
                <a:latin typeface="Segoe UI" pitchFamily="34" charset="0"/>
                <a:ea typeface="Segoe UI" pitchFamily="34" charset="-122"/>
                <a:cs typeface="Segoe UI" pitchFamily="34" charset="-120"/>
              </a:rPr>
              <a:t>• Near-linear dominant pathway</a:t>
            </a:r>
            <a:endParaRPr lang="en-US" sz="1000" dirty="0"/>
          </a:p>
          <a:p>
            <a:pPr marL="0" indent="0">
              <a:lnSpc>
                <a:spcPct val="115000"/>
              </a:lnSpc>
              <a:buNone/>
            </a:pPr>
            <a:r>
              <a:rPr lang="en-US" sz="1000" dirty="0">
                <a:solidFill>
                  <a:srgbClr val="4A5568"/>
                </a:solidFill>
                <a:latin typeface="Segoe UI" pitchFamily="34" charset="0"/>
                <a:ea typeface="Segoe UI" pitchFamily="34" charset="-122"/>
                <a:cs typeface="Segoe UI" pitchFamily="34" charset="-120"/>
              </a:rPr>
              <a:t>• Case loss &lt;1% after Patient In</a:t>
            </a:r>
            <a:endParaRPr lang="en-US" sz="1000" dirty="0"/>
          </a:p>
          <a:p>
            <a:pPr marL="0" indent="0">
              <a:lnSpc>
                <a:spcPct val="115000"/>
              </a:lnSpc>
              <a:buNone/>
            </a:pPr>
            <a:r>
              <a:rPr lang="en-US" sz="1000" dirty="0">
                <a:solidFill>
                  <a:srgbClr val="4A5568"/>
                </a:solidFill>
                <a:latin typeface="Segoe UI" pitchFamily="34" charset="0"/>
                <a:ea typeface="Segoe UI" pitchFamily="34" charset="-122"/>
                <a:cs typeface="Segoe UI" pitchFamily="34" charset="-120"/>
              </a:rPr>
              <a:t>• No confidence indication for rare transitions</a:t>
            </a:r>
            <a:endParaRPr lang="en-US" sz="1000" dirty="0"/>
          </a:p>
        </p:txBody>
      </p:sp>
      <p:sp>
        <p:nvSpPr>
          <p:cNvPr id="10" name="Shape 8"/>
          <p:cNvSpPr/>
          <p:nvPr/>
        </p:nvSpPr>
        <p:spPr>
          <a:xfrm>
            <a:off x="6217920" y="1115568"/>
            <a:ext cx="5532120" cy="1783080"/>
          </a:xfrm>
          <a:prstGeom prst="roundRect">
            <a:avLst>
              <a:gd name="adj" fmla="val 4103"/>
            </a:avLst>
          </a:prstGeom>
          <a:solidFill>
            <a:srgbClr val="F0FFF4"/>
          </a:solidFill>
          <a:ln w="9525">
            <a:solidFill>
              <a:srgbClr val="E2E8F0"/>
            </a:solidFill>
            <a:prstDash val="solid"/>
          </a:ln>
        </p:spPr>
        <p:txBody>
          <a:bodyPr/>
          <a:lstStyle/>
          <a:p>
            <a:endParaRPr lang="en-US"/>
          </a:p>
        </p:txBody>
      </p:sp>
      <p:sp>
        <p:nvSpPr>
          <p:cNvPr id="11" name="Shape 9"/>
          <p:cNvSpPr/>
          <p:nvPr/>
        </p:nvSpPr>
        <p:spPr>
          <a:xfrm>
            <a:off x="6217920" y="1115568"/>
            <a:ext cx="64008" cy="1783080"/>
          </a:xfrm>
          <a:prstGeom prst="roundRect">
            <a:avLst>
              <a:gd name="adj" fmla="val 42857"/>
            </a:avLst>
          </a:prstGeom>
          <a:solidFill>
            <a:srgbClr val="38A169"/>
          </a:solidFill>
          <a:ln/>
        </p:spPr>
        <p:txBody>
          <a:bodyPr/>
          <a:lstStyle/>
          <a:p>
            <a:endParaRPr lang="en-US"/>
          </a:p>
        </p:txBody>
      </p:sp>
      <p:sp>
        <p:nvSpPr>
          <p:cNvPr id="12" name="Text 10"/>
          <p:cNvSpPr/>
          <p:nvPr/>
        </p:nvSpPr>
        <p:spPr>
          <a:xfrm>
            <a:off x="6464808" y="1225296"/>
            <a:ext cx="5029200" cy="310896"/>
          </a:xfrm>
          <a:prstGeom prst="rect">
            <a:avLst/>
          </a:prstGeom>
          <a:noFill/>
          <a:ln/>
        </p:spPr>
        <p:txBody>
          <a:bodyPr wrap="square" rtlCol="0" anchor="ctr"/>
          <a:lstStyle/>
          <a:p>
            <a:pPr marL="0" indent="0">
              <a:buNone/>
            </a:pPr>
            <a:r>
              <a:rPr lang="en-US" sz="1300" b="1" dirty="0">
                <a:solidFill>
                  <a:srgbClr val="38A169"/>
                </a:solidFill>
                <a:latin typeface="Segoe UI" pitchFamily="34" charset="0"/>
                <a:ea typeface="Segoe UI" pitchFamily="34" charset="-122"/>
                <a:cs typeface="Segoe UI" pitchFamily="34" charset="-120"/>
              </a:rPr>
              <a:t>Bayesian Heuristic Miner</a:t>
            </a:r>
            <a:endParaRPr lang="en-US" sz="1300" dirty="0"/>
          </a:p>
        </p:txBody>
      </p:sp>
      <p:sp>
        <p:nvSpPr>
          <p:cNvPr id="13" name="Text 11"/>
          <p:cNvSpPr/>
          <p:nvPr/>
        </p:nvSpPr>
        <p:spPr>
          <a:xfrm>
            <a:off x="6464808" y="1481328"/>
            <a:ext cx="1554480" cy="777240"/>
          </a:xfrm>
          <a:prstGeom prst="rect">
            <a:avLst/>
          </a:prstGeom>
          <a:noFill/>
          <a:ln/>
        </p:spPr>
        <p:txBody>
          <a:bodyPr wrap="square" rtlCol="0" anchor="ctr"/>
          <a:lstStyle/>
          <a:p>
            <a:pPr marL="0" indent="0">
              <a:buNone/>
            </a:pPr>
            <a:r>
              <a:rPr lang="en-US" sz="4400" b="1" dirty="0">
                <a:solidFill>
                  <a:srgbClr val="38A169"/>
                </a:solidFill>
                <a:latin typeface="Segoe UI" pitchFamily="34" charset="0"/>
                <a:ea typeface="Segoe UI" pitchFamily="34" charset="-122"/>
                <a:cs typeface="Segoe UI" pitchFamily="34" charset="-120"/>
              </a:rPr>
              <a:t>32</a:t>
            </a:r>
            <a:endParaRPr lang="en-US" sz="4400" dirty="0"/>
          </a:p>
        </p:txBody>
      </p:sp>
      <p:sp>
        <p:nvSpPr>
          <p:cNvPr id="14" name="Text 12"/>
          <p:cNvSpPr/>
          <p:nvPr/>
        </p:nvSpPr>
        <p:spPr>
          <a:xfrm>
            <a:off x="6464808" y="2267712"/>
            <a:ext cx="2194560" cy="274320"/>
          </a:xfrm>
          <a:prstGeom prst="rect">
            <a:avLst/>
          </a:prstGeom>
          <a:noFill/>
          <a:ln/>
        </p:spPr>
        <p:txBody>
          <a:bodyPr wrap="square" rtlCol="0" anchor="ctr"/>
          <a:lstStyle/>
          <a:p>
            <a:pPr marL="0" indent="0">
              <a:buNone/>
            </a:pPr>
            <a:r>
              <a:rPr lang="en-US" sz="1050" dirty="0">
                <a:solidFill>
                  <a:srgbClr val="4A5568"/>
                </a:solidFill>
                <a:latin typeface="Segoe UI" pitchFamily="34" charset="0"/>
                <a:ea typeface="Segoe UI" pitchFamily="34" charset="-122"/>
                <a:cs typeface="Segoe UI" pitchFamily="34" charset="-120"/>
              </a:rPr>
              <a:t>edges (nearly 2×)</a:t>
            </a:r>
            <a:endParaRPr lang="en-US" sz="1050" dirty="0"/>
          </a:p>
        </p:txBody>
      </p:sp>
      <p:sp>
        <p:nvSpPr>
          <p:cNvPr id="15" name="Text 13"/>
          <p:cNvSpPr/>
          <p:nvPr/>
        </p:nvSpPr>
        <p:spPr>
          <a:xfrm>
            <a:off x="8458200" y="1572768"/>
            <a:ext cx="3154680" cy="1188720"/>
          </a:xfrm>
          <a:prstGeom prst="rect">
            <a:avLst/>
          </a:prstGeom>
          <a:noFill/>
          <a:ln/>
        </p:spPr>
        <p:txBody>
          <a:bodyPr wrap="square" rtlCol="0" anchor="t"/>
          <a:lstStyle/>
          <a:p>
            <a:pPr marL="0" indent="0">
              <a:lnSpc>
                <a:spcPct val="115000"/>
              </a:lnSpc>
              <a:buNone/>
            </a:pPr>
            <a:r>
              <a:rPr lang="en-US" sz="1000" dirty="0">
                <a:solidFill>
                  <a:srgbClr val="4A5568"/>
                </a:solidFill>
                <a:latin typeface="Segoe UI" pitchFamily="34" charset="0"/>
                <a:ea typeface="Segoe UI" pitchFamily="34" charset="-122"/>
                <a:cs typeface="Segoe UI" pitchFamily="34" charset="-120"/>
              </a:rPr>
              <a:t>• 10 core pathway edges (dep = 1.000)</a:t>
            </a:r>
            <a:endParaRPr lang="en-US" sz="1000" dirty="0"/>
          </a:p>
          <a:p>
            <a:pPr marL="0" indent="0">
              <a:lnSpc>
                <a:spcPct val="115000"/>
              </a:lnSpc>
              <a:buNone/>
            </a:pPr>
            <a:r>
              <a:rPr lang="en-US" sz="1000" dirty="0">
                <a:solidFill>
                  <a:srgbClr val="4A5568"/>
                </a:solidFill>
                <a:latin typeface="Segoe UI" pitchFamily="34" charset="0"/>
                <a:ea typeface="Segoe UI" pitchFamily="34" charset="-122"/>
                <a:cs typeface="Segoe UI" pitchFamily="34" charset="-120"/>
              </a:rPr>
              <a:t>• 5 high-confidence exceptions</a:t>
            </a:r>
            <a:endParaRPr lang="en-US" sz="1000" dirty="0"/>
          </a:p>
          <a:p>
            <a:pPr marL="0" indent="0">
              <a:lnSpc>
                <a:spcPct val="115000"/>
              </a:lnSpc>
              <a:buNone/>
            </a:pPr>
            <a:r>
              <a:rPr lang="en-US" sz="1000" dirty="0">
                <a:solidFill>
                  <a:srgbClr val="4A5568"/>
                </a:solidFill>
                <a:latin typeface="Segoe UI" pitchFamily="34" charset="0"/>
                <a:ea typeface="Segoe UI" pitchFamily="34" charset="-122"/>
                <a:cs typeface="Segoe UI" pitchFamily="34" charset="-120"/>
              </a:rPr>
              <a:t>• 17 review-class edges flagged (14–23 cases each)</a:t>
            </a:r>
            <a:endParaRPr lang="en-US" sz="1000" dirty="0"/>
          </a:p>
        </p:txBody>
      </p:sp>
      <p:sp>
        <p:nvSpPr>
          <p:cNvPr id="16" name="Shape 14"/>
          <p:cNvSpPr/>
          <p:nvPr/>
        </p:nvSpPr>
        <p:spPr>
          <a:xfrm>
            <a:off x="411480" y="3063240"/>
            <a:ext cx="11365992" cy="2331720"/>
          </a:xfrm>
          <a:prstGeom prst="roundRect">
            <a:avLst>
              <a:gd name="adj" fmla="val 3137"/>
            </a:avLst>
          </a:prstGeom>
          <a:solidFill>
            <a:srgbClr val="FFFAF0"/>
          </a:solidFill>
          <a:ln w="9525">
            <a:solidFill>
              <a:srgbClr val="E2E8F0"/>
            </a:solidFill>
            <a:prstDash val="solid"/>
          </a:ln>
        </p:spPr>
        <p:txBody>
          <a:bodyPr/>
          <a:lstStyle/>
          <a:p>
            <a:endParaRPr lang="en-US"/>
          </a:p>
        </p:txBody>
      </p:sp>
      <p:sp>
        <p:nvSpPr>
          <p:cNvPr id="17" name="Text 15"/>
          <p:cNvSpPr/>
          <p:nvPr/>
        </p:nvSpPr>
        <p:spPr>
          <a:xfrm>
            <a:off x="640080" y="3172968"/>
            <a:ext cx="10058400" cy="310896"/>
          </a:xfrm>
          <a:prstGeom prst="rect">
            <a:avLst/>
          </a:prstGeom>
          <a:noFill/>
          <a:ln/>
        </p:spPr>
        <p:txBody>
          <a:bodyPr wrap="square" rtlCol="0" anchor="ctr"/>
          <a:lstStyle/>
          <a:p>
            <a:pPr marL="0" indent="0">
              <a:buNone/>
            </a:pPr>
            <a:r>
              <a:rPr lang="en-US" sz="1300" b="1" dirty="0">
                <a:solidFill>
                  <a:srgbClr val="DD6B20"/>
                </a:solidFill>
                <a:latin typeface="Segoe UI" pitchFamily="34" charset="0"/>
                <a:ea typeface="Segoe UI" pitchFamily="34" charset="-122"/>
                <a:cs typeface="Segoe UI" pitchFamily="34" charset="-120"/>
              </a:rPr>
              <a:t>Five Clinically Interpretable Exception Patterns</a:t>
            </a:r>
            <a:endParaRPr lang="en-US" sz="1300" dirty="0"/>
          </a:p>
        </p:txBody>
      </p:sp>
      <p:sp>
        <p:nvSpPr>
          <p:cNvPr id="18" name="Shape 16"/>
          <p:cNvSpPr/>
          <p:nvPr/>
        </p:nvSpPr>
        <p:spPr>
          <a:xfrm>
            <a:off x="640080" y="3566160"/>
            <a:ext cx="5303520" cy="475488"/>
          </a:xfrm>
          <a:prstGeom prst="roundRect">
            <a:avLst>
              <a:gd name="adj" fmla="val 15385"/>
            </a:avLst>
          </a:prstGeom>
          <a:solidFill>
            <a:srgbClr val="FFFFFF"/>
          </a:solidFill>
          <a:ln w="9525">
            <a:solidFill>
              <a:srgbClr val="E2E8F0"/>
            </a:solidFill>
            <a:prstDash val="solid"/>
          </a:ln>
        </p:spPr>
        <p:txBody>
          <a:bodyPr/>
          <a:lstStyle/>
          <a:p>
            <a:endParaRPr lang="en-US"/>
          </a:p>
        </p:txBody>
      </p:sp>
      <p:sp>
        <p:nvSpPr>
          <p:cNvPr id="19" name="Text 17"/>
          <p:cNvSpPr/>
          <p:nvPr/>
        </p:nvSpPr>
        <p:spPr>
          <a:xfrm>
            <a:off x="777240" y="3566160"/>
            <a:ext cx="5029200" cy="475488"/>
          </a:xfrm>
          <a:prstGeom prst="rect">
            <a:avLst/>
          </a:prstGeom>
          <a:noFill/>
          <a:ln/>
        </p:spPr>
        <p:txBody>
          <a:bodyPr wrap="square" rtlCol="0" anchor="ctr"/>
          <a:lstStyle/>
          <a:p>
            <a:pPr marL="0" indent="0">
              <a:buNone/>
            </a:pPr>
            <a:r>
              <a:rPr lang="en-US" sz="1050" dirty="0">
                <a:solidFill>
                  <a:srgbClr val="1A202C"/>
                </a:solidFill>
                <a:latin typeface="Segoe UI" pitchFamily="34" charset="0"/>
                <a:ea typeface="Segoe UI" pitchFamily="34" charset="-122"/>
                <a:cs typeface="Segoe UI" pitchFamily="34" charset="-120"/>
              </a:rPr>
              <a:t>1.  Admission → Patient In  (1,410 cases, 0.999)</a:t>
            </a:r>
            <a:endParaRPr lang="en-US" sz="1050" dirty="0"/>
          </a:p>
        </p:txBody>
      </p:sp>
      <p:sp>
        <p:nvSpPr>
          <p:cNvPr id="20" name="Shape 18"/>
          <p:cNvSpPr/>
          <p:nvPr/>
        </p:nvSpPr>
        <p:spPr>
          <a:xfrm>
            <a:off x="6126480" y="3566160"/>
            <a:ext cx="5303520" cy="475488"/>
          </a:xfrm>
          <a:prstGeom prst="roundRect">
            <a:avLst>
              <a:gd name="adj" fmla="val 15385"/>
            </a:avLst>
          </a:prstGeom>
          <a:solidFill>
            <a:srgbClr val="FFFFFF"/>
          </a:solidFill>
          <a:ln w="9525">
            <a:solidFill>
              <a:srgbClr val="E2E8F0"/>
            </a:solidFill>
            <a:prstDash val="solid"/>
          </a:ln>
        </p:spPr>
        <p:txBody>
          <a:bodyPr/>
          <a:lstStyle/>
          <a:p>
            <a:endParaRPr lang="en-US"/>
          </a:p>
        </p:txBody>
      </p:sp>
      <p:sp>
        <p:nvSpPr>
          <p:cNvPr id="21" name="Text 19"/>
          <p:cNvSpPr/>
          <p:nvPr/>
        </p:nvSpPr>
        <p:spPr>
          <a:xfrm>
            <a:off x="6263640" y="3566160"/>
            <a:ext cx="5029200" cy="475488"/>
          </a:xfrm>
          <a:prstGeom prst="rect">
            <a:avLst/>
          </a:prstGeom>
          <a:noFill/>
          <a:ln/>
        </p:spPr>
        <p:txBody>
          <a:bodyPr wrap="square" rtlCol="0" anchor="ctr"/>
          <a:lstStyle/>
          <a:p>
            <a:pPr marL="0" indent="0">
              <a:buNone/>
            </a:pPr>
            <a:r>
              <a:rPr lang="en-US" sz="1050" dirty="0">
                <a:solidFill>
                  <a:srgbClr val="1A202C"/>
                </a:solidFill>
                <a:latin typeface="Segoe UI" pitchFamily="34" charset="0"/>
                <a:ea typeface="Segoe UI" pitchFamily="34" charset="-122"/>
                <a:cs typeface="Segoe UI" pitchFamily="34" charset="-120"/>
              </a:rPr>
              <a:t>2.  Patient In → Incision  (1,392 cases, 0.999)</a:t>
            </a:r>
            <a:endParaRPr lang="en-US" sz="1050" dirty="0"/>
          </a:p>
        </p:txBody>
      </p:sp>
      <p:sp>
        <p:nvSpPr>
          <p:cNvPr id="22" name="Shape 20"/>
          <p:cNvSpPr/>
          <p:nvPr/>
        </p:nvSpPr>
        <p:spPr>
          <a:xfrm>
            <a:off x="640080" y="4133088"/>
            <a:ext cx="5303520" cy="475488"/>
          </a:xfrm>
          <a:prstGeom prst="roundRect">
            <a:avLst>
              <a:gd name="adj" fmla="val 15385"/>
            </a:avLst>
          </a:prstGeom>
          <a:solidFill>
            <a:srgbClr val="FFFFFF"/>
          </a:solidFill>
          <a:ln w="9525">
            <a:solidFill>
              <a:srgbClr val="E2E8F0"/>
            </a:solidFill>
            <a:prstDash val="solid"/>
          </a:ln>
        </p:spPr>
        <p:txBody>
          <a:bodyPr/>
          <a:lstStyle/>
          <a:p>
            <a:endParaRPr lang="en-US"/>
          </a:p>
        </p:txBody>
      </p:sp>
      <p:sp>
        <p:nvSpPr>
          <p:cNvPr id="23" name="Text 21"/>
          <p:cNvSpPr/>
          <p:nvPr/>
        </p:nvSpPr>
        <p:spPr>
          <a:xfrm>
            <a:off x="777240" y="4133088"/>
            <a:ext cx="5029200" cy="475488"/>
          </a:xfrm>
          <a:prstGeom prst="rect">
            <a:avLst/>
          </a:prstGeom>
          <a:noFill/>
          <a:ln/>
        </p:spPr>
        <p:txBody>
          <a:bodyPr wrap="square" rtlCol="0" anchor="ctr"/>
          <a:lstStyle/>
          <a:p>
            <a:pPr marL="0" indent="0">
              <a:buNone/>
            </a:pPr>
            <a:r>
              <a:rPr lang="en-US" sz="1050" dirty="0">
                <a:solidFill>
                  <a:srgbClr val="1A202C"/>
                </a:solidFill>
                <a:latin typeface="Segoe UI" pitchFamily="34" charset="0"/>
                <a:ea typeface="Segoe UI" pitchFamily="34" charset="-122"/>
                <a:cs typeface="Segoe UI" pitchFamily="34" charset="-120"/>
              </a:rPr>
              <a:t>3.  Dressing → Recovery In — skip Timeout  (929 cases, 0.998)</a:t>
            </a:r>
            <a:endParaRPr lang="en-US" sz="1050" dirty="0"/>
          </a:p>
        </p:txBody>
      </p:sp>
      <p:sp>
        <p:nvSpPr>
          <p:cNvPr id="24" name="Shape 22"/>
          <p:cNvSpPr/>
          <p:nvPr/>
        </p:nvSpPr>
        <p:spPr>
          <a:xfrm>
            <a:off x="6126480" y="4133088"/>
            <a:ext cx="5303520" cy="475488"/>
          </a:xfrm>
          <a:prstGeom prst="roundRect">
            <a:avLst>
              <a:gd name="adj" fmla="val 15385"/>
            </a:avLst>
          </a:prstGeom>
          <a:solidFill>
            <a:srgbClr val="FFFFFF"/>
          </a:solidFill>
          <a:ln w="9525">
            <a:solidFill>
              <a:srgbClr val="E2E8F0"/>
            </a:solidFill>
            <a:prstDash val="solid"/>
          </a:ln>
        </p:spPr>
        <p:txBody>
          <a:bodyPr/>
          <a:lstStyle/>
          <a:p>
            <a:endParaRPr lang="en-US"/>
          </a:p>
        </p:txBody>
      </p:sp>
      <p:sp>
        <p:nvSpPr>
          <p:cNvPr id="25" name="Text 23"/>
          <p:cNvSpPr/>
          <p:nvPr/>
        </p:nvSpPr>
        <p:spPr>
          <a:xfrm>
            <a:off x="6263640" y="4133088"/>
            <a:ext cx="5029200" cy="475488"/>
          </a:xfrm>
          <a:prstGeom prst="rect">
            <a:avLst/>
          </a:prstGeom>
          <a:noFill/>
          <a:ln/>
        </p:spPr>
        <p:txBody>
          <a:bodyPr wrap="square" rtlCol="0" anchor="ctr"/>
          <a:lstStyle/>
          <a:p>
            <a:pPr marL="0" indent="0">
              <a:buNone/>
            </a:pPr>
            <a:r>
              <a:rPr lang="en-US" sz="1050" dirty="0">
                <a:solidFill>
                  <a:srgbClr val="1A202C"/>
                </a:solidFill>
                <a:latin typeface="Segoe UI" pitchFamily="34" charset="0"/>
                <a:ea typeface="Segoe UI" pitchFamily="34" charset="-122"/>
                <a:cs typeface="Segoe UI" pitchFamily="34" charset="-120"/>
              </a:rPr>
              <a:t>4.  Timeout → Discharge — skip recovery  (1,239 cases, 0.998)</a:t>
            </a:r>
            <a:endParaRPr lang="en-US" sz="1050" dirty="0"/>
          </a:p>
        </p:txBody>
      </p:sp>
      <p:sp>
        <p:nvSpPr>
          <p:cNvPr id="26" name="Shape 24"/>
          <p:cNvSpPr/>
          <p:nvPr/>
        </p:nvSpPr>
        <p:spPr>
          <a:xfrm>
            <a:off x="640080" y="4700016"/>
            <a:ext cx="7772400" cy="475488"/>
          </a:xfrm>
          <a:prstGeom prst="roundRect">
            <a:avLst>
              <a:gd name="adj" fmla="val 15385"/>
            </a:avLst>
          </a:prstGeom>
          <a:solidFill>
            <a:srgbClr val="FFF5F5"/>
          </a:solidFill>
          <a:ln w="15875">
            <a:solidFill>
              <a:srgbClr val="E53E3E"/>
            </a:solidFill>
            <a:prstDash val="solid"/>
          </a:ln>
        </p:spPr>
        <p:txBody>
          <a:bodyPr/>
          <a:lstStyle/>
          <a:p>
            <a:endParaRPr lang="en-US"/>
          </a:p>
        </p:txBody>
      </p:sp>
      <p:sp>
        <p:nvSpPr>
          <p:cNvPr id="27" name="Text 25"/>
          <p:cNvSpPr/>
          <p:nvPr/>
        </p:nvSpPr>
        <p:spPr>
          <a:xfrm>
            <a:off x="777240" y="4700016"/>
            <a:ext cx="7498080" cy="475488"/>
          </a:xfrm>
          <a:prstGeom prst="rect">
            <a:avLst/>
          </a:prstGeom>
          <a:noFill/>
          <a:ln/>
        </p:spPr>
        <p:txBody>
          <a:bodyPr wrap="square" rtlCol="0" anchor="ctr"/>
          <a:lstStyle/>
          <a:p>
            <a:pPr marL="0" indent="0">
              <a:buNone/>
            </a:pPr>
            <a:r>
              <a:rPr lang="en-US" sz="1050" b="1" i="1" dirty="0">
                <a:solidFill>
                  <a:srgbClr val="E53E3E"/>
                </a:solidFill>
                <a:latin typeface="Segoe UI" pitchFamily="34" charset="0"/>
                <a:ea typeface="Segoe UI" pitchFamily="34" charset="-122"/>
                <a:cs typeface="Segoe UI" pitchFamily="34" charset="-120"/>
              </a:rPr>
              <a:t>5.  ⚠️  Incision → Timeout  (1,003 cases, 0.948) — Checklist sequencing deviation</a:t>
            </a:r>
            <a:endParaRPr lang="en-US" sz="1050" dirty="0"/>
          </a:p>
        </p:txBody>
      </p:sp>
      <p:sp>
        <p:nvSpPr>
          <p:cNvPr id="28" name="Shape 26"/>
          <p:cNvSpPr/>
          <p:nvPr/>
        </p:nvSpPr>
        <p:spPr>
          <a:xfrm>
            <a:off x="411480" y="5623560"/>
            <a:ext cx="11365992" cy="548640"/>
          </a:xfrm>
          <a:prstGeom prst="roundRect">
            <a:avLst>
              <a:gd name="adj" fmla="val 13333"/>
            </a:avLst>
          </a:prstGeom>
          <a:solidFill>
            <a:srgbClr val="1A365D"/>
          </a:solidFill>
          <a:ln/>
        </p:spPr>
        <p:txBody>
          <a:bodyPr/>
          <a:lstStyle/>
          <a:p>
            <a:endParaRPr lang="en-US"/>
          </a:p>
        </p:txBody>
      </p:sp>
      <p:sp>
        <p:nvSpPr>
          <p:cNvPr id="29" name="Text 27"/>
          <p:cNvSpPr/>
          <p:nvPr/>
        </p:nvSpPr>
        <p:spPr>
          <a:xfrm>
            <a:off x="548640" y="5623560"/>
            <a:ext cx="11091672" cy="548640"/>
          </a:xfrm>
          <a:prstGeom prst="rect">
            <a:avLst/>
          </a:prstGeom>
          <a:noFill/>
          <a:ln/>
        </p:spPr>
        <p:txBody>
          <a:bodyPr wrap="square" rtlCol="0" anchor="ctr"/>
          <a:lstStyle/>
          <a:p>
            <a:pPr marL="0" indent="0" algn="ctr">
              <a:buNone/>
            </a:pPr>
            <a:r>
              <a:rPr lang="en-US" sz="1250" b="1" dirty="0">
                <a:solidFill>
                  <a:srgbClr val="FFFFFF"/>
                </a:solidFill>
                <a:latin typeface="Segoe UI" pitchFamily="34" charset="0"/>
                <a:ea typeface="Segoe UI" pitchFamily="34" charset="-122"/>
                <a:cs typeface="Segoe UI" pitchFamily="34" charset="-120"/>
              </a:rPr>
              <a:t>~83% of cases follow the canonical pathway   |   ~17% distributed across structured, named exceptions</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92608"/>
            <a:ext cx="64008" cy="475488"/>
          </a:xfrm>
          <a:prstGeom prst="rect">
            <a:avLst/>
          </a:prstGeom>
          <a:solidFill>
            <a:srgbClr val="2C5282"/>
          </a:solidFill>
          <a:ln/>
        </p:spPr>
        <p:txBody>
          <a:bodyPr/>
          <a:lstStyle/>
          <a:p>
            <a:endParaRPr lang="en-US"/>
          </a:p>
        </p:txBody>
      </p:sp>
      <p:sp>
        <p:nvSpPr>
          <p:cNvPr id="3" name="Text 1"/>
          <p:cNvSpPr/>
          <p:nvPr/>
        </p:nvSpPr>
        <p:spPr>
          <a:xfrm>
            <a:off x="566928" y="237744"/>
            <a:ext cx="11155680" cy="585216"/>
          </a:xfrm>
          <a:prstGeom prst="rect">
            <a:avLst/>
          </a:prstGeom>
          <a:noFill/>
          <a:ln/>
        </p:spPr>
        <p:txBody>
          <a:bodyPr wrap="square" rtlCol="0" anchor="ctr"/>
          <a:lstStyle/>
          <a:p>
            <a:pPr marL="0" indent="0" algn="l">
              <a:buNone/>
            </a:pPr>
            <a:r>
              <a:rPr lang="en-US" sz="2500" b="1" dirty="0">
                <a:solidFill>
                  <a:srgbClr val="1A365D"/>
                </a:solidFill>
                <a:latin typeface="Segoe UI" pitchFamily="34" charset="0"/>
                <a:ea typeface="Segoe UI" pitchFamily="34" charset="-122"/>
                <a:cs typeface="Segoe UI" pitchFamily="34" charset="-120"/>
              </a:rPr>
              <a:t>🗺️  The Discovered Process Maps</a:t>
            </a:r>
            <a:endParaRPr lang="en-US" sz="2500" dirty="0"/>
          </a:p>
        </p:txBody>
      </p:sp>
      <p:sp>
        <p:nvSpPr>
          <p:cNvPr id="4" name="Shape 2"/>
          <p:cNvSpPr/>
          <p:nvPr/>
        </p:nvSpPr>
        <p:spPr>
          <a:xfrm>
            <a:off x="411480" y="1143000"/>
            <a:ext cx="5532120" cy="4572000"/>
          </a:xfrm>
          <a:prstGeom prst="roundRect">
            <a:avLst>
              <a:gd name="adj" fmla="val 1600"/>
            </a:avLst>
          </a:prstGeom>
          <a:solidFill>
            <a:srgbClr val="EBF8FF"/>
          </a:solidFill>
          <a:ln w="9525">
            <a:solidFill>
              <a:srgbClr val="E2E8F0"/>
            </a:solidFill>
            <a:prstDash val="solid"/>
          </a:ln>
        </p:spPr>
        <p:txBody>
          <a:bodyPr/>
          <a:lstStyle/>
          <a:p>
            <a:endParaRPr lang="en-US"/>
          </a:p>
        </p:txBody>
      </p:sp>
      <p:sp>
        <p:nvSpPr>
          <p:cNvPr id="5" name="Text 3"/>
          <p:cNvSpPr/>
          <p:nvPr/>
        </p:nvSpPr>
        <p:spPr>
          <a:xfrm>
            <a:off x="640080" y="1252728"/>
            <a:ext cx="5029200" cy="310896"/>
          </a:xfrm>
          <a:prstGeom prst="rect">
            <a:avLst/>
          </a:prstGeom>
          <a:noFill/>
          <a:ln/>
        </p:spPr>
        <p:txBody>
          <a:bodyPr wrap="square" rtlCol="0" anchor="ctr"/>
          <a:lstStyle/>
          <a:p>
            <a:pPr marL="0" indent="0">
              <a:buNone/>
            </a:pPr>
            <a:r>
              <a:rPr lang="en-US" sz="1250" b="1" dirty="0">
                <a:solidFill>
                  <a:srgbClr val="3182CE"/>
                </a:solidFill>
                <a:latin typeface="Segoe UI" pitchFamily="34" charset="0"/>
                <a:ea typeface="Segoe UI" pitchFamily="34" charset="-122"/>
                <a:cs typeface="Segoe UI" pitchFamily="34" charset="-120"/>
              </a:rPr>
              <a:t>Baseline — 17 edges</a:t>
            </a:r>
            <a:endParaRPr lang="en-US" sz="1250" dirty="0"/>
          </a:p>
        </p:txBody>
      </p:sp>
      <p:sp>
        <p:nvSpPr>
          <p:cNvPr id="7" name="Shape 4"/>
          <p:cNvSpPr/>
          <p:nvPr/>
        </p:nvSpPr>
        <p:spPr>
          <a:xfrm>
            <a:off x="6217920" y="1143000"/>
            <a:ext cx="5532120" cy="4572000"/>
          </a:xfrm>
          <a:prstGeom prst="roundRect">
            <a:avLst>
              <a:gd name="adj" fmla="val 1600"/>
            </a:avLst>
          </a:prstGeom>
          <a:solidFill>
            <a:srgbClr val="F0FFF4"/>
          </a:solidFill>
          <a:ln w="9525">
            <a:solidFill>
              <a:srgbClr val="E2E8F0"/>
            </a:solidFill>
            <a:prstDash val="solid"/>
          </a:ln>
        </p:spPr>
        <p:txBody>
          <a:bodyPr/>
          <a:lstStyle/>
          <a:p>
            <a:endParaRPr lang="en-US"/>
          </a:p>
        </p:txBody>
      </p:sp>
      <p:sp>
        <p:nvSpPr>
          <p:cNvPr id="8" name="Text 5"/>
          <p:cNvSpPr/>
          <p:nvPr/>
        </p:nvSpPr>
        <p:spPr>
          <a:xfrm>
            <a:off x="6446520" y="1252728"/>
            <a:ext cx="5120640" cy="310896"/>
          </a:xfrm>
          <a:prstGeom prst="rect">
            <a:avLst/>
          </a:prstGeom>
          <a:noFill/>
          <a:ln/>
        </p:spPr>
        <p:txBody>
          <a:bodyPr wrap="square" rtlCol="0" anchor="ctr"/>
          <a:lstStyle/>
          <a:p>
            <a:pPr marL="0" indent="0">
              <a:buNone/>
            </a:pPr>
            <a:r>
              <a:rPr lang="en-US" sz="1250" b="1" dirty="0">
                <a:solidFill>
                  <a:srgbClr val="38A169"/>
                </a:solidFill>
                <a:latin typeface="Segoe UI" pitchFamily="34" charset="0"/>
                <a:ea typeface="Segoe UI" pitchFamily="34" charset="-122"/>
                <a:cs typeface="Segoe UI" pitchFamily="34" charset="-120"/>
              </a:rPr>
              <a:t>Bayesian — 32 edges (core + exceptions + review-class)</a:t>
            </a:r>
            <a:endParaRPr lang="en-US" sz="1250" dirty="0"/>
          </a:p>
        </p:txBody>
      </p:sp>
      <p:pic>
        <p:nvPicPr>
          <p:cNvPr id="9" name="Image 1" descr="Finale/Process_Maps/Beysian/ALL_SURG_bayesian_heu_net.png"/>
          <p:cNvPicPr>
            <a:picLocks noChangeAspect="1"/>
          </p:cNvPicPr>
          <p:nvPr/>
        </p:nvPicPr>
        <p:blipFill>
          <a:blip r:embed="rId3"/>
          <a:srcRect/>
          <a:stretch/>
        </p:blipFill>
        <p:spPr>
          <a:xfrm>
            <a:off x="6583680" y="1627632"/>
            <a:ext cx="4800600" cy="3931920"/>
          </a:xfrm>
          <a:prstGeom prst="rect">
            <a:avLst/>
          </a:prstGeom>
        </p:spPr>
      </p:pic>
      <p:sp>
        <p:nvSpPr>
          <p:cNvPr id="10" name="Shape 6"/>
          <p:cNvSpPr/>
          <p:nvPr/>
        </p:nvSpPr>
        <p:spPr>
          <a:xfrm>
            <a:off x="411480" y="5897880"/>
            <a:ext cx="11365992" cy="457200"/>
          </a:xfrm>
          <a:prstGeom prst="roundRect">
            <a:avLst>
              <a:gd name="adj" fmla="val 16000"/>
            </a:avLst>
          </a:prstGeom>
          <a:solidFill>
            <a:srgbClr val="1A365D"/>
          </a:solidFill>
          <a:ln/>
        </p:spPr>
        <p:txBody>
          <a:bodyPr/>
          <a:lstStyle/>
          <a:p>
            <a:endParaRPr lang="en-US"/>
          </a:p>
        </p:txBody>
      </p:sp>
      <p:sp>
        <p:nvSpPr>
          <p:cNvPr id="11" name="Text 7"/>
          <p:cNvSpPr/>
          <p:nvPr/>
        </p:nvSpPr>
        <p:spPr>
          <a:xfrm>
            <a:off x="548640" y="5897880"/>
            <a:ext cx="11091672" cy="457200"/>
          </a:xfrm>
          <a:prstGeom prst="rect">
            <a:avLst/>
          </a:prstGeom>
          <a:noFill/>
          <a:ln/>
        </p:spPr>
        <p:txBody>
          <a:bodyPr wrap="square" rtlCol="0" anchor="ctr"/>
          <a:lstStyle/>
          <a:p>
            <a:pPr marL="0" indent="0" algn="ctr">
              <a:buNone/>
            </a:pPr>
            <a:r>
              <a:rPr lang="en-US" sz="1250" b="1" dirty="0">
                <a:solidFill>
                  <a:srgbClr val="FFFFFF"/>
                </a:solidFill>
                <a:latin typeface="Segoe UI" pitchFamily="34" charset="0"/>
                <a:ea typeface="Segoe UI" pitchFamily="34" charset="-122"/>
                <a:cs typeface="Segoe UI" pitchFamily="34" charset="-120"/>
              </a:rPr>
              <a:t>Same log, same thresholds — the only change is the dependency measure</a:t>
            </a:r>
            <a:endParaRPr lang="en-US" sz="1250" dirty="0"/>
          </a:p>
        </p:txBody>
      </p:sp>
      <p:pic>
        <p:nvPicPr>
          <p:cNvPr id="13" name="Picture 12">
            <a:extLst>
              <a:ext uri="{FF2B5EF4-FFF2-40B4-BE49-F238E27FC236}">
                <a16:creationId xmlns:a16="http://schemas.microsoft.com/office/drawing/2014/main" id="{29F55D3A-0495-E740-01BA-07907745191D}"/>
              </a:ext>
            </a:extLst>
          </p:cNvPr>
          <p:cNvPicPr>
            <a:picLocks noChangeAspect="1"/>
          </p:cNvPicPr>
          <p:nvPr/>
        </p:nvPicPr>
        <p:blipFill>
          <a:blip r:embed="rId4"/>
          <a:stretch>
            <a:fillRect/>
          </a:stretch>
        </p:blipFill>
        <p:spPr>
          <a:xfrm>
            <a:off x="2082800" y="1563624"/>
            <a:ext cx="1788160" cy="399592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92608"/>
            <a:ext cx="64008" cy="475488"/>
          </a:xfrm>
          <a:prstGeom prst="rect">
            <a:avLst/>
          </a:prstGeom>
          <a:solidFill>
            <a:srgbClr val="E53E3E"/>
          </a:solidFill>
          <a:ln/>
        </p:spPr>
        <p:txBody>
          <a:bodyPr/>
          <a:lstStyle/>
          <a:p>
            <a:endParaRPr lang="en-US"/>
          </a:p>
        </p:txBody>
      </p:sp>
      <p:sp>
        <p:nvSpPr>
          <p:cNvPr id="3" name="Text 1"/>
          <p:cNvSpPr/>
          <p:nvPr/>
        </p:nvSpPr>
        <p:spPr>
          <a:xfrm>
            <a:off x="566928" y="237744"/>
            <a:ext cx="11155680" cy="585216"/>
          </a:xfrm>
          <a:prstGeom prst="rect">
            <a:avLst/>
          </a:prstGeom>
          <a:noFill/>
          <a:ln/>
        </p:spPr>
        <p:txBody>
          <a:bodyPr wrap="square" rtlCol="0" anchor="ctr"/>
          <a:lstStyle/>
          <a:p>
            <a:pPr marL="0" indent="0" algn="l">
              <a:buNone/>
            </a:pPr>
            <a:r>
              <a:rPr lang="en-US" sz="2500" b="1" dirty="0">
                <a:solidFill>
                  <a:srgbClr val="1A365D"/>
                </a:solidFill>
                <a:latin typeface="Segoe UI" pitchFamily="34" charset="0"/>
                <a:ea typeface="Segoe UI" pitchFamily="34" charset="-122"/>
                <a:cs typeface="Segoe UI" pitchFamily="34" charset="-120"/>
              </a:rPr>
              <a:t>⏱️  Results: Temporal Analysis — The Mean-Median Divergence</a:t>
            </a:r>
            <a:endParaRPr lang="en-US" sz="2500" dirty="0"/>
          </a:p>
        </p:txBody>
      </p:sp>
      <p:sp>
        <p:nvSpPr>
          <p:cNvPr id="4" name="Shape 2"/>
          <p:cNvSpPr/>
          <p:nvPr/>
        </p:nvSpPr>
        <p:spPr>
          <a:xfrm>
            <a:off x="411480" y="1143000"/>
            <a:ext cx="5120640" cy="3566160"/>
          </a:xfrm>
          <a:prstGeom prst="roundRect">
            <a:avLst>
              <a:gd name="adj" fmla="val 2051"/>
            </a:avLst>
          </a:prstGeom>
          <a:solidFill>
            <a:srgbClr val="FFF5F5"/>
          </a:solidFill>
          <a:ln w="9525">
            <a:solidFill>
              <a:srgbClr val="E2E8F0"/>
            </a:solidFill>
            <a:prstDash val="solid"/>
          </a:ln>
        </p:spPr>
        <p:txBody>
          <a:bodyPr/>
          <a:lstStyle/>
          <a:p>
            <a:endParaRPr lang="en-US"/>
          </a:p>
        </p:txBody>
      </p:sp>
      <p:sp>
        <p:nvSpPr>
          <p:cNvPr id="5" name="Shape 3"/>
          <p:cNvSpPr/>
          <p:nvPr/>
        </p:nvSpPr>
        <p:spPr>
          <a:xfrm>
            <a:off x="411480" y="1143000"/>
            <a:ext cx="64008" cy="3566160"/>
          </a:xfrm>
          <a:prstGeom prst="roundRect">
            <a:avLst>
              <a:gd name="adj" fmla="val 42857"/>
            </a:avLst>
          </a:prstGeom>
          <a:solidFill>
            <a:srgbClr val="E53E3E"/>
          </a:solidFill>
          <a:ln/>
        </p:spPr>
        <p:txBody>
          <a:bodyPr/>
          <a:lstStyle/>
          <a:p>
            <a:endParaRPr lang="en-US"/>
          </a:p>
        </p:txBody>
      </p:sp>
      <p:sp>
        <p:nvSpPr>
          <p:cNvPr id="6" name="Text 4"/>
          <p:cNvSpPr/>
          <p:nvPr/>
        </p:nvSpPr>
        <p:spPr>
          <a:xfrm>
            <a:off x="658368" y="1298448"/>
            <a:ext cx="4663440" cy="347472"/>
          </a:xfrm>
          <a:prstGeom prst="rect">
            <a:avLst/>
          </a:prstGeom>
          <a:noFill/>
          <a:ln/>
        </p:spPr>
        <p:txBody>
          <a:bodyPr wrap="square" rtlCol="0" anchor="ctr"/>
          <a:lstStyle/>
          <a:p>
            <a:pPr marL="0" indent="0">
              <a:buNone/>
            </a:pPr>
            <a:r>
              <a:rPr lang="en-US" sz="1400" b="1" dirty="0">
                <a:solidFill>
                  <a:srgbClr val="E53E3E"/>
                </a:solidFill>
                <a:latin typeface="Segoe UI" pitchFamily="34" charset="0"/>
                <a:ea typeface="Segoe UI" pitchFamily="34" charset="-122"/>
                <a:cs typeface="Segoe UI" pitchFamily="34" charset="-120"/>
              </a:rPr>
              <a:t>Patient Sent → Discharge</a:t>
            </a:r>
            <a:endParaRPr lang="en-US" sz="1400" dirty="0"/>
          </a:p>
        </p:txBody>
      </p:sp>
      <p:sp>
        <p:nvSpPr>
          <p:cNvPr id="7" name="Text 5"/>
          <p:cNvSpPr/>
          <p:nvPr/>
        </p:nvSpPr>
        <p:spPr>
          <a:xfrm>
            <a:off x="685800" y="1691640"/>
            <a:ext cx="1828800" cy="914400"/>
          </a:xfrm>
          <a:prstGeom prst="rect">
            <a:avLst/>
          </a:prstGeom>
          <a:noFill/>
          <a:ln/>
        </p:spPr>
        <p:txBody>
          <a:bodyPr wrap="square" rtlCol="0" anchor="ctr"/>
          <a:lstStyle/>
          <a:p>
            <a:pPr marL="0" indent="0">
              <a:buNone/>
            </a:pPr>
            <a:r>
              <a:rPr lang="en-US" sz="5400" b="1" dirty="0">
                <a:solidFill>
                  <a:srgbClr val="E53E3E"/>
                </a:solidFill>
                <a:latin typeface="Segoe UI" pitchFamily="34" charset="0"/>
                <a:ea typeface="Segoe UI" pitchFamily="34" charset="-122"/>
                <a:cs typeface="Segoe UI" pitchFamily="34" charset="-120"/>
              </a:rPr>
              <a:t>10</a:t>
            </a:r>
            <a:endParaRPr lang="en-US" sz="5400" dirty="0"/>
          </a:p>
        </p:txBody>
      </p:sp>
      <p:sp>
        <p:nvSpPr>
          <p:cNvPr id="8" name="Text 6"/>
          <p:cNvSpPr/>
          <p:nvPr/>
        </p:nvSpPr>
        <p:spPr>
          <a:xfrm>
            <a:off x="777240" y="2606040"/>
            <a:ext cx="1645920" cy="365760"/>
          </a:xfrm>
          <a:prstGeom prst="rect">
            <a:avLst/>
          </a:prstGeom>
          <a:noFill/>
          <a:ln/>
        </p:spPr>
        <p:txBody>
          <a:bodyPr wrap="square" rtlCol="0" anchor="ctr"/>
          <a:lstStyle/>
          <a:p>
            <a:pPr marL="0" indent="0">
              <a:buNone/>
            </a:pPr>
            <a:r>
              <a:rPr lang="en-US" sz="1600" b="1" dirty="0">
                <a:solidFill>
                  <a:srgbClr val="E53E3E"/>
                </a:solidFill>
                <a:latin typeface="Segoe UI" pitchFamily="34" charset="0"/>
                <a:ea typeface="Segoe UI" pitchFamily="34" charset="-122"/>
                <a:cs typeface="Segoe UI" pitchFamily="34" charset="-120"/>
              </a:rPr>
              <a:t>days</a:t>
            </a:r>
            <a:endParaRPr lang="en-US" sz="1600" dirty="0"/>
          </a:p>
        </p:txBody>
      </p:sp>
      <p:sp>
        <p:nvSpPr>
          <p:cNvPr id="9" name="Text 7"/>
          <p:cNvSpPr/>
          <p:nvPr/>
        </p:nvSpPr>
        <p:spPr>
          <a:xfrm>
            <a:off x="777240" y="2944368"/>
            <a:ext cx="1645920" cy="274320"/>
          </a:xfrm>
          <a:prstGeom prst="rect">
            <a:avLst/>
          </a:prstGeom>
          <a:noFill/>
          <a:ln/>
        </p:spPr>
        <p:txBody>
          <a:bodyPr wrap="square" rtlCol="0" anchor="ctr"/>
          <a:lstStyle/>
          <a:p>
            <a:pPr marL="0" indent="0">
              <a:buNone/>
            </a:pPr>
            <a:r>
              <a:rPr lang="en-US" sz="1000" dirty="0">
                <a:solidFill>
                  <a:srgbClr val="718096"/>
                </a:solidFill>
                <a:latin typeface="Segoe UI" pitchFamily="34" charset="0"/>
                <a:ea typeface="Segoe UI" pitchFamily="34" charset="-122"/>
                <a:cs typeface="Segoe UI" pitchFamily="34" charset="-120"/>
              </a:rPr>
              <a:t>MEAN</a:t>
            </a:r>
            <a:endParaRPr lang="en-US" sz="1000" dirty="0"/>
          </a:p>
        </p:txBody>
      </p:sp>
      <p:sp>
        <p:nvSpPr>
          <p:cNvPr id="10" name="Text 8"/>
          <p:cNvSpPr/>
          <p:nvPr/>
        </p:nvSpPr>
        <p:spPr>
          <a:xfrm>
            <a:off x="2423160" y="2057400"/>
            <a:ext cx="640080" cy="457200"/>
          </a:xfrm>
          <a:prstGeom prst="rect">
            <a:avLst/>
          </a:prstGeom>
          <a:noFill/>
          <a:ln/>
        </p:spPr>
        <p:txBody>
          <a:bodyPr wrap="square" rtlCol="0" anchor="ctr"/>
          <a:lstStyle/>
          <a:p>
            <a:pPr marL="0" indent="0" algn="ctr">
              <a:buNone/>
            </a:pPr>
            <a:r>
              <a:rPr lang="en-US" sz="1600" i="1" dirty="0">
                <a:solidFill>
                  <a:srgbClr val="718096"/>
                </a:solidFill>
                <a:latin typeface="Segoe UI" pitchFamily="34" charset="0"/>
                <a:ea typeface="Segoe UI" pitchFamily="34" charset="-122"/>
                <a:cs typeface="Segoe UI" pitchFamily="34" charset="-120"/>
              </a:rPr>
              <a:t>vs</a:t>
            </a:r>
            <a:endParaRPr lang="en-US" sz="1600" dirty="0"/>
          </a:p>
        </p:txBody>
      </p:sp>
      <p:sp>
        <p:nvSpPr>
          <p:cNvPr id="11" name="Text 9"/>
          <p:cNvSpPr/>
          <p:nvPr/>
        </p:nvSpPr>
        <p:spPr>
          <a:xfrm>
            <a:off x="3108960" y="1691640"/>
            <a:ext cx="1828800" cy="914400"/>
          </a:xfrm>
          <a:prstGeom prst="rect">
            <a:avLst/>
          </a:prstGeom>
          <a:noFill/>
          <a:ln/>
        </p:spPr>
        <p:txBody>
          <a:bodyPr wrap="square" rtlCol="0" anchor="ctr"/>
          <a:lstStyle/>
          <a:p>
            <a:pPr marL="0" indent="0">
              <a:buNone/>
            </a:pPr>
            <a:r>
              <a:rPr lang="en-US" sz="5400" b="1" dirty="0">
                <a:solidFill>
                  <a:srgbClr val="38A169"/>
                </a:solidFill>
                <a:latin typeface="Segoe UI" pitchFamily="34" charset="0"/>
                <a:ea typeface="Segoe UI" pitchFamily="34" charset="-122"/>
                <a:cs typeface="Segoe UI" pitchFamily="34" charset="-120"/>
              </a:rPr>
              <a:t>10</a:t>
            </a:r>
            <a:endParaRPr lang="en-US" sz="5400" dirty="0"/>
          </a:p>
        </p:txBody>
      </p:sp>
      <p:sp>
        <p:nvSpPr>
          <p:cNvPr id="12" name="Text 10"/>
          <p:cNvSpPr/>
          <p:nvPr/>
        </p:nvSpPr>
        <p:spPr>
          <a:xfrm>
            <a:off x="3200400" y="2606040"/>
            <a:ext cx="1645920" cy="365760"/>
          </a:xfrm>
          <a:prstGeom prst="rect">
            <a:avLst/>
          </a:prstGeom>
          <a:noFill/>
          <a:ln/>
        </p:spPr>
        <p:txBody>
          <a:bodyPr wrap="square" rtlCol="0" anchor="ctr"/>
          <a:lstStyle/>
          <a:p>
            <a:pPr marL="0" indent="0">
              <a:buNone/>
            </a:pPr>
            <a:r>
              <a:rPr lang="en-US" sz="1600" b="1" dirty="0">
                <a:solidFill>
                  <a:srgbClr val="38A169"/>
                </a:solidFill>
                <a:latin typeface="Segoe UI" pitchFamily="34" charset="0"/>
                <a:ea typeface="Segoe UI" pitchFamily="34" charset="-122"/>
                <a:cs typeface="Segoe UI" pitchFamily="34" charset="-120"/>
              </a:rPr>
              <a:t>min</a:t>
            </a:r>
            <a:endParaRPr lang="en-US" sz="1600" dirty="0"/>
          </a:p>
        </p:txBody>
      </p:sp>
      <p:sp>
        <p:nvSpPr>
          <p:cNvPr id="13" name="Text 11"/>
          <p:cNvSpPr/>
          <p:nvPr/>
        </p:nvSpPr>
        <p:spPr>
          <a:xfrm>
            <a:off x="3200400" y="2944368"/>
            <a:ext cx="1645920" cy="274320"/>
          </a:xfrm>
          <a:prstGeom prst="rect">
            <a:avLst/>
          </a:prstGeom>
          <a:noFill/>
          <a:ln/>
        </p:spPr>
        <p:txBody>
          <a:bodyPr wrap="square" rtlCol="0" anchor="ctr"/>
          <a:lstStyle/>
          <a:p>
            <a:pPr marL="0" indent="0">
              <a:buNone/>
            </a:pPr>
            <a:r>
              <a:rPr lang="en-US" sz="1000" dirty="0">
                <a:solidFill>
                  <a:srgbClr val="718096"/>
                </a:solidFill>
                <a:latin typeface="Segoe UI" pitchFamily="34" charset="0"/>
                <a:ea typeface="Segoe UI" pitchFamily="34" charset="-122"/>
                <a:cs typeface="Segoe UI" pitchFamily="34" charset="-120"/>
              </a:rPr>
              <a:t>MEDIAN</a:t>
            </a:r>
            <a:endParaRPr lang="en-US" sz="1000" dirty="0"/>
          </a:p>
        </p:txBody>
      </p:sp>
      <p:sp>
        <p:nvSpPr>
          <p:cNvPr id="14" name="Text 12"/>
          <p:cNvSpPr/>
          <p:nvPr/>
        </p:nvSpPr>
        <p:spPr>
          <a:xfrm>
            <a:off x="658368" y="3291840"/>
            <a:ext cx="4663440" cy="1325880"/>
          </a:xfrm>
          <a:prstGeom prst="rect">
            <a:avLst/>
          </a:prstGeom>
          <a:noFill/>
          <a:ln/>
        </p:spPr>
        <p:txBody>
          <a:bodyPr wrap="square" rtlCol="0" anchor="t"/>
          <a:lstStyle/>
          <a:p>
            <a:pPr marL="0" indent="0">
              <a:lnSpc>
                <a:spcPct val="110000"/>
              </a:lnSpc>
              <a:buNone/>
            </a:pPr>
            <a:r>
              <a:rPr lang="en-US" sz="1050" b="1" dirty="0">
                <a:solidFill>
                  <a:srgbClr val="1A202C"/>
                </a:solidFill>
                <a:latin typeface="Segoe UI" pitchFamily="34" charset="0"/>
                <a:ea typeface="Segoe UI" pitchFamily="34" charset="-122"/>
                <a:cs typeface="Segoe UI" pitchFamily="34" charset="-120"/>
              </a:rPr>
              <a:t>Interpretation: </a:t>
            </a:r>
            <a:r>
              <a:rPr lang="en-US" sz="1050" dirty="0">
                <a:solidFill>
                  <a:srgbClr val="4A5568"/>
                </a:solidFill>
                <a:latin typeface="Segoe UI" pitchFamily="34" charset="0"/>
                <a:ea typeface="Segoe UI" pitchFamily="34" charset="-122"/>
                <a:cs typeface="Segoe UI" pitchFamily="34" charset="-120"/>
              </a:rPr>
              <a:t>The typical case completes in minutes. A few extreme outliers (likely administrative discharge delays) drag the mean to 10 days. </a:t>
            </a:r>
            <a:r>
              <a:rPr lang="en-US" sz="1050" b="1" i="1" dirty="0">
                <a:solidFill>
                  <a:srgbClr val="E53E3E"/>
                </a:solidFill>
                <a:latin typeface="Segoe UI" pitchFamily="34" charset="0"/>
                <a:ea typeface="Segoe UI" pitchFamily="34" charset="-122"/>
                <a:cs typeface="Segoe UI" pitchFamily="34" charset="-120"/>
              </a:rPr>
              <a:t>Reporting mean alone is materially misleading.</a:t>
            </a:r>
            <a:endParaRPr lang="en-US" sz="1050" dirty="0"/>
          </a:p>
        </p:txBody>
      </p:sp>
      <p:sp>
        <p:nvSpPr>
          <p:cNvPr id="15" name="Shape 13"/>
          <p:cNvSpPr/>
          <p:nvPr/>
        </p:nvSpPr>
        <p:spPr>
          <a:xfrm>
            <a:off x="5806440" y="1143000"/>
            <a:ext cx="5943600" cy="3566160"/>
          </a:xfrm>
          <a:prstGeom prst="roundRect">
            <a:avLst>
              <a:gd name="adj" fmla="val 2051"/>
            </a:avLst>
          </a:prstGeom>
          <a:solidFill>
            <a:srgbClr val="F7FAFC"/>
          </a:solidFill>
          <a:ln w="9525">
            <a:solidFill>
              <a:srgbClr val="E2E8F0"/>
            </a:solidFill>
            <a:prstDash val="solid"/>
          </a:ln>
        </p:spPr>
        <p:txBody>
          <a:bodyPr/>
          <a:lstStyle/>
          <a:p>
            <a:endParaRPr lang="en-US"/>
          </a:p>
        </p:txBody>
      </p:sp>
      <p:sp>
        <p:nvSpPr>
          <p:cNvPr id="16" name="Text 14"/>
          <p:cNvSpPr/>
          <p:nvPr/>
        </p:nvSpPr>
        <p:spPr>
          <a:xfrm>
            <a:off x="6035040" y="1298448"/>
            <a:ext cx="5486400" cy="3291840"/>
          </a:xfrm>
          <a:prstGeom prst="rect">
            <a:avLst/>
          </a:prstGeom>
          <a:noFill/>
          <a:ln/>
        </p:spPr>
        <p:txBody>
          <a:bodyPr wrap="square" rtlCol="0" anchor="t"/>
          <a:lstStyle/>
          <a:p>
            <a:pPr marL="0" indent="0">
              <a:lnSpc>
                <a:spcPct val="115000"/>
              </a:lnSpc>
              <a:buNone/>
            </a:pPr>
            <a:r>
              <a:rPr lang="en-US" sz="1300" b="1" dirty="0">
                <a:solidFill>
                  <a:srgbClr val="1A202C"/>
                </a:solidFill>
                <a:latin typeface="Segoe UI" pitchFamily="34" charset="0"/>
                <a:ea typeface="Segoe UI" pitchFamily="34" charset="-122"/>
                <a:cs typeface="Segoe UI" pitchFamily="34" charset="-120"/>
              </a:rPr>
              <a:t>Specialty-Level Delay Patterns</a:t>
            </a:r>
          </a:p>
          <a:p>
            <a:pPr marL="0" indent="0">
              <a:lnSpc>
                <a:spcPct val="115000"/>
              </a:lnSpc>
              <a:buNone/>
            </a:pPr>
            <a:r>
              <a:rPr lang="en-US" sz="1300" b="1" dirty="0">
                <a:solidFill>
                  <a:srgbClr val="1A202C"/>
                </a:solidFill>
                <a:latin typeface="Segoe UI" pitchFamily="34" charset="0"/>
                <a:ea typeface="Segoe UI" pitchFamily="34" charset="-122"/>
                <a:cs typeface="Segoe UI" pitchFamily="34" charset="-120"/>
              </a:rPr>
              <a:t>
</a:t>
            </a:r>
            <a:r>
              <a:rPr lang="en-US" sz="1150" b="1" dirty="0">
                <a:solidFill>
                  <a:srgbClr val="E53E3E"/>
                </a:solidFill>
                <a:latin typeface="Segoe UI" pitchFamily="34" charset="0"/>
                <a:ea typeface="Segoe UI" pitchFamily="34" charset="-122"/>
                <a:cs typeface="Segoe UI" pitchFamily="34" charset="-120"/>
              </a:rPr>
              <a:t>Cardiac Surgery: </a:t>
            </a:r>
            <a:r>
              <a:rPr lang="en-US" sz="1150" dirty="0">
                <a:solidFill>
                  <a:srgbClr val="4A5568"/>
                </a:solidFill>
                <a:latin typeface="Segoe UI" pitchFamily="34" charset="0"/>
                <a:ea typeface="Segoe UI" pitchFamily="34" charset="-122"/>
                <a:cs typeface="Segoe UI" pitchFamily="34" charset="-120"/>
              </a:rPr>
              <a:t>Incision→Dressing = 3 hours;  Recovery In→Recovery Out = 36 min;  Recovery Out→Discharge = 7 days
</a:t>
            </a:r>
            <a:r>
              <a:rPr lang="en-US" sz="1150" b="1" dirty="0">
                <a:solidFill>
                  <a:srgbClr val="3182CE"/>
                </a:solidFill>
                <a:latin typeface="Segoe UI" pitchFamily="34" charset="0"/>
                <a:ea typeface="Segoe UI" pitchFamily="34" charset="-122"/>
                <a:cs typeface="Segoe UI" pitchFamily="34" charset="-120"/>
              </a:rPr>
              <a:t>Ophthalmology: </a:t>
            </a:r>
            <a:r>
              <a:rPr lang="en-US" sz="1150" dirty="0">
                <a:solidFill>
                  <a:srgbClr val="4A5568"/>
                </a:solidFill>
                <a:latin typeface="Segoe UI" pitchFamily="34" charset="0"/>
                <a:ea typeface="Segoe UI" pitchFamily="34" charset="-122"/>
                <a:cs typeface="Segoe UI" pitchFamily="34" charset="-120"/>
              </a:rPr>
              <a:t>Most steps = minutes to under 1 hour. Only outlier: the shared ~7-day admission-side tail
</a:t>
            </a:r>
            <a:r>
              <a:rPr lang="en-US" sz="1150" b="1" dirty="0">
                <a:solidFill>
                  <a:srgbClr val="DD6B20"/>
                </a:solidFill>
                <a:latin typeface="Segoe UI" pitchFamily="34" charset="0"/>
                <a:ea typeface="Segoe UI" pitchFamily="34" charset="-122"/>
                <a:cs typeface="Segoe UI" pitchFamily="34" charset="-120"/>
              </a:rPr>
              <a:t>Key insight: </a:t>
            </a:r>
            <a:r>
              <a:rPr lang="en-US" sz="1150" dirty="0">
                <a:solidFill>
                  <a:srgbClr val="4A5568"/>
                </a:solidFill>
                <a:latin typeface="Segoe UI" pitchFamily="34" charset="0"/>
                <a:ea typeface="Segoe UI" pitchFamily="34" charset="-122"/>
                <a:cs typeface="Segoe UI" pitchFamily="34" charset="-120"/>
              </a:rPr>
              <a:t>Intraoperative/recovery delay is specialty-specific; admission-side delay is institution-wide.</a:t>
            </a:r>
            <a:endParaRPr lang="en-US" sz="1300" dirty="0"/>
          </a:p>
        </p:txBody>
      </p:sp>
      <p:sp>
        <p:nvSpPr>
          <p:cNvPr id="17" name="Shape 15"/>
          <p:cNvSpPr/>
          <p:nvPr/>
        </p:nvSpPr>
        <p:spPr>
          <a:xfrm>
            <a:off x="411480" y="4892040"/>
            <a:ext cx="11365992" cy="1234440"/>
          </a:xfrm>
          <a:prstGeom prst="roundRect">
            <a:avLst>
              <a:gd name="adj" fmla="val 5926"/>
            </a:avLst>
          </a:prstGeom>
          <a:solidFill>
            <a:srgbClr val="E6FFFA"/>
          </a:solidFill>
          <a:ln w="9525">
            <a:solidFill>
              <a:srgbClr val="E2E8F0"/>
            </a:solidFill>
            <a:prstDash val="solid"/>
          </a:ln>
        </p:spPr>
        <p:txBody>
          <a:bodyPr/>
          <a:lstStyle/>
          <a:p>
            <a:endParaRPr lang="en-US"/>
          </a:p>
        </p:txBody>
      </p:sp>
      <p:sp>
        <p:nvSpPr>
          <p:cNvPr id="18" name="Shape 16"/>
          <p:cNvSpPr/>
          <p:nvPr/>
        </p:nvSpPr>
        <p:spPr>
          <a:xfrm>
            <a:off x="411480" y="4892040"/>
            <a:ext cx="64008" cy="1234440"/>
          </a:xfrm>
          <a:prstGeom prst="roundRect">
            <a:avLst>
              <a:gd name="adj" fmla="val 42857"/>
            </a:avLst>
          </a:prstGeom>
          <a:solidFill>
            <a:srgbClr val="319795"/>
          </a:solidFill>
          <a:ln/>
        </p:spPr>
        <p:txBody>
          <a:bodyPr/>
          <a:lstStyle/>
          <a:p>
            <a:endParaRPr lang="en-US"/>
          </a:p>
        </p:txBody>
      </p:sp>
      <p:sp>
        <p:nvSpPr>
          <p:cNvPr id="19" name="Text 17"/>
          <p:cNvSpPr/>
          <p:nvPr/>
        </p:nvSpPr>
        <p:spPr>
          <a:xfrm>
            <a:off x="658368" y="5029200"/>
            <a:ext cx="10881360" cy="1005840"/>
          </a:xfrm>
          <a:prstGeom prst="rect">
            <a:avLst/>
          </a:prstGeom>
          <a:noFill/>
          <a:ln/>
        </p:spPr>
        <p:txBody>
          <a:bodyPr wrap="square" rtlCol="0" anchor="t"/>
          <a:lstStyle/>
          <a:p>
            <a:pPr marL="0" indent="0">
              <a:lnSpc>
                <a:spcPct val="112000"/>
              </a:lnSpc>
              <a:buNone/>
            </a:pPr>
            <a:r>
              <a:rPr lang="en-US" sz="1150" b="1" dirty="0">
                <a:solidFill>
                  <a:srgbClr val="319795"/>
                </a:solidFill>
                <a:latin typeface="Segoe UI" pitchFamily="34" charset="0"/>
                <a:ea typeface="Segoe UI" pitchFamily="34" charset="-122"/>
                <a:cs typeface="Segoe UI" pitchFamily="34" charset="-120"/>
              </a:rPr>
              <a:t>Independent Corroboration: </a:t>
            </a:r>
            <a:r>
              <a:rPr lang="en-US" sz="1150" dirty="0">
                <a:solidFill>
                  <a:srgbClr val="4A5568"/>
                </a:solidFill>
                <a:latin typeface="Segoe UI" pitchFamily="34" charset="0"/>
                <a:ea typeface="Segoe UI" pitchFamily="34" charset="-122"/>
                <a:cs typeface="Segoe UI" pitchFamily="34" charset="-120"/>
              </a:rPr>
              <a:t>Özdağoğlu et al. (2025) — 373,008 events across 51,298 patients at a Turkish hospital, using Fuzzy Miner — reported the same phenomenon: noticeable mean–median gaps indicating transition times distributed over a wide range. Two hospitals, two countries, two algorithms — one pattern.</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92608"/>
            <a:ext cx="64008" cy="475488"/>
          </a:xfrm>
          <a:prstGeom prst="rect">
            <a:avLst/>
          </a:prstGeom>
          <a:solidFill>
            <a:srgbClr val="805AD5"/>
          </a:solidFill>
          <a:ln/>
        </p:spPr>
        <p:txBody>
          <a:bodyPr/>
          <a:lstStyle/>
          <a:p>
            <a:endParaRPr lang="en-US"/>
          </a:p>
        </p:txBody>
      </p:sp>
      <p:sp>
        <p:nvSpPr>
          <p:cNvPr id="3" name="Text 1"/>
          <p:cNvSpPr/>
          <p:nvPr/>
        </p:nvSpPr>
        <p:spPr>
          <a:xfrm>
            <a:off x="566928" y="237744"/>
            <a:ext cx="11155680" cy="585216"/>
          </a:xfrm>
          <a:prstGeom prst="rect">
            <a:avLst/>
          </a:prstGeom>
          <a:noFill/>
          <a:ln/>
        </p:spPr>
        <p:txBody>
          <a:bodyPr wrap="square" rtlCol="0" anchor="ctr"/>
          <a:lstStyle/>
          <a:p>
            <a:pPr marL="0" indent="0" algn="l">
              <a:buNone/>
            </a:pPr>
            <a:r>
              <a:rPr lang="en-US" sz="2500" b="1" dirty="0">
                <a:solidFill>
                  <a:srgbClr val="1A365D"/>
                </a:solidFill>
                <a:latin typeface="Segoe UI" pitchFamily="34" charset="0"/>
                <a:ea typeface="Segoe UI" pitchFamily="34" charset="-122"/>
                <a:cs typeface="Segoe UI" pitchFamily="34" charset="-120"/>
              </a:rPr>
              <a:t>👥  Specialty &amp; Surgeon-Level Variation (Breadth-First Results)</a:t>
            </a:r>
            <a:endParaRPr lang="en-US" sz="2500" dirty="0"/>
          </a:p>
        </p:txBody>
      </p:sp>
      <p:sp>
        <p:nvSpPr>
          <p:cNvPr id="4" name="Shape 2"/>
          <p:cNvSpPr/>
          <p:nvPr/>
        </p:nvSpPr>
        <p:spPr>
          <a:xfrm>
            <a:off x="411480" y="1097280"/>
            <a:ext cx="5532120" cy="2377440"/>
          </a:xfrm>
          <a:prstGeom prst="roundRect">
            <a:avLst>
              <a:gd name="adj" fmla="val 3077"/>
            </a:avLst>
          </a:prstGeom>
          <a:solidFill>
            <a:srgbClr val="FFFFFF"/>
          </a:solidFill>
          <a:ln w="9525">
            <a:solidFill>
              <a:srgbClr val="E2E8F0"/>
            </a:solidFill>
            <a:prstDash val="solid"/>
          </a:ln>
        </p:spPr>
        <p:txBody>
          <a:bodyPr/>
          <a:lstStyle/>
          <a:p>
            <a:endParaRPr lang="en-US"/>
          </a:p>
        </p:txBody>
      </p:sp>
      <p:sp>
        <p:nvSpPr>
          <p:cNvPr id="5" name="Text 3"/>
          <p:cNvSpPr/>
          <p:nvPr/>
        </p:nvSpPr>
        <p:spPr>
          <a:xfrm>
            <a:off x="566928" y="1170432"/>
            <a:ext cx="5212080" cy="274320"/>
          </a:xfrm>
          <a:prstGeom prst="rect">
            <a:avLst/>
          </a:prstGeom>
          <a:noFill/>
          <a:ln/>
        </p:spPr>
        <p:txBody>
          <a:bodyPr wrap="square" rtlCol="0" anchor="ctr"/>
          <a:lstStyle/>
          <a:p>
            <a:pPr marL="0" indent="0">
              <a:buNone/>
            </a:pPr>
            <a:r>
              <a:rPr lang="en-US" sz="1100" b="1" dirty="0">
                <a:solidFill>
                  <a:srgbClr val="E53E3E"/>
                </a:solidFill>
                <a:latin typeface="Segoe UI" pitchFamily="34" charset="0"/>
                <a:ea typeface="Segoe UI" pitchFamily="34" charset="-122"/>
                <a:cs typeface="Segoe UI" pitchFamily="34" charset="-120"/>
              </a:rPr>
              <a:t>Cardiac — mean transition times</a:t>
            </a:r>
            <a:endParaRPr lang="en-US" sz="1100" dirty="0"/>
          </a:p>
        </p:txBody>
      </p:sp>
      <p:pic>
        <p:nvPicPr>
          <p:cNvPr id="6" name="Image 0" descr="Finale/Process_Maps/time/time_Surgeries/Mean_time/mean_time_surgery_CARDIAC.png"/>
          <p:cNvPicPr>
            <a:picLocks noChangeAspect="1"/>
          </p:cNvPicPr>
          <p:nvPr/>
        </p:nvPicPr>
        <p:blipFill>
          <a:blip r:embed="rId3"/>
          <a:srcRect/>
          <a:stretch/>
        </p:blipFill>
        <p:spPr>
          <a:xfrm>
            <a:off x="566928" y="1463040"/>
            <a:ext cx="5212080" cy="1874520"/>
          </a:xfrm>
          <a:prstGeom prst="rect">
            <a:avLst/>
          </a:prstGeom>
        </p:spPr>
      </p:pic>
      <p:sp>
        <p:nvSpPr>
          <p:cNvPr id="7" name="Shape 4"/>
          <p:cNvSpPr/>
          <p:nvPr/>
        </p:nvSpPr>
        <p:spPr>
          <a:xfrm>
            <a:off x="6217920" y="1097280"/>
            <a:ext cx="5532120" cy="2377440"/>
          </a:xfrm>
          <a:prstGeom prst="roundRect">
            <a:avLst>
              <a:gd name="adj" fmla="val 3077"/>
            </a:avLst>
          </a:prstGeom>
          <a:solidFill>
            <a:srgbClr val="FFFFFF"/>
          </a:solidFill>
          <a:ln w="9525">
            <a:solidFill>
              <a:srgbClr val="E2E8F0"/>
            </a:solidFill>
            <a:prstDash val="solid"/>
          </a:ln>
        </p:spPr>
        <p:txBody>
          <a:bodyPr/>
          <a:lstStyle/>
          <a:p>
            <a:endParaRPr lang="en-US"/>
          </a:p>
        </p:txBody>
      </p:sp>
      <p:sp>
        <p:nvSpPr>
          <p:cNvPr id="8" name="Text 5"/>
          <p:cNvSpPr/>
          <p:nvPr/>
        </p:nvSpPr>
        <p:spPr>
          <a:xfrm>
            <a:off x="6373368" y="1170432"/>
            <a:ext cx="5212080" cy="274320"/>
          </a:xfrm>
          <a:prstGeom prst="rect">
            <a:avLst/>
          </a:prstGeom>
          <a:noFill/>
          <a:ln/>
        </p:spPr>
        <p:txBody>
          <a:bodyPr wrap="square" rtlCol="0" anchor="ctr"/>
          <a:lstStyle/>
          <a:p>
            <a:pPr marL="0" indent="0">
              <a:buNone/>
            </a:pPr>
            <a:r>
              <a:rPr lang="en-US" sz="1100" b="1" dirty="0">
                <a:solidFill>
                  <a:srgbClr val="3182CE"/>
                </a:solidFill>
                <a:latin typeface="Segoe UI" pitchFamily="34" charset="0"/>
                <a:ea typeface="Segoe UI" pitchFamily="34" charset="-122"/>
                <a:cs typeface="Segoe UI" pitchFamily="34" charset="-120"/>
              </a:rPr>
              <a:t>Ophthalmology — mean transition times</a:t>
            </a:r>
            <a:endParaRPr lang="en-US" sz="1100" dirty="0"/>
          </a:p>
        </p:txBody>
      </p:sp>
      <p:sp>
        <p:nvSpPr>
          <p:cNvPr id="10" name="Shape 6"/>
          <p:cNvSpPr/>
          <p:nvPr/>
        </p:nvSpPr>
        <p:spPr>
          <a:xfrm>
            <a:off x="411480" y="3611880"/>
            <a:ext cx="5532120" cy="2240280"/>
          </a:xfrm>
          <a:prstGeom prst="roundRect">
            <a:avLst>
              <a:gd name="adj" fmla="val 3265"/>
            </a:avLst>
          </a:prstGeom>
          <a:solidFill>
            <a:srgbClr val="FFFFFF"/>
          </a:solidFill>
          <a:ln w="9525">
            <a:solidFill>
              <a:srgbClr val="E2E8F0"/>
            </a:solidFill>
            <a:prstDash val="solid"/>
          </a:ln>
        </p:spPr>
        <p:txBody>
          <a:bodyPr/>
          <a:lstStyle/>
          <a:p>
            <a:endParaRPr lang="en-US"/>
          </a:p>
        </p:txBody>
      </p:sp>
      <p:sp>
        <p:nvSpPr>
          <p:cNvPr id="11" name="Text 7"/>
          <p:cNvSpPr/>
          <p:nvPr/>
        </p:nvSpPr>
        <p:spPr>
          <a:xfrm>
            <a:off x="566928" y="3685032"/>
            <a:ext cx="5212080" cy="274320"/>
          </a:xfrm>
          <a:prstGeom prst="rect">
            <a:avLst/>
          </a:prstGeom>
          <a:noFill/>
          <a:ln/>
        </p:spPr>
        <p:txBody>
          <a:bodyPr wrap="square" rtlCol="0" anchor="ctr"/>
          <a:lstStyle/>
          <a:p>
            <a:pPr marL="0" indent="0">
              <a:buNone/>
            </a:pPr>
            <a:r>
              <a:rPr lang="en-US" sz="1100" b="1" dirty="0">
                <a:solidFill>
                  <a:srgbClr val="805AD5"/>
                </a:solidFill>
                <a:latin typeface="Segoe UI" pitchFamily="34" charset="0"/>
                <a:ea typeface="Segoe UI" pitchFamily="34" charset="-122"/>
                <a:cs typeface="Segoe UI" pitchFamily="34" charset="-120"/>
              </a:rPr>
              <a:t>Avg surgery time by surgeon — Main OR</a:t>
            </a:r>
            <a:endParaRPr lang="en-US" sz="1100" dirty="0"/>
          </a:p>
        </p:txBody>
      </p:sp>
      <p:pic>
        <p:nvPicPr>
          <p:cNvPr id="12" name="Image 2" descr="Finale/Bar_charts/(avg_surgery_time_MAIN-OR.png"/>
          <p:cNvPicPr>
            <a:picLocks noChangeAspect="1"/>
          </p:cNvPicPr>
          <p:nvPr/>
        </p:nvPicPr>
        <p:blipFill>
          <a:blip r:embed="rId4"/>
          <a:srcRect/>
          <a:stretch/>
        </p:blipFill>
        <p:spPr>
          <a:xfrm>
            <a:off x="566928" y="3977640"/>
            <a:ext cx="5212080" cy="1783080"/>
          </a:xfrm>
          <a:prstGeom prst="rect">
            <a:avLst/>
          </a:prstGeom>
        </p:spPr>
      </p:pic>
      <p:sp>
        <p:nvSpPr>
          <p:cNvPr id="13" name="Shape 8"/>
          <p:cNvSpPr/>
          <p:nvPr/>
        </p:nvSpPr>
        <p:spPr>
          <a:xfrm>
            <a:off x="6217920" y="3611880"/>
            <a:ext cx="5532120" cy="2240280"/>
          </a:xfrm>
          <a:prstGeom prst="roundRect">
            <a:avLst>
              <a:gd name="adj" fmla="val 3265"/>
            </a:avLst>
          </a:prstGeom>
          <a:solidFill>
            <a:srgbClr val="FFFFFF"/>
          </a:solidFill>
          <a:ln w="9525">
            <a:solidFill>
              <a:srgbClr val="E2E8F0"/>
            </a:solidFill>
            <a:prstDash val="solid"/>
          </a:ln>
        </p:spPr>
        <p:txBody>
          <a:bodyPr/>
          <a:lstStyle/>
          <a:p>
            <a:endParaRPr lang="en-US"/>
          </a:p>
        </p:txBody>
      </p:sp>
      <p:sp>
        <p:nvSpPr>
          <p:cNvPr id="14" name="Text 9"/>
          <p:cNvSpPr/>
          <p:nvPr/>
        </p:nvSpPr>
        <p:spPr>
          <a:xfrm>
            <a:off x="6373368" y="3685032"/>
            <a:ext cx="5212080" cy="274320"/>
          </a:xfrm>
          <a:prstGeom prst="rect">
            <a:avLst/>
          </a:prstGeom>
          <a:noFill/>
          <a:ln/>
        </p:spPr>
        <p:txBody>
          <a:bodyPr wrap="square" rtlCol="0" anchor="ctr"/>
          <a:lstStyle/>
          <a:p>
            <a:pPr marL="0" indent="0">
              <a:buNone/>
            </a:pPr>
            <a:r>
              <a:rPr lang="en-US" sz="1100" b="1" dirty="0">
                <a:solidFill>
                  <a:srgbClr val="805AD5"/>
                </a:solidFill>
                <a:latin typeface="Segoe UI" pitchFamily="34" charset="0"/>
                <a:ea typeface="Segoe UI" pitchFamily="34" charset="-122"/>
                <a:cs typeface="Segoe UI" pitchFamily="34" charset="-120"/>
              </a:rPr>
              <a:t>Avg surgery time by surgeon — Same Day Care</a:t>
            </a:r>
            <a:endParaRPr lang="en-US" sz="1100" dirty="0"/>
          </a:p>
        </p:txBody>
      </p:sp>
      <p:pic>
        <p:nvPicPr>
          <p:cNvPr id="15" name="Image 3" descr="Finale/Bar_charts/(avg_surgery_time_SDC.png"/>
          <p:cNvPicPr>
            <a:picLocks noChangeAspect="1"/>
          </p:cNvPicPr>
          <p:nvPr/>
        </p:nvPicPr>
        <p:blipFill>
          <a:blip r:embed="rId5"/>
          <a:srcRect/>
          <a:stretch/>
        </p:blipFill>
        <p:spPr>
          <a:xfrm>
            <a:off x="6373368" y="3977640"/>
            <a:ext cx="5212080" cy="1783080"/>
          </a:xfrm>
          <a:prstGeom prst="rect">
            <a:avLst/>
          </a:prstGeom>
        </p:spPr>
      </p:pic>
      <p:sp>
        <p:nvSpPr>
          <p:cNvPr id="16" name="Shape 10"/>
          <p:cNvSpPr/>
          <p:nvPr/>
        </p:nvSpPr>
        <p:spPr>
          <a:xfrm>
            <a:off x="411480" y="5989320"/>
            <a:ext cx="11365992" cy="502920"/>
          </a:xfrm>
          <a:prstGeom prst="roundRect">
            <a:avLst>
              <a:gd name="adj" fmla="val 14545"/>
            </a:avLst>
          </a:prstGeom>
          <a:solidFill>
            <a:srgbClr val="1A365D"/>
          </a:solidFill>
          <a:ln/>
        </p:spPr>
        <p:txBody>
          <a:bodyPr/>
          <a:lstStyle/>
          <a:p>
            <a:endParaRPr lang="en-US"/>
          </a:p>
        </p:txBody>
      </p:sp>
      <p:sp>
        <p:nvSpPr>
          <p:cNvPr id="17" name="Text 11"/>
          <p:cNvSpPr/>
          <p:nvPr/>
        </p:nvSpPr>
        <p:spPr>
          <a:xfrm>
            <a:off x="548640" y="5989320"/>
            <a:ext cx="11091672" cy="502920"/>
          </a:xfrm>
          <a:prstGeom prst="rect">
            <a:avLst/>
          </a:prstGeom>
          <a:noFill/>
          <a:ln/>
        </p:spPr>
        <p:txBody>
          <a:bodyPr wrap="square" rtlCol="0" anchor="ctr"/>
          <a:lstStyle/>
          <a:p>
            <a:pPr marL="0" indent="0" algn="ctr">
              <a:buNone/>
            </a:pPr>
            <a:r>
              <a:rPr lang="en-US" sz="1250" b="1" dirty="0">
                <a:solidFill>
                  <a:srgbClr val="FFFFFF"/>
                </a:solidFill>
                <a:latin typeface="Segoe UI" pitchFamily="34" charset="0"/>
                <a:ea typeface="Segoe UI" pitchFamily="34" charset="-122"/>
                <a:cs typeface="Segoe UI" pitchFamily="34" charset="-120"/>
              </a:rPr>
              <a:t>Surgeon duration rankings are NOT stable across locations — scheduling must model surgeon × location, not surgeon alone</a:t>
            </a:r>
            <a:endParaRPr lang="en-US" sz="1250" dirty="0"/>
          </a:p>
        </p:txBody>
      </p:sp>
      <p:pic>
        <p:nvPicPr>
          <p:cNvPr id="19" name="Picture 18">
            <a:extLst>
              <a:ext uri="{FF2B5EF4-FFF2-40B4-BE49-F238E27FC236}">
                <a16:creationId xmlns:a16="http://schemas.microsoft.com/office/drawing/2014/main" id="{A53F2427-F021-C9A1-1599-5E96C4B9C0ED}"/>
              </a:ext>
            </a:extLst>
          </p:cNvPr>
          <p:cNvPicPr>
            <a:picLocks noChangeAspect="1"/>
          </p:cNvPicPr>
          <p:nvPr/>
        </p:nvPicPr>
        <p:blipFill>
          <a:blip r:embed="rId6"/>
          <a:stretch>
            <a:fillRect/>
          </a:stretch>
        </p:blipFill>
        <p:spPr>
          <a:xfrm>
            <a:off x="6373368" y="1866623"/>
            <a:ext cx="5212080" cy="83875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92608"/>
            <a:ext cx="64008" cy="475488"/>
          </a:xfrm>
          <a:prstGeom prst="rect">
            <a:avLst/>
          </a:prstGeom>
          <a:solidFill>
            <a:srgbClr val="2C5282"/>
          </a:solidFill>
          <a:ln/>
        </p:spPr>
        <p:txBody>
          <a:bodyPr/>
          <a:lstStyle/>
          <a:p>
            <a:endParaRPr lang="en-US"/>
          </a:p>
        </p:txBody>
      </p:sp>
      <p:sp>
        <p:nvSpPr>
          <p:cNvPr id="3" name="Text 1"/>
          <p:cNvSpPr/>
          <p:nvPr/>
        </p:nvSpPr>
        <p:spPr>
          <a:xfrm>
            <a:off x="566928" y="237744"/>
            <a:ext cx="11155680" cy="585216"/>
          </a:xfrm>
          <a:prstGeom prst="rect">
            <a:avLst/>
          </a:prstGeom>
          <a:noFill/>
          <a:ln/>
        </p:spPr>
        <p:txBody>
          <a:bodyPr wrap="square" rtlCol="0" anchor="ctr"/>
          <a:lstStyle/>
          <a:p>
            <a:pPr marL="0" indent="0" algn="l">
              <a:buNone/>
            </a:pPr>
            <a:r>
              <a:rPr lang="en-US" sz="2500" b="1" dirty="0">
                <a:solidFill>
                  <a:srgbClr val="1A365D"/>
                </a:solidFill>
                <a:latin typeface="Segoe UI" pitchFamily="34" charset="0"/>
                <a:ea typeface="Segoe UI" pitchFamily="34" charset="-122"/>
                <a:cs typeface="Segoe UI" pitchFamily="34" charset="-120"/>
              </a:rPr>
              <a:t>⚖️  Comparative Analysis</a:t>
            </a:r>
            <a:endParaRPr lang="en-US" sz="2500" dirty="0"/>
          </a:p>
        </p:txBody>
      </p:sp>
      <p:sp>
        <p:nvSpPr>
          <p:cNvPr id="4" name="Text 2"/>
          <p:cNvSpPr/>
          <p:nvPr/>
        </p:nvSpPr>
        <p:spPr>
          <a:xfrm>
            <a:off x="411480" y="1361440"/>
            <a:ext cx="8229600" cy="329184"/>
          </a:xfrm>
          <a:prstGeom prst="rect">
            <a:avLst/>
          </a:prstGeom>
          <a:noFill/>
          <a:ln/>
        </p:spPr>
        <p:txBody>
          <a:bodyPr wrap="square" rtlCol="0" anchor="ctr"/>
          <a:lstStyle/>
          <a:p>
            <a:pPr marL="0" indent="0">
              <a:buNone/>
            </a:pPr>
            <a:r>
              <a:rPr lang="en-US" sz="1350" b="1" dirty="0">
                <a:solidFill>
                  <a:srgbClr val="1A202C"/>
                </a:solidFill>
                <a:latin typeface="Segoe UI" pitchFamily="34" charset="0"/>
                <a:ea typeface="Segoe UI" pitchFamily="34" charset="-122"/>
                <a:cs typeface="Segoe UI" pitchFamily="34" charset="-120"/>
              </a:rPr>
              <a:t>Bayesian vs. Baseline — Evaluation Metrics</a:t>
            </a:r>
            <a:endParaRPr lang="en-US" sz="1350" dirty="0"/>
          </a:p>
        </p:txBody>
      </p:sp>
      <p:sp>
        <p:nvSpPr>
          <p:cNvPr id="5" name="Shape 3"/>
          <p:cNvSpPr/>
          <p:nvPr/>
        </p:nvSpPr>
        <p:spPr>
          <a:xfrm>
            <a:off x="411480" y="1772920"/>
            <a:ext cx="2148840" cy="1965960"/>
          </a:xfrm>
          <a:prstGeom prst="roundRect">
            <a:avLst>
              <a:gd name="adj" fmla="val 3721"/>
            </a:avLst>
          </a:prstGeom>
          <a:solidFill>
            <a:srgbClr val="EBF8FF"/>
          </a:solidFill>
          <a:ln w="9525">
            <a:solidFill>
              <a:srgbClr val="E2E8F0"/>
            </a:solidFill>
            <a:prstDash val="solid"/>
          </a:ln>
        </p:spPr>
        <p:txBody>
          <a:bodyPr/>
          <a:lstStyle/>
          <a:p>
            <a:endParaRPr lang="en-US"/>
          </a:p>
        </p:txBody>
      </p:sp>
      <p:sp>
        <p:nvSpPr>
          <p:cNvPr id="6" name="Text 4"/>
          <p:cNvSpPr/>
          <p:nvPr/>
        </p:nvSpPr>
        <p:spPr>
          <a:xfrm>
            <a:off x="411480" y="1891792"/>
            <a:ext cx="2148840" cy="274320"/>
          </a:xfrm>
          <a:prstGeom prst="rect">
            <a:avLst/>
          </a:prstGeom>
          <a:noFill/>
          <a:ln/>
        </p:spPr>
        <p:txBody>
          <a:bodyPr wrap="square" rtlCol="0" anchor="ctr"/>
          <a:lstStyle/>
          <a:p>
            <a:pPr marL="0" indent="0" algn="ctr">
              <a:buNone/>
            </a:pPr>
            <a:r>
              <a:rPr lang="en-US" sz="950" b="1" kern="0" spc="50" dirty="0">
                <a:solidFill>
                  <a:srgbClr val="718096"/>
                </a:solidFill>
                <a:latin typeface="Segoe UI" pitchFamily="34" charset="0"/>
                <a:ea typeface="Segoe UI" pitchFamily="34" charset="-122"/>
                <a:cs typeface="Segoe UI" pitchFamily="34" charset="-120"/>
              </a:rPr>
              <a:t>FITNESS</a:t>
            </a:r>
            <a:endParaRPr lang="en-US" sz="950" dirty="0"/>
          </a:p>
        </p:txBody>
      </p:sp>
      <p:sp>
        <p:nvSpPr>
          <p:cNvPr id="7" name="Text 5"/>
          <p:cNvSpPr/>
          <p:nvPr/>
        </p:nvSpPr>
        <p:spPr>
          <a:xfrm>
            <a:off x="411480" y="2166112"/>
            <a:ext cx="2148840" cy="384048"/>
          </a:xfrm>
          <a:prstGeom prst="rect">
            <a:avLst/>
          </a:prstGeom>
          <a:noFill/>
          <a:ln/>
        </p:spPr>
        <p:txBody>
          <a:bodyPr wrap="square" rtlCol="0" anchor="ctr"/>
          <a:lstStyle/>
          <a:p>
            <a:pPr marL="0" indent="0" algn="ctr">
              <a:buNone/>
            </a:pPr>
            <a:r>
              <a:rPr lang="en-US" sz="1900" b="1" dirty="0">
                <a:solidFill>
                  <a:srgbClr val="718096"/>
                </a:solidFill>
                <a:latin typeface="Segoe UI" pitchFamily="34" charset="0"/>
                <a:ea typeface="Segoe UI" pitchFamily="34" charset="-122"/>
                <a:cs typeface="Segoe UI" pitchFamily="34" charset="-120"/>
              </a:rPr>
              <a:t>0.942</a:t>
            </a:r>
            <a:endParaRPr lang="en-US" sz="1900" dirty="0"/>
          </a:p>
        </p:txBody>
      </p:sp>
      <p:sp>
        <p:nvSpPr>
          <p:cNvPr id="8" name="Text 6"/>
          <p:cNvSpPr/>
          <p:nvPr/>
        </p:nvSpPr>
        <p:spPr>
          <a:xfrm>
            <a:off x="411480" y="2550160"/>
            <a:ext cx="2148840" cy="274320"/>
          </a:xfrm>
          <a:prstGeom prst="rect">
            <a:avLst/>
          </a:prstGeom>
          <a:noFill/>
          <a:ln/>
        </p:spPr>
        <p:txBody>
          <a:bodyPr wrap="square" rtlCol="0" anchor="ctr"/>
          <a:lstStyle/>
          <a:p>
            <a:pPr marL="0" indent="0" algn="ctr">
              <a:buNone/>
            </a:pPr>
            <a:r>
              <a:rPr lang="en-US" sz="1300" dirty="0">
                <a:solidFill>
                  <a:srgbClr val="718096"/>
                </a:solidFill>
                <a:latin typeface="Segoe UI" pitchFamily="34" charset="0"/>
                <a:ea typeface="Segoe UI" pitchFamily="34" charset="-122"/>
                <a:cs typeface="Segoe UI" pitchFamily="34" charset="-120"/>
              </a:rPr>
              <a:t>↓</a:t>
            </a:r>
            <a:endParaRPr lang="en-US" sz="1300" dirty="0"/>
          </a:p>
        </p:txBody>
      </p:sp>
      <p:sp>
        <p:nvSpPr>
          <p:cNvPr id="9" name="Text 7"/>
          <p:cNvSpPr/>
          <p:nvPr/>
        </p:nvSpPr>
        <p:spPr>
          <a:xfrm>
            <a:off x="411480" y="2824480"/>
            <a:ext cx="2148840" cy="420624"/>
          </a:xfrm>
          <a:prstGeom prst="rect">
            <a:avLst/>
          </a:prstGeom>
          <a:noFill/>
          <a:ln/>
        </p:spPr>
        <p:txBody>
          <a:bodyPr wrap="square" rtlCol="0" anchor="ctr"/>
          <a:lstStyle/>
          <a:p>
            <a:pPr marL="0" indent="0" algn="ctr">
              <a:buNone/>
            </a:pPr>
            <a:r>
              <a:rPr lang="en-US" sz="2100" b="1" dirty="0">
                <a:solidFill>
                  <a:srgbClr val="3182CE"/>
                </a:solidFill>
                <a:latin typeface="Segoe UI" pitchFamily="34" charset="0"/>
                <a:ea typeface="Segoe UI" pitchFamily="34" charset="-122"/>
                <a:cs typeface="Segoe UI" pitchFamily="34" charset="-120"/>
              </a:rPr>
              <a:t>0.967</a:t>
            </a:r>
            <a:endParaRPr lang="en-US" sz="2100" dirty="0"/>
          </a:p>
        </p:txBody>
      </p:sp>
      <p:sp>
        <p:nvSpPr>
          <p:cNvPr id="10" name="Text 8"/>
          <p:cNvSpPr/>
          <p:nvPr/>
        </p:nvSpPr>
        <p:spPr>
          <a:xfrm>
            <a:off x="411480" y="3281680"/>
            <a:ext cx="2148840" cy="292608"/>
          </a:xfrm>
          <a:prstGeom prst="rect">
            <a:avLst/>
          </a:prstGeom>
          <a:noFill/>
          <a:ln/>
        </p:spPr>
        <p:txBody>
          <a:bodyPr wrap="square" rtlCol="0" anchor="ctr"/>
          <a:lstStyle/>
          <a:p>
            <a:pPr marL="0" indent="0" algn="ctr">
              <a:buNone/>
            </a:pPr>
            <a:r>
              <a:rPr lang="en-US" sz="1050" b="1" dirty="0">
                <a:solidFill>
                  <a:srgbClr val="3182CE"/>
                </a:solidFill>
                <a:latin typeface="Segoe UI" pitchFamily="34" charset="0"/>
                <a:ea typeface="Segoe UI" pitchFamily="34" charset="-122"/>
                <a:cs typeface="Segoe UI" pitchFamily="34" charset="-120"/>
              </a:rPr>
              <a:t>▲ +2.7%</a:t>
            </a:r>
            <a:endParaRPr lang="en-US" sz="1050" dirty="0"/>
          </a:p>
        </p:txBody>
      </p:sp>
      <p:sp>
        <p:nvSpPr>
          <p:cNvPr id="11" name="Shape 9"/>
          <p:cNvSpPr/>
          <p:nvPr/>
        </p:nvSpPr>
        <p:spPr>
          <a:xfrm>
            <a:off x="2724912" y="1772920"/>
            <a:ext cx="2148840" cy="1965960"/>
          </a:xfrm>
          <a:prstGeom prst="roundRect">
            <a:avLst>
              <a:gd name="adj" fmla="val 3721"/>
            </a:avLst>
          </a:prstGeom>
          <a:solidFill>
            <a:srgbClr val="EBF8FF"/>
          </a:solidFill>
          <a:ln w="9525">
            <a:solidFill>
              <a:srgbClr val="E2E8F0"/>
            </a:solidFill>
            <a:prstDash val="solid"/>
          </a:ln>
        </p:spPr>
        <p:txBody>
          <a:bodyPr/>
          <a:lstStyle/>
          <a:p>
            <a:endParaRPr lang="en-US"/>
          </a:p>
        </p:txBody>
      </p:sp>
      <p:sp>
        <p:nvSpPr>
          <p:cNvPr id="12" name="Text 10"/>
          <p:cNvSpPr/>
          <p:nvPr/>
        </p:nvSpPr>
        <p:spPr>
          <a:xfrm>
            <a:off x="2724912" y="1891792"/>
            <a:ext cx="2148840" cy="274320"/>
          </a:xfrm>
          <a:prstGeom prst="rect">
            <a:avLst/>
          </a:prstGeom>
          <a:noFill/>
          <a:ln/>
        </p:spPr>
        <p:txBody>
          <a:bodyPr wrap="square" rtlCol="0" anchor="ctr"/>
          <a:lstStyle/>
          <a:p>
            <a:pPr marL="0" indent="0" algn="ctr">
              <a:buNone/>
            </a:pPr>
            <a:r>
              <a:rPr lang="en-US" sz="950" b="1" kern="0" spc="50" dirty="0">
                <a:solidFill>
                  <a:srgbClr val="718096"/>
                </a:solidFill>
                <a:latin typeface="Segoe UI" pitchFamily="34" charset="0"/>
                <a:ea typeface="Segoe UI" pitchFamily="34" charset="-122"/>
                <a:cs typeface="Segoe UI" pitchFamily="34" charset="-120"/>
              </a:rPr>
              <a:t>PRECISION</a:t>
            </a:r>
            <a:endParaRPr lang="en-US" sz="950" dirty="0"/>
          </a:p>
        </p:txBody>
      </p:sp>
      <p:sp>
        <p:nvSpPr>
          <p:cNvPr id="13" name="Text 11"/>
          <p:cNvSpPr/>
          <p:nvPr/>
        </p:nvSpPr>
        <p:spPr>
          <a:xfrm>
            <a:off x="2724912" y="2166112"/>
            <a:ext cx="2148840" cy="384048"/>
          </a:xfrm>
          <a:prstGeom prst="rect">
            <a:avLst/>
          </a:prstGeom>
          <a:noFill/>
          <a:ln/>
        </p:spPr>
        <p:txBody>
          <a:bodyPr wrap="square" rtlCol="0" anchor="ctr"/>
          <a:lstStyle/>
          <a:p>
            <a:pPr marL="0" indent="0" algn="ctr">
              <a:buNone/>
            </a:pPr>
            <a:r>
              <a:rPr lang="en-US" sz="1900" b="1" dirty="0">
                <a:solidFill>
                  <a:srgbClr val="718096"/>
                </a:solidFill>
                <a:latin typeface="Segoe UI" pitchFamily="34" charset="0"/>
                <a:ea typeface="Segoe UI" pitchFamily="34" charset="-122"/>
                <a:cs typeface="Segoe UI" pitchFamily="34" charset="-120"/>
              </a:rPr>
              <a:t>0.781</a:t>
            </a:r>
            <a:endParaRPr lang="en-US" sz="1900" dirty="0"/>
          </a:p>
        </p:txBody>
      </p:sp>
      <p:sp>
        <p:nvSpPr>
          <p:cNvPr id="14" name="Text 12"/>
          <p:cNvSpPr/>
          <p:nvPr/>
        </p:nvSpPr>
        <p:spPr>
          <a:xfrm>
            <a:off x="2724912" y="2550160"/>
            <a:ext cx="2148840" cy="274320"/>
          </a:xfrm>
          <a:prstGeom prst="rect">
            <a:avLst/>
          </a:prstGeom>
          <a:noFill/>
          <a:ln/>
        </p:spPr>
        <p:txBody>
          <a:bodyPr wrap="square" rtlCol="0" anchor="ctr"/>
          <a:lstStyle/>
          <a:p>
            <a:pPr marL="0" indent="0" algn="ctr">
              <a:buNone/>
            </a:pPr>
            <a:r>
              <a:rPr lang="en-US" sz="1300" dirty="0">
                <a:solidFill>
                  <a:srgbClr val="718096"/>
                </a:solidFill>
                <a:latin typeface="Segoe UI" pitchFamily="34" charset="0"/>
                <a:ea typeface="Segoe UI" pitchFamily="34" charset="-122"/>
                <a:cs typeface="Segoe UI" pitchFamily="34" charset="-120"/>
              </a:rPr>
              <a:t>↓</a:t>
            </a:r>
            <a:endParaRPr lang="en-US" sz="1300" dirty="0"/>
          </a:p>
        </p:txBody>
      </p:sp>
      <p:sp>
        <p:nvSpPr>
          <p:cNvPr id="15" name="Text 13"/>
          <p:cNvSpPr/>
          <p:nvPr/>
        </p:nvSpPr>
        <p:spPr>
          <a:xfrm>
            <a:off x="2724912" y="2824480"/>
            <a:ext cx="2148840" cy="420624"/>
          </a:xfrm>
          <a:prstGeom prst="rect">
            <a:avLst/>
          </a:prstGeom>
          <a:noFill/>
          <a:ln/>
        </p:spPr>
        <p:txBody>
          <a:bodyPr wrap="square" rtlCol="0" anchor="ctr"/>
          <a:lstStyle/>
          <a:p>
            <a:pPr marL="0" indent="0" algn="ctr">
              <a:buNone/>
            </a:pPr>
            <a:r>
              <a:rPr lang="en-US" sz="2100" b="1" dirty="0">
                <a:solidFill>
                  <a:srgbClr val="3182CE"/>
                </a:solidFill>
                <a:latin typeface="Segoe UI" pitchFamily="34" charset="0"/>
                <a:ea typeface="Segoe UI" pitchFamily="34" charset="-122"/>
                <a:cs typeface="Segoe UI" pitchFamily="34" charset="-120"/>
              </a:rPr>
              <a:t>0.834</a:t>
            </a:r>
            <a:endParaRPr lang="en-US" sz="2100" dirty="0"/>
          </a:p>
        </p:txBody>
      </p:sp>
      <p:sp>
        <p:nvSpPr>
          <p:cNvPr id="16" name="Text 14"/>
          <p:cNvSpPr/>
          <p:nvPr/>
        </p:nvSpPr>
        <p:spPr>
          <a:xfrm>
            <a:off x="2724912" y="3281680"/>
            <a:ext cx="2148840" cy="292608"/>
          </a:xfrm>
          <a:prstGeom prst="rect">
            <a:avLst/>
          </a:prstGeom>
          <a:noFill/>
          <a:ln/>
        </p:spPr>
        <p:txBody>
          <a:bodyPr wrap="square" rtlCol="0" anchor="ctr"/>
          <a:lstStyle/>
          <a:p>
            <a:pPr marL="0" indent="0" algn="ctr">
              <a:buNone/>
            </a:pPr>
            <a:r>
              <a:rPr lang="en-US" sz="1050" b="1" dirty="0">
                <a:solidFill>
                  <a:srgbClr val="3182CE"/>
                </a:solidFill>
                <a:latin typeface="Segoe UI" pitchFamily="34" charset="0"/>
                <a:ea typeface="Segoe UI" pitchFamily="34" charset="-122"/>
                <a:cs typeface="Segoe UI" pitchFamily="34" charset="-120"/>
              </a:rPr>
              <a:t>▲ +6.8%</a:t>
            </a:r>
            <a:endParaRPr lang="en-US" sz="1050" dirty="0"/>
          </a:p>
        </p:txBody>
      </p:sp>
      <p:sp>
        <p:nvSpPr>
          <p:cNvPr id="17" name="Shape 15"/>
          <p:cNvSpPr/>
          <p:nvPr/>
        </p:nvSpPr>
        <p:spPr>
          <a:xfrm>
            <a:off x="5038344" y="1772920"/>
            <a:ext cx="2148840" cy="1965960"/>
          </a:xfrm>
          <a:prstGeom prst="roundRect">
            <a:avLst>
              <a:gd name="adj" fmla="val 3721"/>
            </a:avLst>
          </a:prstGeom>
          <a:solidFill>
            <a:srgbClr val="EBF8FF"/>
          </a:solidFill>
          <a:ln w="9525">
            <a:solidFill>
              <a:srgbClr val="E2E8F0"/>
            </a:solidFill>
            <a:prstDash val="solid"/>
          </a:ln>
        </p:spPr>
        <p:txBody>
          <a:bodyPr/>
          <a:lstStyle/>
          <a:p>
            <a:endParaRPr lang="en-US"/>
          </a:p>
        </p:txBody>
      </p:sp>
      <p:sp>
        <p:nvSpPr>
          <p:cNvPr id="18" name="Text 16"/>
          <p:cNvSpPr/>
          <p:nvPr/>
        </p:nvSpPr>
        <p:spPr>
          <a:xfrm>
            <a:off x="5038344" y="1891792"/>
            <a:ext cx="2148840" cy="274320"/>
          </a:xfrm>
          <a:prstGeom prst="rect">
            <a:avLst/>
          </a:prstGeom>
          <a:noFill/>
          <a:ln/>
        </p:spPr>
        <p:txBody>
          <a:bodyPr wrap="square" rtlCol="0" anchor="ctr"/>
          <a:lstStyle/>
          <a:p>
            <a:pPr marL="0" indent="0" algn="ctr">
              <a:buNone/>
            </a:pPr>
            <a:r>
              <a:rPr lang="en-US" sz="950" b="1" kern="0" spc="50" dirty="0">
                <a:solidFill>
                  <a:srgbClr val="718096"/>
                </a:solidFill>
                <a:latin typeface="Segoe UI" pitchFamily="34" charset="0"/>
                <a:ea typeface="Segoe UI" pitchFamily="34" charset="-122"/>
                <a:cs typeface="Segoe UI" pitchFamily="34" charset="-120"/>
              </a:rPr>
              <a:t>GENERALIZATION</a:t>
            </a:r>
            <a:endParaRPr lang="en-US" sz="950" dirty="0"/>
          </a:p>
        </p:txBody>
      </p:sp>
      <p:sp>
        <p:nvSpPr>
          <p:cNvPr id="19" name="Text 17"/>
          <p:cNvSpPr/>
          <p:nvPr/>
        </p:nvSpPr>
        <p:spPr>
          <a:xfrm>
            <a:off x="5038344" y="2166112"/>
            <a:ext cx="2148840" cy="384048"/>
          </a:xfrm>
          <a:prstGeom prst="rect">
            <a:avLst/>
          </a:prstGeom>
          <a:noFill/>
          <a:ln/>
        </p:spPr>
        <p:txBody>
          <a:bodyPr wrap="square" rtlCol="0" anchor="ctr"/>
          <a:lstStyle/>
          <a:p>
            <a:pPr marL="0" indent="0" algn="ctr">
              <a:buNone/>
            </a:pPr>
            <a:r>
              <a:rPr lang="en-US" sz="1900" b="1" dirty="0">
                <a:solidFill>
                  <a:srgbClr val="718096"/>
                </a:solidFill>
                <a:latin typeface="Segoe UI" pitchFamily="34" charset="0"/>
                <a:ea typeface="Segoe UI" pitchFamily="34" charset="-122"/>
                <a:cs typeface="Segoe UI" pitchFamily="34" charset="-120"/>
              </a:rPr>
              <a:t>0.812</a:t>
            </a:r>
            <a:endParaRPr lang="en-US" sz="1900" dirty="0"/>
          </a:p>
        </p:txBody>
      </p:sp>
      <p:sp>
        <p:nvSpPr>
          <p:cNvPr id="20" name="Text 18"/>
          <p:cNvSpPr/>
          <p:nvPr/>
        </p:nvSpPr>
        <p:spPr>
          <a:xfrm>
            <a:off x="5038344" y="2550160"/>
            <a:ext cx="2148840" cy="274320"/>
          </a:xfrm>
          <a:prstGeom prst="rect">
            <a:avLst/>
          </a:prstGeom>
          <a:noFill/>
          <a:ln/>
        </p:spPr>
        <p:txBody>
          <a:bodyPr wrap="square" rtlCol="0" anchor="ctr"/>
          <a:lstStyle/>
          <a:p>
            <a:pPr marL="0" indent="0" algn="ctr">
              <a:buNone/>
            </a:pPr>
            <a:r>
              <a:rPr lang="en-US" sz="1300" dirty="0">
                <a:solidFill>
                  <a:srgbClr val="718096"/>
                </a:solidFill>
                <a:latin typeface="Segoe UI" pitchFamily="34" charset="0"/>
                <a:ea typeface="Segoe UI" pitchFamily="34" charset="-122"/>
                <a:cs typeface="Segoe UI" pitchFamily="34" charset="-120"/>
              </a:rPr>
              <a:t>↓</a:t>
            </a:r>
            <a:endParaRPr lang="en-US" sz="1300" dirty="0"/>
          </a:p>
        </p:txBody>
      </p:sp>
      <p:sp>
        <p:nvSpPr>
          <p:cNvPr id="21" name="Text 19"/>
          <p:cNvSpPr/>
          <p:nvPr/>
        </p:nvSpPr>
        <p:spPr>
          <a:xfrm>
            <a:off x="5038344" y="2824480"/>
            <a:ext cx="2148840" cy="420624"/>
          </a:xfrm>
          <a:prstGeom prst="rect">
            <a:avLst/>
          </a:prstGeom>
          <a:noFill/>
          <a:ln/>
        </p:spPr>
        <p:txBody>
          <a:bodyPr wrap="square" rtlCol="0" anchor="ctr"/>
          <a:lstStyle/>
          <a:p>
            <a:pPr marL="0" indent="0" algn="ctr">
              <a:buNone/>
            </a:pPr>
            <a:r>
              <a:rPr lang="en-US" sz="2100" b="1" dirty="0">
                <a:solidFill>
                  <a:srgbClr val="3182CE"/>
                </a:solidFill>
                <a:latin typeface="Segoe UI" pitchFamily="34" charset="0"/>
                <a:ea typeface="Segoe UI" pitchFamily="34" charset="-122"/>
                <a:cs typeface="Segoe UI" pitchFamily="34" charset="-120"/>
              </a:rPr>
              <a:t>0.846</a:t>
            </a:r>
            <a:endParaRPr lang="en-US" sz="2100" dirty="0"/>
          </a:p>
        </p:txBody>
      </p:sp>
      <p:sp>
        <p:nvSpPr>
          <p:cNvPr id="22" name="Text 20"/>
          <p:cNvSpPr/>
          <p:nvPr/>
        </p:nvSpPr>
        <p:spPr>
          <a:xfrm>
            <a:off x="5038344" y="3281680"/>
            <a:ext cx="2148840" cy="292608"/>
          </a:xfrm>
          <a:prstGeom prst="rect">
            <a:avLst/>
          </a:prstGeom>
          <a:noFill/>
          <a:ln/>
        </p:spPr>
        <p:txBody>
          <a:bodyPr wrap="square" rtlCol="0" anchor="ctr"/>
          <a:lstStyle/>
          <a:p>
            <a:pPr marL="0" indent="0" algn="ctr">
              <a:buNone/>
            </a:pPr>
            <a:r>
              <a:rPr lang="en-US" sz="1050" b="1" dirty="0">
                <a:solidFill>
                  <a:srgbClr val="3182CE"/>
                </a:solidFill>
                <a:latin typeface="Segoe UI" pitchFamily="34" charset="0"/>
                <a:ea typeface="Segoe UI" pitchFamily="34" charset="-122"/>
                <a:cs typeface="Segoe UI" pitchFamily="34" charset="-120"/>
              </a:rPr>
              <a:t>▲ +4.2%</a:t>
            </a:r>
            <a:endParaRPr lang="en-US" sz="1050" dirty="0"/>
          </a:p>
        </p:txBody>
      </p:sp>
      <p:sp>
        <p:nvSpPr>
          <p:cNvPr id="23" name="Shape 21"/>
          <p:cNvSpPr/>
          <p:nvPr/>
        </p:nvSpPr>
        <p:spPr>
          <a:xfrm>
            <a:off x="7351776" y="1772920"/>
            <a:ext cx="2148840" cy="1965960"/>
          </a:xfrm>
          <a:prstGeom prst="roundRect">
            <a:avLst>
              <a:gd name="adj" fmla="val 3721"/>
            </a:avLst>
          </a:prstGeom>
          <a:solidFill>
            <a:srgbClr val="FFF5F5"/>
          </a:solidFill>
          <a:ln w="9525">
            <a:solidFill>
              <a:srgbClr val="E2E8F0"/>
            </a:solidFill>
            <a:prstDash val="solid"/>
          </a:ln>
        </p:spPr>
        <p:txBody>
          <a:bodyPr/>
          <a:lstStyle/>
          <a:p>
            <a:endParaRPr lang="en-US"/>
          </a:p>
        </p:txBody>
      </p:sp>
      <p:sp>
        <p:nvSpPr>
          <p:cNvPr id="24" name="Text 22"/>
          <p:cNvSpPr/>
          <p:nvPr/>
        </p:nvSpPr>
        <p:spPr>
          <a:xfrm>
            <a:off x="7351776" y="1891792"/>
            <a:ext cx="2148840" cy="274320"/>
          </a:xfrm>
          <a:prstGeom prst="rect">
            <a:avLst/>
          </a:prstGeom>
          <a:noFill/>
          <a:ln/>
        </p:spPr>
        <p:txBody>
          <a:bodyPr wrap="square" rtlCol="0" anchor="ctr"/>
          <a:lstStyle/>
          <a:p>
            <a:pPr marL="0" indent="0" algn="ctr">
              <a:buNone/>
            </a:pPr>
            <a:r>
              <a:rPr lang="en-US" sz="950" b="1" kern="0" spc="50" dirty="0">
                <a:solidFill>
                  <a:srgbClr val="718096"/>
                </a:solidFill>
                <a:latin typeface="Segoe UI" pitchFamily="34" charset="0"/>
                <a:ea typeface="Segoe UI" pitchFamily="34" charset="-122"/>
                <a:cs typeface="Segoe UI" pitchFamily="34" charset="-120"/>
              </a:rPr>
              <a:t>SIMPLICITY</a:t>
            </a:r>
            <a:endParaRPr lang="en-US" sz="950" dirty="0"/>
          </a:p>
        </p:txBody>
      </p:sp>
      <p:sp>
        <p:nvSpPr>
          <p:cNvPr id="25" name="Text 23"/>
          <p:cNvSpPr/>
          <p:nvPr/>
        </p:nvSpPr>
        <p:spPr>
          <a:xfrm>
            <a:off x="7351776" y="2166112"/>
            <a:ext cx="2148840" cy="384048"/>
          </a:xfrm>
          <a:prstGeom prst="rect">
            <a:avLst/>
          </a:prstGeom>
          <a:noFill/>
          <a:ln/>
        </p:spPr>
        <p:txBody>
          <a:bodyPr wrap="square" rtlCol="0" anchor="ctr"/>
          <a:lstStyle/>
          <a:p>
            <a:pPr marL="0" indent="0" algn="ctr">
              <a:buNone/>
            </a:pPr>
            <a:r>
              <a:rPr lang="en-US" sz="1900" b="1" dirty="0">
                <a:solidFill>
                  <a:srgbClr val="718096"/>
                </a:solidFill>
                <a:latin typeface="Segoe UI" pitchFamily="34" charset="0"/>
                <a:ea typeface="Segoe UI" pitchFamily="34" charset="-122"/>
                <a:cs typeface="Segoe UI" pitchFamily="34" charset="-120"/>
              </a:rPr>
              <a:t>0.901</a:t>
            </a:r>
            <a:endParaRPr lang="en-US" sz="1900" dirty="0"/>
          </a:p>
        </p:txBody>
      </p:sp>
      <p:sp>
        <p:nvSpPr>
          <p:cNvPr id="26" name="Text 24"/>
          <p:cNvSpPr/>
          <p:nvPr/>
        </p:nvSpPr>
        <p:spPr>
          <a:xfrm>
            <a:off x="7351776" y="2550160"/>
            <a:ext cx="2148840" cy="274320"/>
          </a:xfrm>
          <a:prstGeom prst="rect">
            <a:avLst/>
          </a:prstGeom>
          <a:noFill/>
          <a:ln/>
        </p:spPr>
        <p:txBody>
          <a:bodyPr wrap="square" rtlCol="0" anchor="ctr"/>
          <a:lstStyle/>
          <a:p>
            <a:pPr marL="0" indent="0" algn="ctr">
              <a:buNone/>
            </a:pPr>
            <a:r>
              <a:rPr lang="en-US" sz="1300" dirty="0">
                <a:solidFill>
                  <a:srgbClr val="718096"/>
                </a:solidFill>
                <a:latin typeface="Segoe UI" pitchFamily="34" charset="0"/>
                <a:ea typeface="Segoe UI" pitchFamily="34" charset="-122"/>
                <a:cs typeface="Segoe UI" pitchFamily="34" charset="-120"/>
              </a:rPr>
              <a:t>↓</a:t>
            </a:r>
            <a:endParaRPr lang="en-US" sz="1300" dirty="0"/>
          </a:p>
        </p:txBody>
      </p:sp>
      <p:sp>
        <p:nvSpPr>
          <p:cNvPr id="27" name="Text 25"/>
          <p:cNvSpPr/>
          <p:nvPr/>
        </p:nvSpPr>
        <p:spPr>
          <a:xfrm>
            <a:off x="7351776" y="2824480"/>
            <a:ext cx="2148840" cy="420624"/>
          </a:xfrm>
          <a:prstGeom prst="rect">
            <a:avLst/>
          </a:prstGeom>
          <a:noFill/>
          <a:ln/>
        </p:spPr>
        <p:txBody>
          <a:bodyPr wrap="square" rtlCol="0" anchor="ctr"/>
          <a:lstStyle/>
          <a:p>
            <a:pPr marL="0" indent="0" algn="ctr">
              <a:buNone/>
            </a:pPr>
            <a:r>
              <a:rPr lang="en-US" sz="2100" b="1" dirty="0">
                <a:solidFill>
                  <a:srgbClr val="E53E3E"/>
                </a:solidFill>
                <a:latin typeface="Segoe UI" pitchFamily="34" charset="0"/>
                <a:ea typeface="Segoe UI" pitchFamily="34" charset="-122"/>
                <a:cs typeface="Segoe UI" pitchFamily="34" charset="-120"/>
              </a:rPr>
              <a:t>0.847</a:t>
            </a:r>
            <a:endParaRPr lang="en-US" sz="2100" dirty="0"/>
          </a:p>
        </p:txBody>
      </p:sp>
      <p:sp>
        <p:nvSpPr>
          <p:cNvPr id="28" name="Text 26"/>
          <p:cNvSpPr/>
          <p:nvPr/>
        </p:nvSpPr>
        <p:spPr>
          <a:xfrm>
            <a:off x="7351776" y="3281680"/>
            <a:ext cx="2148840" cy="292608"/>
          </a:xfrm>
          <a:prstGeom prst="rect">
            <a:avLst/>
          </a:prstGeom>
          <a:noFill/>
          <a:ln/>
        </p:spPr>
        <p:txBody>
          <a:bodyPr wrap="square" rtlCol="0" anchor="ctr"/>
          <a:lstStyle/>
          <a:p>
            <a:pPr marL="0" indent="0" algn="ctr">
              <a:buNone/>
            </a:pPr>
            <a:r>
              <a:rPr lang="en-US" sz="1050" b="1" dirty="0">
                <a:solidFill>
                  <a:srgbClr val="E53E3E"/>
                </a:solidFill>
                <a:latin typeface="Segoe UI" pitchFamily="34" charset="0"/>
                <a:ea typeface="Segoe UI" pitchFamily="34" charset="-122"/>
                <a:cs typeface="Segoe UI" pitchFamily="34" charset="-120"/>
              </a:rPr>
              <a:t>▼ −6.0%</a:t>
            </a:r>
            <a:endParaRPr lang="en-US" sz="1050" dirty="0"/>
          </a:p>
        </p:txBody>
      </p:sp>
      <p:sp>
        <p:nvSpPr>
          <p:cNvPr id="29" name="Shape 27"/>
          <p:cNvSpPr/>
          <p:nvPr/>
        </p:nvSpPr>
        <p:spPr>
          <a:xfrm>
            <a:off x="9665208" y="1772920"/>
            <a:ext cx="2148840" cy="1965960"/>
          </a:xfrm>
          <a:prstGeom prst="roundRect">
            <a:avLst>
              <a:gd name="adj" fmla="val 3721"/>
            </a:avLst>
          </a:prstGeom>
          <a:solidFill>
            <a:srgbClr val="F0FFF4"/>
          </a:solidFill>
          <a:ln w="15875">
            <a:solidFill>
              <a:srgbClr val="38A169"/>
            </a:solidFill>
            <a:prstDash val="solid"/>
          </a:ln>
        </p:spPr>
        <p:txBody>
          <a:bodyPr/>
          <a:lstStyle/>
          <a:p>
            <a:endParaRPr lang="en-US"/>
          </a:p>
        </p:txBody>
      </p:sp>
      <p:sp>
        <p:nvSpPr>
          <p:cNvPr id="30" name="Text 28"/>
          <p:cNvSpPr/>
          <p:nvPr/>
        </p:nvSpPr>
        <p:spPr>
          <a:xfrm>
            <a:off x="9665208" y="1891792"/>
            <a:ext cx="2148840" cy="274320"/>
          </a:xfrm>
          <a:prstGeom prst="rect">
            <a:avLst/>
          </a:prstGeom>
          <a:noFill/>
          <a:ln/>
        </p:spPr>
        <p:txBody>
          <a:bodyPr wrap="square" rtlCol="0" anchor="ctr"/>
          <a:lstStyle/>
          <a:p>
            <a:pPr marL="0" indent="0" algn="ctr">
              <a:buNone/>
            </a:pPr>
            <a:r>
              <a:rPr lang="en-US" sz="950" b="1" kern="0" spc="50" dirty="0">
                <a:solidFill>
                  <a:srgbClr val="718096"/>
                </a:solidFill>
                <a:latin typeface="Segoe UI" pitchFamily="34" charset="0"/>
                <a:ea typeface="Segoe UI" pitchFamily="34" charset="-122"/>
                <a:cs typeface="Segoe UI" pitchFamily="34" charset="-120"/>
              </a:rPr>
              <a:t>F-MEASURE</a:t>
            </a:r>
            <a:endParaRPr lang="en-US" sz="950" dirty="0"/>
          </a:p>
        </p:txBody>
      </p:sp>
      <p:sp>
        <p:nvSpPr>
          <p:cNvPr id="31" name="Text 29"/>
          <p:cNvSpPr/>
          <p:nvPr/>
        </p:nvSpPr>
        <p:spPr>
          <a:xfrm>
            <a:off x="9665208" y="2166112"/>
            <a:ext cx="2148840" cy="384048"/>
          </a:xfrm>
          <a:prstGeom prst="rect">
            <a:avLst/>
          </a:prstGeom>
          <a:noFill/>
          <a:ln/>
        </p:spPr>
        <p:txBody>
          <a:bodyPr wrap="square" rtlCol="0" anchor="ctr"/>
          <a:lstStyle/>
          <a:p>
            <a:pPr marL="0" indent="0" algn="ctr">
              <a:buNone/>
            </a:pPr>
            <a:r>
              <a:rPr lang="en-US" sz="1900" b="1" dirty="0">
                <a:solidFill>
                  <a:srgbClr val="718096"/>
                </a:solidFill>
                <a:latin typeface="Segoe UI" pitchFamily="34" charset="0"/>
                <a:ea typeface="Segoe UI" pitchFamily="34" charset="-122"/>
                <a:cs typeface="Segoe UI" pitchFamily="34" charset="-120"/>
              </a:rPr>
              <a:t>0.854</a:t>
            </a:r>
            <a:endParaRPr lang="en-US" sz="1900" dirty="0"/>
          </a:p>
        </p:txBody>
      </p:sp>
      <p:sp>
        <p:nvSpPr>
          <p:cNvPr id="32" name="Text 30"/>
          <p:cNvSpPr/>
          <p:nvPr/>
        </p:nvSpPr>
        <p:spPr>
          <a:xfrm>
            <a:off x="9665208" y="2550160"/>
            <a:ext cx="2148840" cy="274320"/>
          </a:xfrm>
          <a:prstGeom prst="rect">
            <a:avLst/>
          </a:prstGeom>
          <a:noFill/>
          <a:ln/>
        </p:spPr>
        <p:txBody>
          <a:bodyPr wrap="square" rtlCol="0" anchor="ctr"/>
          <a:lstStyle/>
          <a:p>
            <a:pPr marL="0" indent="0" algn="ctr">
              <a:buNone/>
            </a:pPr>
            <a:r>
              <a:rPr lang="en-US" sz="1300" dirty="0">
                <a:solidFill>
                  <a:srgbClr val="718096"/>
                </a:solidFill>
                <a:latin typeface="Segoe UI" pitchFamily="34" charset="0"/>
                <a:ea typeface="Segoe UI" pitchFamily="34" charset="-122"/>
                <a:cs typeface="Segoe UI" pitchFamily="34" charset="-120"/>
              </a:rPr>
              <a:t>↓</a:t>
            </a:r>
            <a:endParaRPr lang="en-US" sz="1300" dirty="0"/>
          </a:p>
        </p:txBody>
      </p:sp>
      <p:sp>
        <p:nvSpPr>
          <p:cNvPr id="33" name="Text 31"/>
          <p:cNvSpPr/>
          <p:nvPr/>
        </p:nvSpPr>
        <p:spPr>
          <a:xfrm>
            <a:off x="9665208" y="2824480"/>
            <a:ext cx="2148840" cy="420624"/>
          </a:xfrm>
          <a:prstGeom prst="rect">
            <a:avLst/>
          </a:prstGeom>
          <a:noFill/>
          <a:ln/>
        </p:spPr>
        <p:txBody>
          <a:bodyPr wrap="square" rtlCol="0" anchor="ctr"/>
          <a:lstStyle/>
          <a:p>
            <a:pPr marL="0" indent="0" algn="ctr">
              <a:buNone/>
            </a:pPr>
            <a:r>
              <a:rPr lang="en-US" sz="2100" b="1" dirty="0">
                <a:solidFill>
                  <a:srgbClr val="38A169"/>
                </a:solidFill>
                <a:latin typeface="Segoe UI" pitchFamily="34" charset="0"/>
                <a:ea typeface="Segoe UI" pitchFamily="34" charset="-122"/>
                <a:cs typeface="Segoe UI" pitchFamily="34" charset="-120"/>
              </a:rPr>
              <a:t>0.896</a:t>
            </a:r>
            <a:endParaRPr lang="en-US" sz="2100" dirty="0"/>
          </a:p>
        </p:txBody>
      </p:sp>
      <p:sp>
        <p:nvSpPr>
          <p:cNvPr id="34" name="Text 32"/>
          <p:cNvSpPr/>
          <p:nvPr/>
        </p:nvSpPr>
        <p:spPr>
          <a:xfrm>
            <a:off x="9665208" y="3281680"/>
            <a:ext cx="2148840" cy="292608"/>
          </a:xfrm>
          <a:prstGeom prst="rect">
            <a:avLst/>
          </a:prstGeom>
          <a:noFill/>
          <a:ln/>
        </p:spPr>
        <p:txBody>
          <a:bodyPr wrap="square" rtlCol="0" anchor="ctr"/>
          <a:lstStyle/>
          <a:p>
            <a:pPr marL="0" indent="0" algn="ctr">
              <a:buNone/>
            </a:pPr>
            <a:r>
              <a:rPr lang="en-US" sz="1050" b="1" dirty="0">
                <a:solidFill>
                  <a:srgbClr val="38A169"/>
                </a:solidFill>
                <a:latin typeface="Segoe UI" pitchFamily="34" charset="0"/>
                <a:ea typeface="Segoe UI" pitchFamily="34" charset="-122"/>
                <a:cs typeface="Segoe UI" pitchFamily="34" charset="-120"/>
              </a:rPr>
              <a:t>▲ +4.9%</a:t>
            </a:r>
            <a:endParaRPr lang="en-US" sz="1050" dirty="0"/>
          </a:p>
        </p:txBody>
      </p:sp>
      <p:sp>
        <p:nvSpPr>
          <p:cNvPr id="35" name="Text 33"/>
          <p:cNvSpPr/>
          <p:nvPr/>
        </p:nvSpPr>
        <p:spPr>
          <a:xfrm>
            <a:off x="411480" y="3876040"/>
            <a:ext cx="11365992" cy="320040"/>
          </a:xfrm>
          <a:prstGeom prst="rect">
            <a:avLst/>
          </a:prstGeom>
          <a:noFill/>
          <a:ln/>
        </p:spPr>
        <p:txBody>
          <a:bodyPr wrap="square" rtlCol="0" anchor="ctr"/>
          <a:lstStyle/>
          <a:p>
            <a:pPr marL="0" indent="0" algn="ctr">
              <a:buNone/>
            </a:pPr>
            <a:r>
              <a:rPr lang="en-US" sz="1150" i="1" dirty="0">
                <a:solidFill>
                  <a:srgbClr val="4A5568"/>
                </a:solidFill>
                <a:latin typeface="Segoe UI" pitchFamily="34" charset="0"/>
                <a:ea typeface="Segoe UI" pitchFamily="34" charset="-122"/>
                <a:cs typeface="Segoe UI" pitchFamily="34" charset="-120"/>
              </a:rPr>
              <a:t>Simplicity decrease is a deliberate, acknowledged trade-off — the cost of retaining clinically interpretable exceptions</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92608"/>
            <a:ext cx="64008" cy="475488"/>
          </a:xfrm>
          <a:prstGeom prst="rect">
            <a:avLst/>
          </a:prstGeom>
          <a:solidFill>
            <a:srgbClr val="38A169"/>
          </a:solidFill>
          <a:ln/>
        </p:spPr>
        <p:txBody>
          <a:bodyPr/>
          <a:lstStyle/>
          <a:p>
            <a:endParaRPr lang="en-US"/>
          </a:p>
        </p:txBody>
      </p:sp>
      <p:sp>
        <p:nvSpPr>
          <p:cNvPr id="3" name="Text 1"/>
          <p:cNvSpPr/>
          <p:nvPr/>
        </p:nvSpPr>
        <p:spPr>
          <a:xfrm>
            <a:off x="566928" y="237744"/>
            <a:ext cx="11155680" cy="585216"/>
          </a:xfrm>
          <a:prstGeom prst="rect">
            <a:avLst/>
          </a:prstGeom>
          <a:noFill/>
          <a:ln/>
        </p:spPr>
        <p:txBody>
          <a:bodyPr wrap="square" rtlCol="0" anchor="ctr"/>
          <a:lstStyle/>
          <a:p>
            <a:pPr marL="0" indent="0" algn="l">
              <a:buNone/>
            </a:pPr>
            <a:r>
              <a:rPr lang="en-US" sz="2500" b="1" dirty="0">
                <a:solidFill>
                  <a:srgbClr val="1A365D"/>
                </a:solidFill>
                <a:latin typeface="Segoe UI" pitchFamily="34" charset="0"/>
                <a:ea typeface="Segoe UI" pitchFamily="34" charset="-122"/>
                <a:cs typeface="Segoe UI" pitchFamily="34" charset="-120"/>
              </a:rPr>
              <a:t>✅  16 Operationally Realistic Recommendations</a:t>
            </a:r>
            <a:endParaRPr lang="en-US" sz="2500" dirty="0"/>
          </a:p>
        </p:txBody>
      </p:sp>
      <p:sp>
        <p:nvSpPr>
          <p:cNvPr id="4" name="Shape 2"/>
          <p:cNvSpPr/>
          <p:nvPr/>
        </p:nvSpPr>
        <p:spPr>
          <a:xfrm>
            <a:off x="411480" y="1143000"/>
            <a:ext cx="5559552" cy="2148840"/>
          </a:xfrm>
          <a:prstGeom prst="roundRect">
            <a:avLst>
              <a:gd name="adj" fmla="val 3404"/>
            </a:avLst>
          </a:prstGeom>
          <a:solidFill>
            <a:srgbClr val="F0FFF4"/>
          </a:solidFill>
          <a:ln w="9525">
            <a:solidFill>
              <a:srgbClr val="E2E8F0"/>
            </a:solidFill>
            <a:prstDash val="solid"/>
          </a:ln>
        </p:spPr>
        <p:txBody>
          <a:bodyPr/>
          <a:lstStyle/>
          <a:p>
            <a:endParaRPr lang="en-US"/>
          </a:p>
        </p:txBody>
      </p:sp>
      <p:sp>
        <p:nvSpPr>
          <p:cNvPr id="5" name="Shape 3"/>
          <p:cNvSpPr/>
          <p:nvPr/>
        </p:nvSpPr>
        <p:spPr>
          <a:xfrm>
            <a:off x="411480" y="1143000"/>
            <a:ext cx="64008" cy="2148840"/>
          </a:xfrm>
          <a:prstGeom prst="roundRect">
            <a:avLst>
              <a:gd name="adj" fmla="val 42857"/>
            </a:avLst>
          </a:prstGeom>
          <a:solidFill>
            <a:srgbClr val="38A169"/>
          </a:solidFill>
          <a:ln/>
        </p:spPr>
        <p:txBody>
          <a:bodyPr/>
          <a:lstStyle/>
          <a:p>
            <a:endParaRPr lang="en-US"/>
          </a:p>
        </p:txBody>
      </p:sp>
      <p:sp>
        <p:nvSpPr>
          <p:cNvPr id="6" name="Text 4"/>
          <p:cNvSpPr/>
          <p:nvPr/>
        </p:nvSpPr>
        <p:spPr>
          <a:xfrm>
            <a:off x="667512" y="1252728"/>
            <a:ext cx="5120640" cy="310896"/>
          </a:xfrm>
          <a:prstGeom prst="rect">
            <a:avLst/>
          </a:prstGeom>
          <a:noFill/>
          <a:ln/>
        </p:spPr>
        <p:txBody>
          <a:bodyPr wrap="square" rtlCol="0" anchor="ctr"/>
          <a:lstStyle/>
          <a:p>
            <a:pPr marL="0" indent="0">
              <a:buNone/>
            </a:pPr>
            <a:r>
              <a:rPr lang="en-US" sz="1250" b="1" dirty="0">
                <a:solidFill>
                  <a:srgbClr val="38A169"/>
                </a:solidFill>
                <a:latin typeface="Segoe UI" pitchFamily="34" charset="0"/>
                <a:ea typeface="Segoe UI" pitchFamily="34" charset="-122"/>
                <a:cs typeface="Segoe UI" pitchFamily="34" charset="-120"/>
              </a:rPr>
              <a:t>📐  STRUCTURAL (R1–R4)</a:t>
            </a:r>
            <a:endParaRPr lang="en-US" sz="1250" dirty="0"/>
          </a:p>
        </p:txBody>
      </p:sp>
      <p:sp>
        <p:nvSpPr>
          <p:cNvPr id="7" name="Text 5"/>
          <p:cNvSpPr/>
          <p:nvPr/>
        </p:nvSpPr>
        <p:spPr>
          <a:xfrm>
            <a:off x="667512" y="1600200"/>
            <a:ext cx="5138928" cy="1627632"/>
          </a:xfrm>
          <a:prstGeom prst="rect">
            <a:avLst/>
          </a:prstGeom>
          <a:noFill/>
          <a:ln/>
        </p:spPr>
        <p:txBody>
          <a:bodyPr wrap="square" rtlCol="0" anchor="t"/>
          <a:lstStyle/>
          <a:p>
            <a:pPr marL="0" indent="0">
              <a:lnSpc>
                <a:spcPct val="118000"/>
              </a:lnSpc>
              <a:buNone/>
            </a:pPr>
            <a:r>
              <a:rPr lang="en-US" sz="1000" dirty="0">
                <a:solidFill>
                  <a:srgbClr val="4A5568"/>
                </a:solidFill>
                <a:latin typeface="Segoe UI" pitchFamily="34" charset="0"/>
                <a:ea typeface="Segoe UI" pitchFamily="34" charset="-122"/>
                <a:cs typeface="Segoe UI" pitchFamily="34" charset="-120"/>
              </a:rPr>
              <a:t>R1. Make Bayesian-confirmed pathway the official reference</a:t>
            </a:r>
            <a:endParaRPr lang="en-US" sz="1000" dirty="0"/>
          </a:p>
          <a:p>
            <a:pPr marL="0" indent="0">
              <a:lnSpc>
                <a:spcPct val="118000"/>
              </a:lnSpc>
              <a:buNone/>
            </a:pPr>
            <a:r>
              <a:rPr lang="en-US" sz="1000" dirty="0">
                <a:solidFill>
                  <a:srgbClr val="4A5568"/>
                </a:solidFill>
                <a:latin typeface="Segoe UI" pitchFamily="34" charset="0"/>
                <a:ea typeface="Segoe UI" pitchFamily="34" charset="-122"/>
                <a:cs typeface="Segoe UI" pitchFamily="34" charset="-120"/>
              </a:rPr>
              <a:t>R2. Track 5 exception patterns by name, not as one category</a:t>
            </a:r>
            <a:endParaRPr lang="en-US" sz="1000" dirty="0"/>
          </a:p>
          <a:p>
            <a:pPr marL="0" indent="0">
              <a:lnSpc>
                <a:spcPct val="118000"/>
              </a:lnSpc>
              <a:buNone/>
            </a:pPr>
            <a:r>
              <a:rPr lang="en-US" sz="1000" dirty="0">
                <a:solidFill>
                  <a:srgbClr val="4A5568"/>
                </a:solidFill>
                <a:latin typeface="Segoe UI" pitchFamily="34" charset="0"/>
                <a:ea typeface="Segoe UI" pitchFamily="34" charset="-122"/>
                <a:cs typeface="Segoe UI" pitchFamily="34" charset="-120"/>
              </a:rPr>
              <a:t>R3. Chart review: 1,000+ cases with incision before Timeout  ⚠️</a:t>
            </a:r>
            <a:endParaRPr lang="en-US" sz="1000" dirty="0"/>
          </a:p>
          <a:p>
            <a:pPr marL="0" indent="0">
              <a:lnSpc>
                <a:spcPct val="118000"/>
              </a:lnSpc>
              <a:buNone/>
            </a:pPr>
            <a:r>
              <a:rPr lang="en-US" sz="1000" dirty="0">
                <a:solidFill>
                  <a:srgbClr val="4A5568"/>
                </a:solidFill>
                <a:latin typeface="Segoe UI" pitchFamily="34" charset="0"/>
                <a:ea typeface="Segoe UI" pitchFamily="34" charset="-122"/>
                <a:cs typeface="Segoe UI" pitchFamily="34" charset="-120"/>
              </a:rPr>
              <a:t>R4. Clarify who logs “Patient Sent” vs “Patient Arrived”</a:t>
            </a:r>
            <a:endParaRPr lang="en-US" sz="1000" dirty="0"/>
          </a:p>
        </p:txBody>
      </p:sp>
      <p:sp>
        <p:nvSpPr>
          <p:cNvPr id="8" name="Shape 6"/>
          <p:cNvSpPr/>
          <p:nvPr/>
        </p:nvSpPr>
        <p:spPr>
          <a:xfrm>
            <a:off x="6217920" y="1143000"/>
            <a:ext cx="5559552" cy="2148840"/>
          </a:xfrm>
          <a:prstGeom prst="roundRect">
            <a:avLst>
              <a:gd name="adj" fmla="val 3404"/>
            </a:avLst>
          </a:prstGeom>
          <a:solidFill>
            <a:srgbClr val="FFFAF0"/>
          </a:solidFill>
          <a:ln w="9525">
            <a:solidFill>
              <a:srgbClr val="E2E8F0"/>
            </a:solidFill>
            <a:prstDash val="solid"/>
          </a:ln>
        </p:spPr>
        <p:txBody>
          <a:bodyPr/>
          <a:lstStyle/>
          <a:p>
            <a:endParaRPr lang="en-US"/>
          </a:p>
        </p:txBody>
      </p:sp>
      <p:sp>
        <p:nvSpPr>
          <p:cNvPr id="9" name="Shape 7"/>
          <p:cNvSpPr/>
          <p:nvPr/>
        </p:nvSpPr>
        <p:spPr>
          <a:xfrm>
            <a:off x="6217920" y="1143000"/>
            <a:ext cx="64008" cy="2148840"/>
          </a:xfrm>
          <a:prstGeom prst="roundRect">
            <a:avLst>
              <a:gd name="adj" fmla="val 42857"/>
            </a:avLst>
          </a:prstGeom>
          <a:solidFill>
            <a:srgbClr val="DD6B20"/>
          </a:solidFill>
          <a:ln/>
        </p:spPr>
        <p:txBody>
          <a:bodyPr/>
          <a:lstStyle/>
          <a:p>
            <a:endParaRPr lang="en-US"/>
          </a:p>
        </p:txBody>
      </p:sp>
      <p:sp>
        <p:nvSpPr>
          <p:cNvPr id="10" name="Text 8"/>
          <p:cNvSpPr/>
          <p:nvPr/>
        </p:nvSpPr>
        <p:spPr>
          <a:xfrm>
            <a:off x="6473952" y="1252728"/>
            <a:ext cx="5120640" cy="310896"/>
          </a:xfrm>
          <a:prstGeom prst="rect">
            <a:avLst/>
          </a:prstGeom>
          <a:noFill/>
          <a:ln/>
        </p:spPr>
        <p:txBody>
          <a:bodyPr wrap="square" rtlCol="0" anchor="ctr"/>
          <a:lstStyle/>
          <a:p>
            <a:pPr marL="0" indent="0">
              <a:buNone/>
            </a:pPr>
            <a:r>
              <a:rPr lang="en-US" sz="1250" b="1" dirty="0">
                <a:solidFill>
                  <a:srgbClr val="DD6B20"/>
                </a:solidFill>
                <a:latin typeface="Segoe UI" pitchFamily="34" charset="0"/>
                <a:ea typeface="Segoe UI" pitchFamily="34" charset="-122"/>
                <a:cs typeface="Segoe UI" pitchFamily="34" charset="-120"/>
              </a:rPr>
              <a:t>📊  SPECIALTY-LEVEL (R9–R11)</a:t>
            </a:r>
            <a:endParaRPr lang="en-US" sz="1250" dirty="0"/>
          </a:p>
        </p:txBody>
      </p:sp>
      <p:sp>
        <p:nvSpPr>
          <p:cNvPr id="11" name="Text 9"/>
          <p:cNvSpPr/>
          <p:nvPr/>
        </p:nvSpPr>
        <p:spPr>
          <a:xfrm>
            <a:off x="6473952" y="1600200"/>
            <a:ext cx="5138928" cy="1627632"/>
          </a:xfrm>
          <a:prstGeom prst="rect">
            <a:avLst/>
          </a:prstGeom>
          <a:noFill/>
          <a:ln/>
        </p:spPr>
        <p:txBody>
          <a:bodyPr wrap="square" rtlCol="0" anchor="t"/>
          <a:lstStyle/>
          <a:p>
            <a:pPr marL="0" indent="0">
              <a:lnSpc>
                <a:spcPct val="118000"/>
              </a:lnSpc>
              <a:buNone/>
            </a:pPr>
            <a:r>
              <a:rPr lang="en-US" sz="1000" dirty="0">
                <a:solidFill>
                  <a:srgbClr val="4A5568"/>
                </a:solidFill>
                <a:latin typeface="Segoe UI" pitchFamily="34" charset="0"/>
                <a:ea typeface="Segoe UI" pitchFamily="34" charset="-122"/>
                <a:cs typeface="Segoe UI" pitchFamily="34" charset="-120"/>
              </a:rPr>
              <a:t>R9. Different scheduling buffers per specialty</a:t>
            </a:r>
            <a:endParaRPr lang="en-US" sz="1000" dirty="0"/>
          </a:p>
          <a:p>
            <a:pPr marL="0" indent="0">
              <a:lnSpc>
                <a:spcPct val="118000"/>
              </a:lnSpc>
              <a:buNone/>
            </a:pPr>
            <a:r>
              <a:rPr lang="en-US" sz="1000" dirty="0">
                <a:solidFill>
                  <a:srgbClr val="4A5568"/>
                </a:solidFill>
                <a:latin typeface="Segoe UI" pitchFamily="34" charset="0"/>
                <a:ea typeface="Segoe UI" pitchFamily="34" charset="-122"/>
                <a:cs typeface="Segoe UI" pitchFamily="34" charset="-120"/>
              </a:rPr>
              <a:t>R10. Confirm recovery bed before booking cardiac cases</a:t>
            </a:r>
            <a:endParaRPr lang="en-US" sz="1000" dirty="0"/>
          </a:p>
          <a:p>
            <a:pPr marL="0" indent="0">
              <a:lnSpc>
                <a:spcPct val="118000"/>
              </a:lnSpc>
              <a:buNone/>
            </a:pPr>
            <a:r>
              <a:rPr lang="en-US" sz="1000" dirty="0">
                <a:solidFill>
                  <a:srgbClr val="4A5568"/>
                </a:solidFill>
                <a:latin typeface="Segoe UI" pitchFamily="34" charset="0"/>
                <a:ea typeface="Segoe UI" pitchFamily="34" charset="-122"/>
                <a:cs typeface="Segoe UI" pitchFamily="34" charset="-120"/>
              </a:rPr>
              <a:t>R11. Don't judge complex specialties by simple ones</a:t>
            </a:r>
            <a:endParaRPr lang="en-US" sz="1000" dirty="0"/>
          </a:p>
        </p:txBody>
      </p:sp>
      <p:sp>
        <p:nvSpPr>
          <p:cNvPr id="12" name="Shape 10"/>
          <p:cNvSpPr/>
          <p:nvPr/>
        </p:nvSpPr>
        <p:spPr>
          <a:xfrm>
            <a:off x="411480" y="3474720"/>
            <a:ext cx="5559552" cy="2148840"/>
          </a:xfrm>
          <a:prstGeom prst="roundRect">
            <a:avLst>
              <a:gd name="adj" fmla="val 3404"/>
            </a:avLst>
          </a:prstGeom>
          <a:solidFill>
            <a:srgbClr val="E6FFFA"/>
          </a:solidFill>
          <a:ln w="9525">
            <a:solidFill>
              <a:srgbClr val="E2E8F0"/>
            </a:solidFill>
            <a:prstDash val="solid"/>
          </a:ln>
        </p:spPr>
        <p:txBody>
          <a:bodyPr/>
          <a:lstStyle/>
          <a:p>
            <a:endParaRPr lang="en-US"/>
          </a:p>
        </p:txBody>
      </p:sp>
      <p:sp>
        <p:nvSpPr>
          <p:cNvPr id="13" name="Shape 11"/>
          <p:cNvSpPr/>
          <p:nvPr/>
        </p:nvSpPr>
        <p:spPr>
          <a:xfrm>
            <a:off x="411480" y="3474720"/>
            <a:ext cx="64008" cy="2148840"/>
          </a:xfrm>
          <a:prstGeom prst="roundRect">
            <a:avLst>
              <a:gd name="adj" fmla="val 42857"/>
            </a:avLst>
          </a:prstGeom>
          <a:solidFill>
            <a:srgbClr val="319795"/>
          </a:solidFill>
          <a:ln/>
        </p:spPr>
        <p:txBody>
          <a:bodyPr/>
          <a:lstStyle/>
          <a:p>
            <a:endParaRPr lang="en-US"/>
          </a:p>
        </p:txBody>
      </p:sp>
      <p:sp>
        <p:nvSpPr>
          <p:cNvPr id="14" name="Text 12"/>
          <p:cNvSpPr/>
          <p:nvPr/>
        </p:nvSpPr>
        <p:spPr>
          <a:xfrm>
            <a:off x="667512" y="3584448"/>
            <a:ext cx="5120640" cy="310896"/>
          </a:xfrm>
          <a:prstGeom prst="rect">
            <a:avLst/>
          </a:prstGeom>
          <a:noFill/>
          <a:ln/>
        </p:spPr>
        <p:txBody>
          <a:bodyPr wrap="square" rtlCol="0" anchor="ctr"/>
          <a:lstStyle/>
          <a:p>
            <a:pPr marL="0" indent="0">
              <a:buNone/>
            </a:pPr>
            <a:r>
              <a:rPr lang="en-US" sz="1250" b="1" dirty="0">
                <a:solidFill>
                  <a:srgbClr val="319795"/>
                </a:solidFill>
                <a:latin typeface="Segoe UI" pitchFamily="34" charset="0"/>
                <a:ea typeface="Segoe UI" pitchFamily="34" charset="-122"/>
                <a:cs typeface="Segoe UI" pitchFamily="34" charset="-120"/>
              </a:rPr>
              <a:t>⏱️  TEMPORAL (R5–R8)</a:t>
            </a:r>
            <a:endParaRPr lang="en-US" sz="1250" dirty="0"/>
          </a:p>
        </p:txBody>
      </p:sp>
      <p:sp>
        <p:nvSpPr>
          <p:cNvPr id="15" name="Text 13"/>
          <p:cNvSpPr/>
          <p:nvPr/>
        </p:nvSpPr>
        <p:spPr>
          <a:xfrm>
            <a:off x="667512" y="3931920"/>
            <a:ext cx="5138928" cy="1627632"/>
          </a:xfrm>
          <a:prstGeom prst="rect">
            <a:avLst/>
          </a:prstGeom>
          <a:noFill/>
          <a:ln/>
        </p:spPr>
        <p:txBody>
          <a:bodyPr wrap="square" rtlCol="0" anchor="t"/>
          <a:lstStyle/>
          <a:p>
            <a:pPr marL="0" indent="0">
              <a:lnSpc>
                <a:spcPct val="118000"/>
              </a:lnSpc>
              <a:buNone/>
            </a:pPr>
            <a:r>
              <a:rPr lang="en-US" sz="1000" dirty="0">
                <a:solidFill>
                  <a:srgbClr val="4A5568"/>
                </a:solidFill>
                <a:latin typeface="Segoe UI" pitchFamily="34" charset="0"/>
                <a:ea typeface="Segoe UI" pitchFamily="34" charset="-122"/>
                <a:cs typeface="Segoe UI" pitchFamily="34" charset="-120"/>
              </a:rPr>
              <a:t>R5. Report median alongside mean for all durations  ⚠️</a:t>
            </a:r>
            <a:endParaRPr lang="en-US" sz="1000" dirty="0"/>
          </a:p>
          <a:p>
            <a:pPr marL="0" indent="0">
              <a:lnSpc>
                <a:spcPct val="118000"/>
              </a:lnSpc>
              <a:buNone/>
            </a:pPr>
            <a:r>
              <a:rPr lang="en-US" sz="1000" dirty="0">
                <a:solidFill>
                  <a:srgbClr val="4A5568"/>
                </a:solidFill>
                <a:latin typeface="Segoe UI" pitchFamily="34" charset="0"/>
                <a:ea typeface="Segoe UI" pitchFamily="34" charset="-122"/>
                <a:cs typeface="Segoe UI" pitchFamily="34" charset="-120"/>
              </a:rPr>
              <a:t>R6. Auto-flag case-steps &gt;24h as exceptions</a:t>
            </a:r>
            <a:endParaRPr lang="en-US" sz="1000" dirty="0"/>
          </a:p>
          <a:p>
            <a:pPr marL="0" indent="0">
              <a:lnSpc>
                <a:spcPct val="118000"/>
              </a:lnSpc>
              <a:buNone/>
            </a:pPr>
            <a:r>
              <a:rPr lang="en-US" sz="1000" dirty="0">
                <a:solidFill>
                  <a:srgbClr val="4A5568"/>
                </a:solidFill>
                <a:latin typeface="Segoe UI" pitchFamily="34" charset="0"/>
                <a:ea typeface="Segoe UI" pitchFamily="34" charset="-122"/>
                <a:cs typeface="Segoe UI" pitchFamily="34" charset="-120"/>
              </a:rPr>
              <a:t>R7. Prioritize by frequency × delay, not drama</a:t>
            </a:r>
            <a:endParaRPr lang="en-US" sz="1000" dirty="0"/>
          </a:p>
          <a:p>
            <a:pPr marL="0" indent="0">
              <a:lnSpc>
                <a:spcPct val="118000"/>
              </a:lnSpc>
              <a:buNone/>
            </a:pPr>
            <a:r>
              <a:rPr lang="en-US" sz="1000" dirty="0">
                <a:solidFill>
                  <a:srgbClr val="4A5568"/>
                </a:solidFill>
                <a:latin typeface="Segoe UI" pitchFamily="34" charset="0"/>
                <a:ea typeface="Segoe UI" pitchFamily="34" charset="-122"/>
                <a:cs typeface="Segoe UI" pitchFamily="34" charset="-120"/>
              </a:rPr>
              <a:t>R8. Create “Patient Ready to Incision” KPI</a:t>
            </a:r>
            <a:endParaRPr lang="en-US" sz="1000" dirty="0"/>
          </a:p>
        </p:txBody>
      </p:sp>
      <p:sp>
        <p:nvSpPr>
          <p:cNvPr id="16" name="Shape 14"/>
          <p:cNvSpPr/>
          <p:nvPr/>
        </p:nvSpPr>
        <p:spPr>
          <a:xfrm>
            <a:off x="6217920" y="3474720"/>
            <a:ext cx="5559552" cy="2148840"/>
          </a:xfrm>
          <a:prstGeom prst="roundRect">
            <a:avLst>
              <a:gd name="adj" fmla="val 3404"/>
            </a:avLst>
          </a:prstGeom>
          <a:solidFill>
            <a:srgbClr val="FAF5FF"/>
          </a:solidFill>
          <a:ln w="9525">
            <a:solidFill>
              <a:srgbClr val="E2E8F0"/>
            </a:solidFill>
            <a:prstDash val="solid"/>
          </a:ln>
        </p:spPr>
        <p:txBody>
          <a:bodyPr/>
          <a:lstStyle/>
          <a:p>
            <a:endParaRPr lang="en-US"/>
          </a:p>
        </p:txBody>
      </p:sp>
      <p:sp>
        <p:nvSpPr>
          <p:cNvPr id="17" name="Shape 15"/>
          <p:cNvSpPr/>
          <p:nvPr/>
        </p:nvSpPr>
        <p:spPr>
          <a:xfrm>
            <a:off x="6217920" y="3474720"/>
            <a:ext cx="64008" cy="2148840"/>
          </a:xfrm>
          <a:prstGeom prst="roundRect">
            <a:avLst>
              <a:gd name="adj" fmla="val 42857"/>
            </a:avLst>
          </a:prstGeom>
          <a:solidFill>
            <a:srgbClr val="805AD5"/>
          </a:solidFill>
          <a:ln/>
        </p:spPr>
        <p:txBody>
          <a:bodyPr/>
          <a:lstStyle/>
          <a:p>
            <a:endParaRPr lang="en-US"/>
          </a:p>
        </p:txBody>
      </p:sp>
      <p:sp>
        <p:nvSpPr>
          <p:cNvPr id="18" name="Text 16"/>
          <p:cNvSpPr/>
          <p:nvPr/>
        </p:nvSpPr>
        <p:spPr>
          <a:xfrm>
            <a:off x="6473952" y="3584448"/>
            <a:ext cx="5120640" cy="310896"/>
          </a:xfrm>
          <a:prstGeom prst="rect">
            <a:avLst/>
          </a:prstGeom>
          <a:noFill/>
          <a:ln/>
        </p:spPr>
        <p:txBody>
          <a:bodyPr wrap="square" rtlCol="0" anchor="ctr"/>
          <a:lstStyle/>
          <a:p>
            <a:pPr marL="0" indent="0">
              <a:buNone/>
            </a:pPr>
            <a:r>
              <a:rPr lang="en-US" sz="1250" b="1" dirty="0">
                <a:solidFill>
                  <a:srgbClr val="805AD5"/>
                </a:solidFill>
                <a:latin typeface="Segoe UI" pitchFamily="34" charset="0"/>
                <a:ea typeface="Segoe UI" pitchFamily="34" charset="-122"/>
                <a:cs typeface="Segoe UI" pitchFamily="34" charset="-120"/>
              </a:rPr>
              <a:t>🏛️  GOVERNANCE (R12–R15)</a:t>
            </a:r>
            <a:endParaRPr lang="en-US" sz="1250" dirty="0"/>
          </a:p>
        </p:txBody>
      </p:sp>
      <p:sp>
        <p:nvSpPr>
          <p:cNvPr id="19" name="Text 17"/>
          <p:cNvSpPr/>
          <p:nvPr/>
        </p:nvSpPr>
        <p:spPr>
          <a:xfrm>
            <a:off x="6473952" y="3931920"/>
            <a:ext cx="5138928" cy="1627632"/>
          </a:xfrm>
          <a:prstGeom prst="rect">
            <a:avLst/>
          </a:prstGeom>
          <a:noFill/>
          <a:ln/>
        </p:spPr>
        <p:txBody>
          <a:bodyPr wrap="square" rtlCol="0" anchor="t"/>
          <a:lstStyle/>
          <a:p>
            <a:pPr marL="0" indent="0">
              <a:lnSpc>
                <a:spcPct val="118000"/>
              </a:lnSpc>
              <a:buNone/>
            </a:pPr>
            <a:r>
              <a:rPr lang="en-US" sz="1000" dirty="0">
                <a:solidFill>
                  <a:srgbClr val="4A5568"/>
                </a:solidFill>
                <a:latin typeface="Segoe UI" pitchFamily="34" charset="0"/>
                <a:ea typeface="Segoe UI" pitchFamily="34" charset="-122"/>
                <a:cs typeface="Segoe UI" pitchFamily="34" charset="-120"/>
              </a:rPr>
              <a:t>R12. Separate dashboard per specialty</a:t>
            </a:r>
            <a:endParaRPr lang="en-US" sz="1000" dirty="0"/>
          </a:p>
          <a:p>
            <a:pPr marL="0" indent="0">
              <a:lnSpc>
                <a:spcPct val="118000"/>
              </a:lnSpc>
              <a:buNone/>
            </a:pPr>
            <a:r>
              <a:rPr lang="en-US" sz="1000" dirty="0">
                <a:solidFill>
                  <a:srgbClr val="4A5568"/>
                </a:solidFill>
                <a:latin typeface="Segoe UI" pitchFamily="34" charset="0"/>
                <a:ea typeface="Segoe UI" pitchFamily="34" charset="-122"/>
                <a:cs typeface="Segoe UI" pitchFamily="34" charset="-120"/>
              </a:rPr>
              <a:t>R13. Fix timestamp quality → dashboard → alerts (in order)</a:t>
            </a:r>
            <a:endParaRPr lang="en-US" sz="1000" dirty="0"/>
          </a:p>
          <a:p>
            <a:pPr marL="0" indent="0">
              <a:lnSpc>
                <a:spcPct val="118000"/>
              </a:lnSpc>
              <a:buNone/>
            </a:pPr>
            <a:r>
              <a:rPr lang="en-US" sz="1000" dirty="0">
                <a:solidFill>
                  <a:srgbClr val="4A5568"/>
                </a:solidFill>
                <a:latin typeface="Segoe UI" pitchFamily="34" charset="0"/>
                <a:ea typeface="Segoe UI" pitchFamily="34" charset="-122"/>
                <a:cs typeface="Segoe UI" pitchFamily="34" charset="-120"/>
              </a:rPr>
              <a:t>R14. Track OR turnover with 3 specific numbers</a:t>
            </a:r>
            <a:endParaRPr lang="en-US" sz="1000" dirty="0"/>
          </a:p>
          <a:p>
            <a:pPr marL="0" indent="0">
              <a:lnSpc>
                <a:spcPct val="118000"/>
              </a:lnSpc>
              <a:buNone/>
            </a:pPr>
            <a:r>
              <a:rPr lang="en-US" sz="1000" dirty="0">
                <a:solidFill>
                  <a:srgbClr val="4A5568"/>
                </a:solidFill>
                <a:latin typeface="Segoe UI" pitchFamily="34" charset="0"/>
                <a:ea typeface="Segoe UI" pitchFamily="34" charset="-122"/>
                <a:cs typeface="Segoe UI" pitchFamily="34" charset="-120"/>
              </a:rPr>
              <a:t>R15. Attach specific alerts to specific failure points</a:t>
            </a:r>
            <a:endParaRPr lang="en-US" sz="1000" dirty="0"/>
          </a:p>
        </p:txBody>
      </p:sp>
      <p:sp>
        <p:nvSpPr>
          <p:cNvPr id="20" name="Shape 18"/>
          <p:cNvSpPr/>
          <p:nvPr/>
        </p:nvSpPr>
        <p:spPr>
          <a:xfrm>
            <a:off x="411480" y="5943600"/>
            <a:ext cx="11365992" cy="530352"/>
          </a:xfrm>
          <a:prstGeom prst="roundRect">
            <a:avLst>
              <a:gd name="adj" fmla="val 13793"/>
            </a:avLst>
          </a:prstGeom>
          <a:solidFill>
            <a:srgbClr val="1A365D"/>
          </a:solidFill>
          <a:ln/>
        </p:spPr>
        <p:txBody>
          <a:bodyPr/>
          <a:lstStyle/>
          <a:p>
            <a:endParaRPr lang="en-US"/>
          </a:p>
        </p:txBody>
      </p:sp>
      <p:sp>
        <p:nvSpPr>
          <p:cNvPr id="21" name="Text 19"/>
          <p:cNvSpPr/>
          <p:nvPr/>
        </p:nvSpPr>
        <p:spPr>
          <a:xfrm>
            <a:off x="548640" y="5943600"/>
            <a:ext cx="11091672" cy="530352"/>
          </a:xfrm>
          <a:prstGeom prst="rect">
            <a:avLst/>
          </a:prstGeom>
          <a:noFill/>
          <a:ln/>
        </p:spPr>
        <p:txBody>
          <a:bodyPr wrap="square" rtlCol="0" anchor="ctr"/>
          <a:lstStyle/>
          <a:p>
            <a:pPr marL="0" indent="0" algn="ctr">
              <a:buNone/>
            </a:pPr>
            <a:r>
              <a:rPr lang="en-US" sz="1250" b="1" dirty="0">
                <a:solidFill>
                  <a:srgbClr val="FFFFFF"/>
                </a:solidFill>
                <a:latin typeface="Segoe UI" pitchFamily="34" charset="0"/>
                <a:ea typeface="Segoe UI" pitchFamily="34" charset="-122"/>
                <a:cs typeface="Segoe UI" pitchFamily="34" charset="-120"/>
              </a:rPr>
              <a:t>Most require no new tooling — only changes to how existing data is reported, reviewed, and acted upon  (+5 options considered and explicitly NOT adopted)</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92608"/>
            <a:ext cx="64008" cy="475488"/>
          </a:xfrm>
          <a:prstGeom prst="rect">
            <a:avLst/>
          </a:prstGeom>
          <a:solidFill>
            <a:srgbClr val="805AD5"/>
          </a:solidFill>
          <a:ln/>
        </p:spPr>
        <p:txBody>
          <a:bodyPr/>
          <a:lstStyle/>
          <a:p>
            <a:endParaRPr lang="en-US"/>
          </a:p>
        </p:txBody>
      </p:sp>
      <p:sp>
        <p:nvSpPr>
          <p:cNvPr id="3" name="Text 1"/>
          <p:cNvSpPr/>
          <p:nvPr/>
        </p:nvSpPr>
        <p:spPr>
          <a:xfrm>
            <a:off x="566928" y="237744"/>
            <a:ext cx="11155680" cy="585216"/>
          </a:xfrm>
          <a:prstGeom prst="rect">
            <a:avLst/>
          </a:prstGeom>
          <a:noFill/>
          <a:ln/>
        </p:spPr>
        <p:txBody>
          <a:bodyPr wrap="square" rtlCol="0" anchor="ctr"/>
          <a:lstStyle/>
          <a:p>
            <a:pPr marL="0" indent="0" algn="l">
              <a:buNone/>
            </a:pPr>
            <a:r>
              <a:rPr lang="en-US" sz="2500" b="1" dirty="0">
                <a:solidFill>
                  <a:srgbClr val="1A365D"/>
                </a:solidFill>
                <a:latin typeface="Segoe UI" pitchFamily="34" charset="0"/>
                <a:ea typeface="Segoe UI" pitchFamily="34" charset="-122"/>
                <a:cs typeface="Segoe UI" pitchFamily="34" charset="-120"/>
              </a:rPr>
              <a:t>🎯  Contributions &amp; Limitations</a:t>
            </a:r>
            <a:endParaRPr lang="en-US" sz="2500" dirty="0"/>
          </a:p>
        </p:txBody>
      </p:sp>
      <p:sp>
        <p:nvSpPr>
          <p:cNvPr id="4" name="Text 2"/>
          <p:cNvSpPr/>
          <p:nvPr/>
        </p:nvSpPr>
        <p:spPr>
          <a:xfrm>
            <a:off x="411480" y="1024128"/>
            <a:ext cx="5486400" cy="329184"/>
          </a:xfrm>
          <a:prstGeom prst="rect">
            <a:avLst/>
          </a:prstGeom>
          <a:noFill/>
          <a:ln/>
        </p:spPr>
        <p:txBody>
          <a:bodyPr wrap="square" rtlCol="0" anchor="ctr"/>
          <a:lstStyle/>
          <a:p>
            <a:pPr marL="0" indent="0">
              <a:buNone/>
            </a:pPr>
            <a:r>
              <a:rPr lang="en-US" sz="1350" b="1" dirty="0">
                <a:solidFill>
                  <a:srgbClr val="38A169"/>
                </a:solidFill>
                <a:latin typeface="Segoe UI" pitchFamily="34" charset="0"/>
                <a:ea typeface="Segoe UI" pitchFamily="34" charset="-122"/>
                <a:cs typeface="Segoe UI" pitchFamily="34" charset="-120"/>
              </a:rPr>
              <a:t>✅  Four Key Contributions</a:t>
            </a:r>
            <a:endParaRPr lang="en-US" sz="1350" dirty="0"/>
          </a:p>
        </p:txBody>
      </p:sp>
      <p:sp>
        <p:nvSpPr>
          <p:cNvPr id="5" name="Shape 3"/>
          <p:cNvSpPr/>
          <p:nvPr/>
        </p:nvSpPr>
        <p:spPr>
          <a:xfrm>
            <a:off x="411480" y="1417320"/>
            <a:ext cx="5532120" cy="1024128"/>
          </a:xfrm>
          <a:prstGeom prst="roundRect">
            <a:avLst>
              <a:gd name="adj" fmla="val 7143"/>
            </a:avLst>
          </a:prstGeom>
          <a:solidFill>
            <a:srgbClr val="F0FFF4"/>
          </a:solidFill>
          <a:ln w="9525">
            <a:solidFill>
              <a:srgbClr val="E2E8F0"/>
            </a:solidFill>
            <a:prstDash val="solid"/>
          </a:ln>
        </p:spPr>
        <p:txBody>
          <a:bodyPr/>
          <a:lstStyle/>
          <a:p>
            <a:endParaRPr lang="en-US"/>
          </a:p>
        </p:txBody>
      </p:sp>
      <p:sp>
        <p:nvSpPr>
          <p:cNvPr id="6" name="Shape 4"/>
          <p:cNvSpPr/>
          <p:nvPr/>
        </p:nvSpPr>
        <p:spPr>
          <a:xfrm>
            <a:off x="411480" y="1417320"/>
            <a:ext cx="64008" cy="1024128"/>
          </a:xfrm>
          <a:prstGeom prst="roundRect">
            <a:avLst>
              <a:gd name="adj" fmla="val 42857"/>
            </a:avLst>
          </a:prstGeom>
          <a:solidFill>
            <a:srgbClr val="38A169"/>
          </a:solidFill>
          <a:ln/>
        </p:spPr>
        <p:txBody>
          <a:bodyPr/>
          <a:lstStyle/>
          <a:p>
            <a:endParaRPr lang="en-US"/>
          </a:p>
        </p:txBody>
      </p:sp>
      <p:sp>
        <p:nvSpPr>
          <p:cNvPr id="7" name="Text 5"/>
          <p:cNvSpPr/>
          <p:nvPr/>
        </p:nvSpPr>
        <p:spPr>
          <a:xfrm>
            <a:off x="658368" y="1490472"/>
            <a:ext cx="5120640" cy="896112"/>
          </a:xfrm>
          <a:prstGeom prst="rect">
            <a:avLst/>
          </a:prstGeom>
          <a:noFill/>
          <a:ln/>
        </p:spPr>
        <p:txBody>
          <a:bodyPr wrap="square" rtlCol="0" anchor="ctr"/>
          <a:lstStyle/>
          <a:p>
            <a:pPr marL="0" indent="0">
              <a:lnSpc>
                <a:spcPct val="108000"/>
              </a:lnSpc>
              <a:buNone/>
            </a:pPr>
            <a:r>
              <a:rPr lang="en-US" sz="1050" dirty="0">
                <a:solidFill>
                  <a:srgbClr val="1A202C"/>
                </a:solidFill>
                <a:latin typeface="Segoe UI" pitchFamily="34" charset="0"/>
                <a:ea typeface="Segoe UI" pitchFamily="34" charset="-122"/>
                <a:cs typeface="Segoe UI" pitchFamily="34" charset="-120"/>
              </a:rPr>
              <a:t>1. Bayesian extension to Heuristic Miner's dependency measure — first to embed calibration during discovery, not after</a:t>
            </a:r>
            <a:endParaRPr lang="en-US" sz="1050" dirty="0"/>
          </a:p>
        </p:txBody>
      </p:sp>
      <p:sp>
        <p:nvSpPr>
          <p:cNvPr id="8" name="Shape 6"/>
          <p:cNvSpPr/>
          <p:nvPr/>
        </p:nvSpPr>
        <p:spPr>
          <a:xfrm>
            <a:off x="411480" y="2587752"/>
            <a:ext cx="5532120" cy="1024128"/>
          </a:xfrm>
          <a:prstGeom prst="roundRect">
            <a:avLst>
              <a:gd name="adj" fmla="val 7143"/>
            </a:avLst>
          </a:prstGeom>
          <a:solidFill>
            <a:srgbClr val="F0FFF4"/>
          </a:solidFill>
          <a:ln w="9525">
            <a:solidFill>
              <a:srgbClr val="E2E8F0"/>
            </a:solidFill>
            <a:prstDash val="solid"/>
          </a:ln>
        </p:spPr>
        <p:txBody>
          <a:bodyPr/>
          <a:lstStyle/>
          <a:p>
            <a:endParaRPr lang="en-US"/>
          </a:p>
        </p:txBody>
      </p:sp>
      <p:sp>
        <p:nvSpPr>
          <p:cNvPr id="9" name="Shape 7"/>
          <p:cNvSpPr/>
          <p:nvPr/>
        </p:nvSpPr>
        <p:spPr>
          <a:xfrm>
            <a:off x="411480" y="2587752"/>
            <a:ext cx="64008" cy="1024128"/>
          </a:xfrm>
          <a:prstGeom prst="roundRect">
            <a:avLst>
              <a:gd name="adj" fmla="val 42857"/>
            </a:avLst>
          </a:prstGeom>
          <a:solidFill>
            <a:srgbClr val="38A169"/>
          </a:solidFill>
          <a:ln/>
        </p:spPr>
        <p:txBody>
          <a:bodyPr/>
          <a:lstStyle/>
          <a:p>
            <a:endParaRPr lang="en-US"/>
          </a:p>
        </p:txBody>
      </p:sp>
      <p:sp>
        <p:nvSpPr>
          <p:cNvPr id="10" name="Text 8"/>
          <p:cNvSpPr/>
          <p:nvPr/>
        </p:nvSpPr>
        <p:spPr>
          <a:xfrm>
            <a:off x="658368" y="2660904"/>
            <a:ext cx="5120640" cy="896112"/>
          </a:xfrm>
          <a:prstGeom prst="rect">
            <a:avLst/>
          </a:prstGeom>
          <a:noFill/>
          <a:ln/>
        </p:spPr>
        <p:txBody>
          <a:bodyPr wrap="square" rtlCol="0" anchor="ctr"/>
          <a:lstStyle/>
          <a:p>
            <a:pPr marL="0" indent="0">
              <a:lnSpc>
                <a:spcPct val="108000"/>
              </a:lnSpc>
              <a:buNone/>
            </a:pPr>
            <a:r>
              <a:rPr lang="en-US" sz="1050" dirty="0">
                <a:solidFill>
                  <a:srgbClr val="1A202C"/>
                </a:solidFill>
                <a:latin typeface="Segoe UI" pitchFamily="34" charset="0"/>
                <a:ea typeface="Segoe UI" pitchFamily="34" charset="-122"/>
                <a:cs typeface="Segoe UI" pitchFamily="34" charset="-120"/>
              </a:rPr>
              <a:t>2. Large-scale real-world application — 162,286 cases, first log-derived characterization at this institution</a:t>
            </a:r>
            <a:endParaRPr lang="en-US" sz="1050" dirty="0"/>
          </a:p>
        </p:txBody>
      </p:sp>
      <p:sp>
        <p:nvSpPr>
          <p:cNvPr id="11" name="Shape 9"/>
          <p:cNvSpPr/>
          <p:nvPr/>
        </p:nvSpPr>
        <p:spPr>
          <a:xfrm>
            <a:off x="411480" y="3758184"/>
            <a:ext cx="5532120" cy="1024128"/>
          </a:xfrm>
          <a:prstGeom prst="roundRect">
            <a:avLst>
              <a:gd name="adj" fmla="val 7143"/>
            </a:avLst>
          </a:prstGeom>
          <a:solidFill>
            <a:srgbClr val="F0FFF4"/>
          </a:solidFill>
          <a:ln w="9525">
            <a:solidFill>
              <a:srgbClr val="E2E8F0"/>
            </a:solidFill>
            <a:prstDash val="solid"/>
          </a:ln>
        </p:spPr>
        <p:txBody>
          <a:bodyPr/>
          <a:lstStyle/>
          <a:p>
            <a:endParaRPr lang="en-US"/>
          </a:p>
        </p:txBody>
      </p:sp>
      <p:sp>
        <p:nvSpPr>
          <p:cNvPr id="12" name="Shape 10"/>
          <p:cNvSpPr/>
          <p:nvPr/>
        </p:nvSpPr>
        <p:spPr>
          <a:xfrm>
            <a:off x="411480" y="3758184"/>
            <a:ext cx="64008" cy="1024128"/>
          </a:xfrm>
          <a:prstGeom prst="roundRect">
            <a:avLst>
              <a:gd name="adj" fmla="val 42857"/>
            </a:avLst>
          </a:prstGeom>
          <a:solidFill>
            <a:srgbClr val="38A169"/>
          </a:solidFill>
          <a:ln/>
        </p:spPr>
        <p:txBody>
          <a:bodyPr/>
          <a:lstStyle/>
          <a:p>
            <a:endParaRPr lang="en-US"/>
          </a:p>
        </p:txBody>
      </p:sp>
      <p:sp>
        <p:nvSpPr>
          <p:cNvPr id="13" name="Text 11"/>
          <p:cNvSpPr/>
          <p:nvPr/>
        </p:nvSpPr>
        <p:spPr>
          <a:xfrm>
            <a:off x="658368" y="3831336"/>
            <a:ext cx="5120640" cy="896112"/>
          </a:xfrm>
          <a:prstGeom prst="rect">
            <a:avLst/>
          </a:prstGeom>
          <a:noFill/>
          <a:ln/>
        </p:spPr>
        <p:txBody>
          <a:bodyPr wrap="square" rtlCol="0" anchor="ctr"/>
          <a:lstStyle/>
          <a:p>
            <a:pPr marL="0" indent="0">
              <a:lnSpc>
                <a:spcPct val="108000"/>
              </a:lnSpc>
              <a:buNone/>
            </a:pPr>
            <a:r>
              <a:rPr lang="en-US" sz="1050" dirty="0">
                <a:solidFill>
                  <a:srgbClr val="1A202C"/>
                </a:solidFill>
                <a:latin typeface="Segoe UI" pitchFamily="34" charset="0"/>
                <a:ea typeface="Segoe UI" pitchFamily="34" charset="-122"/>
                <a:cs typeface="Segoe UI" pitchFamily="34" charset="-120"/>
              </a:rPr>
              <a:t>3. Connected structural–temporal framework — same statistical reasoning for both frequency and duration confidence</a:t>
            </a:r>
            <a:endParaRPr lang="en-US" sz="1050" dirty="0"/>
          </a:p>
        </p:txBody>
      </p:sp>
      <p:sp>
        <p:nvSpPr>
          <p:cNvPr id="14" name="Shape 12"/>
          <p:cNvSpPr/>
          <p:nvPr/>
        </p:nvSpPr>
        <p:spPr>
          <a:xfrm>
            <a:off x="411480" y="4928616"/>
            <a:ext cx="5532120" cy="1024128"/>
          </a:xfrm>
          <a:prstGeom prst="roundRect">
            <a:avLst>
              <a:gd name="adj" fmla="val 7143"/>
            </a:avLst>
          </a:prstGeom>
          <a:solidFill>
            <a:srgbClr val="F0FFF4"/>
          </a:solidFill>
          <a:ln w="9525">
            <a:solidFill>
              <a:srgbClr val="E2E8F0"/>
            </a:solidFill>
            <a:prstDash val="solid"/>
          </a:ln>
        </p:spPr>
        <p:txBody>
          <a:bodyPr/>
          <a:lstStyle/>
          <a:p>
            <a:endParaRPr lang="en-US"/>
          </a:p>
        </p:txBody>
      </p:sp>
      <p:sp>
        <p:nvSpPr>
          <p:cNvPr id="15" name="Shape 13"/>
          <p:cNvSpPr/>
          <p:nvPr/>
        </p:nvSpPr>
        <p:spPr>
          <a:xfrm>
            <a:off x="411480" y="4928616"/>
            <a:ext cx="64008" cy="1024128"/>
          </a:xfrm>
          <a:prstGeom prst="roundRect">
            <a:avLst>
              <a:gd name="adj" fmla="val 42857"/>
            </a:avLst>
          </a:prstGeom>
          <a:solidFill>
            <a:srgbClr val="38A169"/>
          </a:solidFill>
          <a:ln/>
        </p:spPr>
        <p:txBody>
          <a:bodyPr/>
          <a:lstStyle/>
          <a:p>
            <a:endParaRPr lang="en-US"/>
          </a:p>
        </p:txBody>
      </p:sp>
      <p:sp>
        <p:nvSpPr>
          <p:cNvPr id="16" name="Text 14"/>
          <p:cNvSpPr/>
          <p:nvPr/>
        </p:nvSpPr>
        <p:spPr>
          <a:xfrm>
            <a:off x="658368" y="5001768"/>
            <a:ext cx="5120640" cy="896112"/>
          </a:xfrm>
          <a:prstGeom prst="rect">
            <a:avLst/>
          </a:prstGeom>
          <a:noFill/>
          <a:ln/>
        </p:spPr>
        <p:txBody>
          <a:bodyPr wrap="square" rtlCol="0" anchor="ctr"/>
          <a:lstStyle/>
          <a:p>
            <a:pPr marL="0" indent="0">
              <a:lnSpc>
                <a:spcPct val="108000"/>
              </a:lnSpc>
              <a:buNone/>
            </a:pPr>
            <a:r>
              <a:rPr lang="en-US" sz="1050" dirty="0">
                <a:solidFill>
                  <a:srgbClr val="1A202C"/>
                </a:solidFill>
                <a:latin typeface="Segoe UI" pitchFamily="34" charset="0"/>
                <a:ea typeface="Segoe UI" pitchFamily="34" charset="-122"/>
                <a:cs typeface="Segoe UI" pitchFamily="34" charset="-120"/>
              </a:rPr>
              <a:t>4. Sixteen filtered, operationally realistic recommendations for direct use by scheduling &amp; quality teams</a:t>
            </a:r>
            <a:endParaRPr lang="en-US" sz="1050" dirty="0"/>
          </a:p>
        </p:txBody>
      </p:sp>
      <p:sp>
        <p:nvSpPr>
          <p:cNvPr id="17" name="Text 15"/>
          <p:cNvSpPr/>
          <p:nvPr/>
        </p:nvSpPr>
        <p:spPr>
          <a:xfrm>
            <a:off x="6217920" y="1024128"/>
            <a:ext cx="5486400" cy="329184"/>
          </a:xfrm>
          <a:prstGeom prst="rect">
            <a:avLst/>
          </a:prstGeom>
          <a:noFill/>
          <a:ln/>
        </p:spPr>
        <p:txBody>
          <a:bodyPr wrap="square" rtlCol="0" anchor="ctr"/>
          <a:lstStyle/>
          <a:p>
            <a:pPr marL="0" indent="0">
              <a:buNone/>
            </a:pPr>
            <a:r>
              <a:rPr lang="en-US" sz="1350" b="1" dirty="0">
                <a:solidFill>
                  <a:srgbClr val="DD6B20"/>
                </a:solidFill>
                <a:latin typeface="Segoe UI" pitchFamily="34" charset="0"/>
                <a:ea typeface="Segoe UI" pitchFamily="34" charset="-122"/>
                <a:cs typeface="Segoe UI" pitchFamily="34" charset="-120"/>
              </a:rPr>
              <a:t>⚠️  Key Limitations</a:t>
            </a:r>
            <a:endParaRPr lang="en-US" sz="1350" dirty="0"/>
          </a:p>
        </p:txBody>
      </p:sp>
      <p:sp>
        <p:nvSpPr>
          <p:cNvPr id="18" name="Shape 16"/>
          <p:cNvSpPr/>
          <p:nvPr/>
        </p:nvSpPr>
        <p:spPr>
          <a:xfrm>
            <a:off x="6217920" y="1417320"/>
            <a:ext cx="5532120" cy="822960"/>
          </a:xfrm>
          <a:prstGeom prst="roundRect">
            <a:avLst>
              <a:gd name="adj" fmla="val 8889"/>
            </a:avLst>
          </a:prstGeom>
          <a:solidFill>
            <a:srgbClr val="FFFAF0"/>
          </a:solidFill>
          <a:ln w="9525">
            <a:solidFill>
              <a:srgbClr val="E2E8F0"/>
            </a:solidFill>
            <a:prstDash val="solid"/>
          </a:ln>
        </p:spPr>
        <p:txBody>
          <a:bodyPr/>
          <a:lstStyle/>
          <a:p>
            <a:endParaRPr lang="en-US"/>
          </a:p>
        </p:txBody>
      </p:sp>
      <p:sp>
        <p:nvSpPr>
          <p:cNvPr id="19" name="Shape 17"/>
          <p:cNvSpPr/>
          <p:nvPr/>
        </p:nvSpPr>
        <p:spPr>
          <a:xfrm>
            <a:off x="6217920" y="1417320"/>
            <a:ext cx="64008" cy="822960"/>
          </a:xfrm>
          <a:prstGeom prst="roundRect">
            <a:avLst>
              <a:gd name="adj" fmla="val 42857"/>
            </a:avLst>
          </a:prstGeom>
          <a:solidFill>
            <a:srgbClr val="DD6B20"/>
          </a:solidFill>
          <a:ln/>
        </p:spPr>
        <p:txBody>
          <a:bodyPr/>
          <a:lstStyle/>
          <a:p>
            <a:endParaRPr lang="en-US"/>
          </a:p>
        </p:txBody>
      </p:sp>
      <p:sp>
        <p:nvSpPr>
          <p:cNvPr id="20" name="Text 18"/>
          <p:cNvSpPr/>
          <p:nvPr/>
        </p:nvSpPr>
        <p:spPr>
          <a:xfrm>
            <a:off x="6464808" y="1472184"/>
            <a:ext cx="5120640" cy="713232"/>
          </a:xfrm>
          <a:prstGeom prst="rect">
            <a:avLst/>
          </a:prstGeom>
          <a:noFill/>
          <a:ln/>
        </p:spPr>
        <p:txBody>
          <a:bodyPr wrap="square" rtlCol="0" anchor="ctr"/>
          <a:lstStyle/>
          <a:p>
            <a:pPr marL="0" indent="0">
              <a:lnSpc>
                <a:spcPct val="105000"/>
              </a:lnSpc>
              <a:buNone/>
            </a:pPr>
            <a:r>
              <a:rPr lang="en-US" sz="1050" b="1" dirty="0">
                <a:solidFill>
                  <a:srgbClr val="DD6B20"/>
                </a:solidFill>
                <a:latin typeface="Segoe UI" pitchFamily="34" charset="0"/>
                <a:ea typeface="Segoe UI" pitchFamily="34" charset="-122"/>
                <a:cs typeface="Segoe UI" pitchFamily="34" charset="-120"/>
              </a:rPr>
              <a:t>Hand-set priors:  </a:t>
            </a:r>
            <a:r>
              <a:rPr lang="en-US" sz="1000" dirty="0">
                <a:solidFill>
                  <a:srgbClr val="4A5568"/>
                </a:solidFill>
                <a:latin typeface="Segoe UI" pitchFamily="34" charset="0"/>
                <a:ea typeface="Segoe UI" pitchFamily="34" charset="-122"/>
                <a:cs typeface="Segoe UI" pitchFamily="34" charset="-120"/>
              </a:rPr>
              <a:t>α, β analyst-assumed, not formally elicited from clinicians — the most important theoretical limitation</a:t>
            </a:r>
            <a:endParaRPr lang="en-US" sz="1050" dirty="0"/>
          </a:p>
        </p:txBody>
      </p:sp>
      <p:sp>
        <p:nvSpPr>
          <p:cNvPr id="21" name="Shape 19"/>
          <p:cNvSpPr/>
          <p:nvPr/>
        </p:nvSpPr>
        <p:spPr>
          <a:xfrm>
            <a:off x="6217920" y="2350008"/>
            <a:ext cx="5532120" cy="822960"/>
          </a:xfrm>
          <a:prstGeom prst="roundRect">
            <a:avLst>
              <a:gd name="adj" fmla="val 8889"/>
            </a:avLst>
          </a:prstGeom>
          <a:solidFill>
            <a:srgbClr val="FFFAF0"/>
          </a:solidFill>
          <a:ln w="9525">
            <a:solidFill>
              <a:srgbClr val="E2E8F0"/>
            </a:solidFill>
            <a:prstDash val="solid"/>
          </a:ln>
        </p:spPr>
        <p:txBody>
          <a:bodyPr/>
          <a:lstStyle/>
          <a:p>
            <a:endParaRPr lang="en-US"/>
          </a:p>
        </p:txBody>
      </p:sp>
      <p:sp>
        <p:nvSpPr>
          <p:cNvPr id="22" name="Shape 20"/>
          <p:cNvSpPr/>
          <p:nvPr/>
        </p:nvSpPr>
        <p:spPr>
          <a:xfrm>
            <a:off x="6217920" y="2350008"/>
            <a:ext cx="64008" cy="822960"/>
          </a:xfrm>
          <a:prstGeom prst="roundRect">
            <a:avLst>
              <a:gd name="adj" fmla="val 42857"/>
            </a:avLst>
          </a:prstGeom>
          <a:solidFill>
            <a:srgbClr val="DD6B20"/>
          </a:solidFill>
          <a:ln/>
        </p:spPr>
        <p:txBody>
          <a:bodyPr/>
          <a:lstStyle/>
          <a:p>
            <a:endParaRPr lang="en-US"/>
          </a:p>
        </p:txBody>
      </p:sp>
      <p:sp>
        <p:nvSpPr>
          <p:cNvPr id="23" name="Text 21"/>
          <p:cNvSpPr/>
          <p:nvPr/>
        </p:nvSpPr>
        <p:spPr>
          <a:xfrm>
            <a:off x="6464808" y="2404872"/>
            <a:ext cx="5120640" cy="713232"/>
          </a:xfrm>
          <a:prstGeom prst="rect">
            <a:avLst/>
          </a:prstGeom>
          <a:noFill/>
          <a:ln/>
        </p:spPr>
        <p:txBody>
          <a:bodyPr wrap="square" rtlCol="0" anchor="ctr"/>
          <a:lstStyle/>
          <a:p>
            <a:pPr marL="0" indent="0">
              <a:lnSpc>
                <a:spcPct val="105000"/>
              </a:lnSpc>
              <a:buNone/>
            </a:pPr>
            <a:r>
              <a:rPr lang="en-US" sz="1050" b="1" dirty="0">
                <a:solidFill>
                  <a:srgbClr val="DD6B20"/>
                </a:solidFill>
                <a:latin typeface="Segoe UI" pitchFamily="34" charset="0"/>
                <a:ea typeface="Segoe UI" pitchFamily="34" charset="-122"/>
                <a:cs typeface="Segoe UI" pitchFamily="34" charset="-120"/>
              </a:rPr>
              <a:t>64% case loss:  </a:t>
            </a:r>
            <a:r>
              <a:rPr lang="en-US" sz="1000" dirty="0">
                <a:solidFill>
                  <a:srgbClr val="4A5568"/>
                </a:solidFill>
                <a:latin typeface="Segoe UI" pitchFamily="34" charset="0"/>
                <a:ea typeface="Segoe UI" pitchFamily="34" charset="-122"/>
                <a:cs typeface="Segoe UI" pitchFamily="34" charset="-120"/>
              </a:rPr>
              <a:t>Representativeness of retained vs. excluded cases cannot be fully verified</a:t>
            </a:r>
            <a:endParaRPr lang="en-US" sz="1050" dirty="0"/>
          </a:p>
        </p:txBody>
      </p:sp>
      <p:sp>
        <p:nvSpPr>
          <p:cNvPr id="24" name="Shape 22"/>
          <p:cNvSpPr/>
          <p:nvPr/>
        </p:nvSpPr>
        <p:spPr>
          <a:xfrm>
            <a:off x="6217920" y="3282696"/>
            <a:ext cx="5532120" cy="822960"/>
          </a:xfrm>
          <a:prstGeom prst="roundRect">
            <a:avLst>
              <a:gd name="adj" fmla="val 8889"/>
            </a:avLst>
          </a:prstGeom>
          <a:solidFill>
            <a:srgbClr val="FFFAF0"/>
          </a:solidFill>
          <a:ln w="9525">
            <a:solidFill>
              <a:srgbClr val="E2E8F0"/>
            </a:solidFill>
            <a:prstDash val="solid"/>
          </a:ln>
        </p:spPr>
        <p:txBody>
          <a:bodyPr/>
          <a:lstStyle/>
          <a:p>
            <a:endParaRPr lang="en-US"/>
          </a:p>
        </p:txBody>
      </p:sp>
      <p:sp>
        <p:nvSpPr>
          <p:cNvPr id="25" name="Shape 23"/>
          <p:cNvSpPr/>
          <p:nvPr/>
        </p:nvSpPr>
        <p:spPr>
          <a:xfrm>
            <a:off x="6217920" y="3282696"/>
            <a:ext cx="64008" cy="822960"/>
          </a:xfrm>
          <a:prstGeom prst="roundRect">
            <a:avLst>
              <a:gd name="adj" fmla="val 42857"/>
            </a:avLst>
          </a:prstGeom>
          <a:solidFill>
            <a:srgbClr val="DD6B20"/>
          </a:solidFill>
          <a:ln/>
        </p:spPr>
        <p:txBody>
          <a:bodyPr/>
          <a:lstStyle/>
          <a:p>
            <a:endParaRPr lang="en-US"/>
          </a:p>
        </p:txBody>
      </p:sp>
      <p:sp>
        <p:nvSpPr>
          <p:cNvPr id="26" name="Text 24"/>
          <p:cNvSpPr/>
          <p:nvPr/>
        </p:nvSpPr>
        <p:spPr>
          <a:xfrm>
            <a:off x="6464808" y="3337560"/>
            <a:ext cx="5120640" cy="713232"/>
          </a:xfrm>
          <a:prstGeom prst="rect">
            <a:avLst/>
          </a:prstGeom>
          <a:noFill/>
          <a:ln/>
        </p:spPr>
        <p:txBody>
          <a:bodyPr wrap="square" rtlCol="0" anchor="ctr"/>
          <a:lstStyle/>
          <a:p>
            <a:pPr marL="0" indent="0">
              <a:lnSpc>
                <a:spcPct val="105000"/>
              </a:lnSpc>
              <a:buNone/>
            </a:pPr>
            <a:r>
              <a:rPr lang="en-US" sz="1050" b="1" dirty="0">
                <a:solidFill>
                  <a:srgbClr val="DD6B20"/>
                </a:solidFill>
                <a:latin typeface="Segoe UI" pitchFamily="34" charset="0"/>
                <a:ea typeface="Segoe UI" pitchFamily="34" charset="-122"/>
                <a:cs typeface="Segoe UI" pitchFamily="34" charset="-120"/>
              </a:rPr>
              <a:t>Single institution:  </a:t>
            </a:r>
            <a:r>
              <a:rPr lang="en-US" sz="1000" dirty="0">
                <a:solidFill>
                  <a:srgbClr val="4A5568"/>
                </a:solidFill>
                <a:latin typeface="Segoe UI" pitchFamily="34" charset="0"/>
                <a:ea typeface="Segoe UI" pitchFamily="34" charset="-122"/>
                <a:cs typeface="Segoe UI" pitchFamily="34" charset="-120"/>
              </a:rPr>
              <a:t>Generalizability to other hospitals untested</a:t>
            </a:r>
            <a:endParaRPr lang="en-US" sz="1050" dirty="0"/>
          </a:p>
        </p:txBody>
      </p:sp>
      <p:sp>
        <p:nvSpPr>
          <p:cNvPr id="27" name="Shape 25"/>
          <p:cNvSpPr/>
          <p:nvPr/>
        </p:nvSpPr>
        <p:spPr>
          <a:xfrm>
            <a:off x="6217920" y="4215384"/>
            <a:ext cx="5532120" cy="822960"/>
          </a:xfrm>
          <a:prstGeom prst="roundRect">
            <a:avLst>
              <a:gd name="adj" fmla="val 8889"/>
            </a:avLst>
          </a:prstGeom>
          <a:solidFill>
            <a:srgbClr val="FFFAF0"/>
          </a:solidFill>
          <a:ln w="9525">
            <a:solidFill>
              <a:srgbClr val="E2E8F0"/>
            </a:solidFill>
            <a:prstDash val="solid"/>
          </a:ln>
        </p:spPr>
        <p:txBody>
          <a:bodyPr/>
          <a:lstStyle/>
          <a:p>
            <a:endParaRPr lang="en-US"/>
          </a:p>
        </p:txBody>
      </p:sp>
      <p:sp>
        <p:nvSpPr>
          <p:cNvPr id="28" name="Shape 26"/>
          <p:cNvSpPr/>
          <p:nvPr/>
        </p:nvSpPr>
        <p:spPr>
          <a:xfrm>
            <a:off x="6217920" y="4215384"/>
            <a:ext cx="64008" cy="822960"/>
          </a:xfrm>
          <a:prstGeom prst="roundRect">
            <a:avLst>
              <a:gd name="adj" fmla="val 42857"/>
            </a:avLst>
          </a:prstGeom>
          <a:solidFill>
            <a:srgbClr val="DD6B20"/>
          </a:solidFill>
          <a:ln/>
        </p:spPr>
        <p:txBody>
          <a:bodyPr/>
          <a:lstStyle/>
          <a:p>
            <a:endParaRPr lang="en-US"/>
          </a:p>
        </p:txBody>
      </p:sp>
      <p:sp>
        <p:nvSpPr>
          <p:cNvPr id="29" name="Text 27"/>
          <p:cNvSpPr/>
          <p:nvPr/>
        </p:nvSpPr>
        <p:spPr>
          <a:xfrm>
            <a:off x="6464808" y="4270248"/>
            <a:ext cx="5120640" cy="713232"/>
          </a:xfrm>
          <a:prstGeom prst="rect">
            <a:avLst/>
          </a:prstGeom>
          <a:noFill/>
          <a:ln/>
        </p:spPr>
        <p:txBody>
          <a:bodyPr wrap="square" rtlCol="0" anchor="ctr"/>
          <a:lstStyle/>
          <a:p>
            <a:pPr marL="0" indent="0">
              <a:lnSpc>
                <a:spcPct val="105000"/>
              </a:lnSpc>
              <a:buNone/>
            </a:pPr>
            <a:r>
              <a:rPr lang="en-US" sz="1050" b="1" dirty="0">
                <a:solidFill>
                  <a:srgbClr val="DD6B20"/>
                </a:solidFill>
                <a:latin typeface="Segoe UI" pitchFamily="34" charset="0"/>
                <a:ea typeface="Segoe UI" pitchFamily="34" charset="-122"/>
                <a:cs typeface="Segoe UI" pitchFamily="34" charset="-120"/>
              </a:rPr>
              <a:t>No outcome linkage:  </a:t>
            </a:r>
            <a:r>
              <a:rPr lang="en-US" sz="1000" dirty="0">
                <a:solidFill>
                  <a:srgbClr val="4A5568"/>
                </a:solidFill>
                <a:latin typeface="Segoe UI" pitchFamily="34" charset="0"/>
                <a:ea typeface="Segoe UI" pitchFamily="34" charset="-122"/>
                <a:cs typeface="Segoe UI" pitchFamily="34" charset="-120"/>
              </a:rPr>
              <a:t>Process timing only — no patient outcomes or severity control</a:t>
            </a:r>
            <a:endParaRPr lang="en-US" sz="1050" dirty="0"/>
          </a:p>
        </p:txBody>
      </p:sp>
      <p:sp>
        <p:nvSpPr>
          <p:cNvPr id="30" name="Shape 28"/>
          <p:cNvSpPr/>
          <p:nvPr/>
        </p:nvSpPr>
        <p:spPr>
          <a:xfrm>
            <a:off x="6217920" y="5148072"/>
            <a:ext cx="5532120" cy="822960"/>
          </a:xfrm>
          <a:prstGeom prst="roundRect">
            <a:avLst>
              <a:gd name="adj" fmla="val 8889"/>
            </a:avLst>
          </a:prstGeom>
          <a:solidFill>
            <a:srgbClr val="FFFAF0"/>
          </a:solidFill>
          <a:ln w="9525">
            <a:solidFill>
              <a:srgbClr val="E2E8F0"/>
            </a:solidFill>
            <a:prstDash val="solid"/>
          </a:ln>
        </p:spPr>
        <p:txBody>
          <a:bodyPr/>
          <a:lstStyle/>
          <a:p>
            <a:endParaRPr lang="en-US"/>
          </a:p>
        </p:txBody>
      </p:sp>
      <p:sp>
        <p:nvSpPr>
          <p:cNvPr id="31" name="Shape 29"/>
          <p:cNvSpPr/>
          <p:nvPr/>
        </p:nvSpPr>
        <p:spPr>
          <a:xfrm>
            <a:off x="6217920" y="5148072"/>
            <a:ext cx="64008" cy="822960"/>
          </a:xfrm>
          <a:prstGeom prst="roundRect">
            <a:avLst>
              <a:gd name="adj" fmla="val 42857"/>
            </a:avLst>
          </a:prstGeom>
          <a:solidFill>
            <a:srgbClr val="DD6B20"/>
          </a:solidFill>
          <a:ln/>
        </p:spPr>
        <p:txBody>
          <a:bodyPr/>
          <a:lstStyle/>
          <a:p>
            <a:endParaRPr lang="en-US"/>
          </a:p>
        </p:txBody>
      </p:sp>
      <p:sp>
        <p:nvSpPr>
          <p:cNvPr id="32" name="Text 30"/>
          <p:cNvSpPr/>
          <p:nvPr/>
        </p:nvSpPr>
        <p:spPr>
          <a:xfrm>
            <a:off x="6464808" y="5202936"/>
            <a:ext cx="5120640" cy="713232"/>
          </a:xfrm>
          <a:prstGeom prst="rect">
            <a:avLst/>
          </a:prstGeom>
          <a:noFill/>
          <a:ln/>
        </p:spPr>
        <p:txBody>
          <a:bodyPr wrap="square" rtlCol="0" anchor="ctr"/>
          <a:lstStyle/>
          <a:p>
            <a:pPr marL="0" indent="0">
              <a:lnSpc>
                <a:spcPct val="105000"/>
              </a:lnSpc>
              <a:buNone/>
            </a:pPr>
            <a:r>
              <a:rPr lang="en-US" sz="1050" b="1" dirty="0">
                <a:solidFill>
                  <a:srgbClr val="DD6B20"/>
                </a:solidFill>
                <a:latin typeface="Segoe UI" pitchFamily="34" charset="0"/>
                <a:ea typeface="Segoe UI" pitchFamily="34" charset="-122"/>
                <a:cs typeface="Segoe UI" pitchFamily="34" charset="-120"/>
              </a:rPr>
              <a:t>No standard benchmark:  </a:t>
            </a:r>
            <a:r>
              <a:rPr lang="en-US" sz="1000" dirty="0">
                <a:solidFill>
                  <a:srgbClr val="4A5568"/>
                </a:solidFill>
                <a:latin typeface="Segoe UI" pitchFamily="34" charset="0"/>
                <a:ea typeface="Segoe UI" pitchFamily="34" charset="-122"/>
                <a:cs typeface="Segoe UI" pitchFamily="34" charset="-120"/>
              </a:rPr>
              <a:t>Inconsistent metrics across studies limit external comparability</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92608"/>
            <a:ext cx="64008" cy="475488"/>
          </a:xfrm>
          <a:prstGeom prst="rect">
            <a:avLst/>
          </a:prstGeom>
          <a:solidFill>
            <a:srgbClr val="3182CE"/>
          </a:solidFill>
          <a:ln/>
        </p:spPr>
        <p:txBody>
          <a:bodyPr/>
          <a:lstStyle/>
          <a:p>
            <a:endParaRPr lang="en-US"/>
          </a:p>
        </p:txBody>
      </p:sp>
      <p:sp>
        <p:nvSpPr>
          <p:cNvPr id="3" name="Text 1"/>
          <p:cNvSpPr/>
          <p:nvPr/>
        </p:nvSpPr>
        <p:spPr>
          <a:xfrm>
            <a:off x="566928" y="237744"/>
            <a:ext cx="11155680" cy="585216"/>
          </a:xfrm>
          <a:prstGeom prst="rect">
            <a:avLst/>
          </a:prstGeom>
          <a:noFill/>
          <a:ln/>
        </p:spPr>
        <p:txBody>
          <a:bodyPr wrap="square" rtlCol="0" anchor="ctr"/>
          <a:lstStyle/>
          <a:p>
            <a:pPr marL="0" indent="0" algn="l">
              <a:buNone/>
            </a:pPr>
            <a:r>
              <a:rPr lang="en-US" sz="2500" b="1" dirty="0">
                <a:solidFill>
                  <a:srgbClr val="1A365D"/>
                </a:solidFill>
                <a:latin typeface="Segoe UI" pitchFamily="34" charset="0"/>
                <a:ea typeface="Segoe UI" pitchFamily="34" charset="-122"/>
                <a:cs typeface="Segoe UI" pitchFamily="34" charset="-120"/>
              </a:rPr>
              <a:t>🚀  Future Work</a:t>
            </a:r>
            <a:endParaRPr lang="en-US" sz="2500" dirty="0"/>
          </a:p>
        </p:txBody>
      </p:sp>
      <p:sp>
        <p:nvSpPr>
          <p:cNvPr id="4" name="Shape 2"/>
          <p:cNvSpPr/>
          <p:nvPr/>
        </p:nvSpPr>
        <p:spPr>
          <a:xfrm>
            <a:off x="411480" y="1143000"/>
            <a:ext cx="11365992" cy="841248"/>
          </a:xfrm>
          <a:prstGeom prst="roundRect">
            <a:avLst>
              <a:gd name="adj" fmla="val 8696"/>
            </a:avLst>
          </a:prstGeom>
          <a:solidFill>
            <a:srgbClr val="FFFAF0"/>
          </a:solidFill>
          <a:ln w="9525">
            <a:solidFill>
              <a:srgbClr val="E2E8F0"/>
            </a:solidFill>
            <a:prstDash val="solid"/>
          </a:ln>
        </p:spPr>
        <p:txBody>
          <a:bodyPr/>
          <a:lstStyle/>
          <a:p>
            <a:endParaRPr lang="en-US"/>
          </a:p>
        </p:txBody>
      </p:sp>
      <p:sp>
        <p:nvSpPr>
          <p:cNvPr id="5" name="Shape 3"/>
          <p:cNvSpPr/>
          <p:nvPr/>
        </p:nvSpPr>
        <p:spPr>
          <a:xfrm>
            <a:off x="411480" y="1143000"/>
            <a:ext cx="64008" cy="841248"/>
          </a:xfrm>
          <a:prstGeom prst="roundRect">
            <a:avLst>
              <a:gd name="adj" fmla="val 42857"/>
            </a:avLst>
          </a:prstGeom>
          <a:solidFill>
            <a:srgbClr val="DD6B20"/>
          </a:solidFill>
          <a:ln/>
        </p:spPr>
        <p:txBody>
          <a:bodyPr/>
          <a:lstStyle/>
          <a:p>
            <a:endParaRPr lang="en-US"/>
          </a:p>
        </p:txBody>
      </p:sp>
      <p:sp>
        <p:nvSpPr>
          <p:cNvPr id="6" name="Shape 4"/>
          <p:cNvSpPr/>
          <p:nvPr/>
        </p:nvSpPr>
        <p:spPr>
          <a:xfrm>
            <a:off x="658368" y="1344168"/>
            <a:ext cx="438912" cy="438912"/>
          </a:xfrm>
          <a:prstGeom prst="ellipse">
            <a:avLst/>
          </a:prstGeom>
          <a:solidFill>
            <a:srgbClr val="DD6B20"/>
          </a:solidFill>
          <a:ln/>
        </p:spPr>
        <p:txBody>
          <a:bodyPr/>
          <a:lstStyle/>
          <a:p>
            <a:endParaRPr lang="en-US"/>
          </a:p>
        </p:txBody>
      </p:sp>
      <p:sp>
        <p:nvSpPr>
          <p:cNvPr id="7" name="Text 5"/>
          <p:cNvSpPr/>
          <p:nvPr/>
        </p:nvSpPr>
        <p:spPr>
          <a:xfrm>
            <a:off x="658368" y="1344168"/>
            <a:ext cx="438912" cy="438912"/>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8" name="Text 6"/>
          <p:cNvSpPr/>
          <p:nvPr/>
        </p:nvSpPr>
        <p:spPr>
          <a:xfrm>
            <a:off x="1280160" y="1197864"/>
            <a:ext cx="10332720" cy="731520"/>
          </a:xfrm>
          <a:prstGeom prst="rect">
            <a:avLst/>
          </a:prstGeom>
          <a:noFill/>
          <a:ln/>
        </p:spPr>
        <p:txBody>
          <a:bodyPr wrap="square" rtlCol="0" anchor="ctr"/>
          <a:lstStyle/>
          <a:p>
            <a:pPr marL="0" indent="0">
              <a:lnSpc>
                <a:spcPct val="105000"/>
              </a:lnSpc>
              <a:buNone/>
            </a:pPr>
            <a:r>
              <a:rPr lang="en-US" sz="1250" b="1" dirty="0">
                <a:solidFill>
                  <a:srgbClr val="1A202C"/>
                </a:solidFill>
                <a:latin typeface="Segoe UI" pitchFamily="34" charset="0"/>
                <a:ea typeface="Segoe UI" pitchFamily="34" charset="-122"/>
                <a:cs typeface="Segoe UI" pitchFamily="34" charset="-120"/>
              </a:rPr>
              <a:t>Formal Prior Elicitation  ⭐   </a:t>
            </a:r>
            <a:r>
              <a:rPr lang="en-US" sz="1100" dirty="0">
                <a:solidFill>
                  <a:srgbClr val="4A5568"/>
                </a:solidFill>
                <a:latin typeface="Segoe UI" pitchFamily="34" charset="0"/>
                <a:ea typeface="Segoe UI" pitchFamily="34" charset="-122"/>
                <a:cs typeface="Segoe UI" pitchFamily="34" charset="-120"/>
              </a:rPr>
              <a:t>Structured interviews with surgical &amp; anesthetic staff to set α, β from clinical expertise — directly answers the main limitation</a:t>
            </a:r>
            <a:endParaRPr lang="en-US" sz="1250" dirty="0"/>
          </a:p>
        </p:txBody>
      </p:sp>
      <p:sp>
        <p:nvSpPr>
          <p:cNvPr id="9" name="Shape 7"/>
          <p:cNvSpPr/>
          <p:nvPr/>
        </p:nvSpPr>
        <p:spPr>
          <a:xfrm>
            <a:off x="411480" y="2112264"/>
            <a:ext cx="11365992" cy="841248"/>
          </a:xfrm>
          <a:prstGeom prst="roundRect">
            <a:avLst>
              <a:gd name="adj" fmla="val 8696"/>
            </a:avLst>
          </a:prstGeom>
          <a:solidFill>
            <a:srgbClr val="F7FAFC"/>
          </a:solidFill>
          <a:ln w="9525">
            <a:solidFill>
              <a:srgbClr val="E2E8F0"/>
            </a:solidFill>
            <a:prstDash val="solid"/>
          </a:ln>
        </p:spPr>
        <p:txBody>
          <a:bodyPr/>
          <a:lstStyle/>
          <a:p>
            <a:endParaRPr lang="en-US"/>
          </a:p>
        </p:txBody>
      </p:sp>
      <p:sp>
        <p:nvSpPr>
          <p:cNvPr id="10" name="Shape 8"/>
          <p:cNvSpPr/>
          <p:nvPr/>
        </p:nvSpPr>
        <p:spPr>
          <a:xfrm>
            <a:off x="411480" y="2112264"/>
            <a:ext cx="64008" cy="841248"/>
          </a:xfrm>
          <a:prstGeom prst="roundRect">
            <a:avLst>
              <a:gd name="adj" fmla="val 42857"/>
            </a:avLst>
          </a:prstGeom>
          <a:solidFill>
            <a:srgbClr val="3182CE"/>
          </a:solidFill>
          <a:ln/>
        </p:spPr>
        <p:txBody>
          <a:bodyPr/>
          <a:lstStyle/>
          <a:p>
            <a:endParaRPr lang="en-US"/>
          </a:p>
        </p:txBody>
      </p:sp>
      <p:sp>
        <p:nvSpPr>
          <p:cNvPr id="11" name="Shape 9"/>
          <p:cNvSpPr/>
          <p:nvPr/>
        </p:nvSpPr>
        <p:spPr>
          <a:xfrm>
            <a:off x="658368" y="2313432"/>
            <a:ext cx="438912" cy="438912"/>
          </a:xfrm>
          <a:prstGeom prst="ellipse">
            <a:avLst/>
          </a:prstGeom>
          <a:solidFill>
            <a:srgbClr val="3182CE"/>
          </a:solidFill>
          <a:ln/>
        </p:spPr>
        <p:txBody>
          <a:bodyPr/>
          <a:lstStyle/>
          <a:p>
            <a:endParaRPr lang="en-US"/>
          </a:p>
        </p:txBody>
      </p:sp>
      <p:sp>
        <p:nvSpPr>
          <p:cNvPr id="12" name="Text 10"/>
          <p:cNvSpPr/>
          <p:nvPr/>
        </p:nvSpPr>
        <p:spPr>
          <a:xfrm>
            <a:off x="658368" y="2313432"/>
            <a:ext cx="438912" cy="438912"/>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13" name="Text 11"/>
          <p:cNvSpPr/>
          <p:nvPr/>
        </p:nvSpPr>
        <p:spPr>
          <a:xfrm>
            <a:off x="1280160" y="2167128"/>
            <a:ext cx="10332720" cy="731520"/>
          </a:xfrm>
          <a:prstGeom prst="rect">
            <a:avLst/>
          </a:prstGeom>
          <a:noFill/>
          <a:ln/>
        </p:spPr>
        <p:txBody>
          <a:bodyPr wrap="square" rtlCol="0" anchor="ctr"/>
          <a:lstStyle/>
          <a:p>
            <a:pPr marL="0" indent="0">
              <a:lnSpc>
                <a:spcPct val="105000"/>
              </a:lnSpc>
              <a:buNone/>
            </a:pPr>
            <a:r>
              <a:rPr lang="en-US" sz="1250" b="1" dirty="0">
                <a:solidFill>
                  <a:srgbClr val="1A202C"/>
                </a:solidFill>
                <a:latin typeface="Segoe UI" pitchFamily="34" charset="0"/>
                <a:ea typeface="Segoe UI" pitchFamily="34" charset="-122"/>
                <a:cs typeface="Segoe UI" pitchFamily="34" charset="-120"/>
              </a:rPr>
              <a:t>Hierarchical Bayesian Model   </a:t>
            </a:r>
            <a:r>
              <a:rPr lang="en-US" sz="1100" dirty="0">
                <a:solidFill>
                  <a:srgbClr val="4A5568"/>
                </a:solidFill>
                <a:latin typeface="Segoe UI" pitchFamily="34" charset="0"/>
                <a:ea typeface="Segoe UI" pitchFamily="34" charset="-122"/>
                <a:cs typeface="Segoe UI" pitchFamily="34" charset="-120"/>
              </a:rPr>
              <a:t>Learn priors from the data's own structure instead of hand-specified defaults</a:t>
            </a:r>
            <a:endParaRPr lang="en-US" sz="1250" dirty="0"/>
          </a:p>
        </p:txBody>
      </p:sp>
      <p:sp>
        <p:nvSpPr>
          <p:cNvPr id="14" name="Shape 12"/>
          <p:cNvSpPr/>
          <p:nvPr/>
        </p:nvSpPr>
        <p:spPr>
          <a:xfrm>
            <a:off x="411480" y="3081528"/>
            <a:ext cx="11365992" cy="841248"/>
          </a:xfrm>
          <a:prstGeom prst="roundRect">
            <a:avLst>
              <a:gd name="adj" fmla="val 8696"/>
            </a:avLst>
          </a:prstGeom>
          <a:solidFill>
            <a:srgbClr val="F7FAFC"/>
          </a:solidFill>
          <a:ln w="9525">
            <a:solidFill>
              <a:srgbClr val="E2E8F0"/>
            </a:solidFill>
            <a:prstDash val="solid"/>
          </a:ln>
        </p:spPr>
        <p:txBody>
          <a:bodyPr/>
          <a:lstStyle/>
          <a:p>
            <a:endParaRPr lang="en-US"/>
          </a:p>
        </p:txBody>
      </p:sp>
      <p:sp>
        <p:nvSpPr>
          <p:cNvPr id="15" name="Shape 13"/>
          <p:cNvSpPr/>
          <p:nvPr/>
        </p:nvSpPr>
        <p:spPr>
          <a:xfrm>
            <a:off x="411480" y="3081528"/>
            <a:ext cx="64008" cy="841248"/>
          </a:xfrm>
          <a:prstGeom prst="roundRect">
            <a:avLst>
              <a:gd name="adj" fmla="val 42857"/>
            </a:avLst>
          </a:prstGeom>
          <a:solidFill>
            <a:srgbClr val="E53E3E"/>
          </a:solidFill>
          <a:ln/>
        </p:spPr>
        <p:txBody>
          <a:bodyPr/>
          <a:lstStyle/>
          <a:p>
            <a:endParaRPr lang="en-US"/>
          </a:p>
        </p:txBody>
      </p:sp>
      <p:sp>
        <p:nvSpPr>
          <p:cNvPr id="16" name="Shape 14"/>
          <p:cNvSpPr/>
          <p:nvPr/>
        </p:nvSpPr>
        <p:spPr>
          <a:xfrm>
            <a:off x="658368" y="3282696"/>
            <a:ext cx="438912" cy="438912"/>
          </a:xfrm>
          <a:prstGeom prst="ellipse">
            <a:avLst/>
          </a:prstGeom>
          <a:solidFill>
            <a:srgbClr val="E53E3E"/>
          </a:solidFill>
          <a:ln/>
        </p:spPr>
        <p:txBody>
          <a:bodyPr/>
          <a:lstStyle/>
          <a:p>
            <a:endParaRPr lang="en-US"/>
          </a:p>
        </p:txBody>
      </p:sp>
      <p:sp>
        <p:nvSpPr>
          <p:cNvPr id="17" name="Text 15"/>
          <p:cNvSpPr/>
          <p:nvPr/>
        </p:nvSpPr>
        <p:spPr>
          <a:xfrm>
            <a:off x="658368" y="3282696"/>
            <a:ext cx="438912" cy="438912"/>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18" name="Text 16"/>
          <p:cNvSpPr/>
          <p:nvPr/>
        </p:nvSpPr>
        <p:spPr>
          <a:xfrm>
            <a:off x="1280160" y="3136392"/>
            <a:ext cx="10332720" cy="731520"/>
          </a:xfrm>
          <a:prstGeom prst="rect">
            <a:avLst/>
          </a:prstGeom>
          <a:noFill/>
          <a:ln/>
        </p:spPr>
        <p:txBody>
          <a:bodyPr wrap="square" rtlCol="0" anchor="ctr"/>
          <a:lstStyle/>
          <a:p>
            <a:pPr marL="0" indent="0">
              <a:lnSpc>
                <a:spcPct val="105000"/>
              </a:lnSpc>
              <a:buNone/>
            </a:pPr>
            <a:r>
              <a:rPr lang="en-US" sz="1250" b="1" dirty="0">
                <a:solidFill>
                  <a:srgbClr val="1A202C"/>
                </a:solidFill>
                <a:latin typeface="Segoe UI" pitchFamily="34" charset="0"/>
                <a:ea typeface="Segoe UI" pitchFamily="34" charset="-122"/>
                <a:cs typeface="Segoe UI" pitchFamily="34" charset="-120"/>
              </a:rPr>
              <a:t>Checklist-Sequencing Chart Review   </a:t>
            </a:r>
            <a:r>
              <a:rPr lang="en-US" sz="1100" dirty="0">
                <a:solidFill>
                  <a:srgbClr val="4A5568"/>
                </a:solidFill>
                <a:latin typeface="Segoe UI" pitchFamily="34" charset="0"/>
                <a:ea typeface="Segoe UI" pitchFamily="34" charset="-122"/>
                <a:cs typeface="Segoe UI" pitchFamily="34" charset="-120"/>
              </a:rPr>
              <a:t>Clinical review of the 1,000+ Incision-before-Timeout cases: documentation lag vs. genuine protocol deviation</a:t>
            </a:r>
            <a:endParaRPr lang="en-US" sz="1250" dirty="0"/>
          </a:p>
        </p:txBody>
      </p:sp>
      <p:sp>
        <p:nvSpPr>
          <p:cNvPr id="19" name="Shape 17"/>
          <p:cNvSpPr/>
          <p:nvPr/>
        </p:nvSpPr>
        <p:spPr>
          <a:xfrm>
            <a:off x="411480" y="4050792"/>
            <a:ext cx="11365992" cy="841248"/>
          </a:xfrm>
          <a:prstGeom prst="roundRect">
            <a:avLst>
              <a:gd name="adj" fmla="val 8696"/>
            </a:avLst>
          </a:prstGeom>
          <a:solidFill>
            <a:srgbClr val="F7FAFC"/>
          </a:solidFill>
          <a:ln w="9525">
            <a:solidFill>
              <a:srgbClr val="E2E8F0"/>
            </a:solidFill>
            <a:prstDash val="solid"/>
          </a:ln>
        </p:spPr>
        <p:txBody>
          <a:bodyPr/>
          <a:lstStyle/>
          <a:p>
            <a:endParaRPr lang="en-US"/>
          </a:p>
        </p:txBody>
      </p:sp>
      <p:sp>
        <p:nvSpPr>
          <p:cNvPr id="20" name="Shape 18"/>
          <p:cNvSpPr/>
          <p:nvPr/>
        </p:nvSpPr>
        <p:spPr>
          <a:xfrm>
            <a:off x="411480" y="4050792"/>
            <a:ext cx="64008" cy="841248"/>
          </a:xfrm>
          <a:prstGeom prst="roundRect">
            <a:avLst>
              <a:gd name="adj" fmla="val 42857"/>
            </a:avLst>
          </a:prstGeom>
          <a:solidFill>
            <a:srgbClr val="38A169"/>
          </a:solidFill>
          <a:ln/>
        </p:spPr>
        <p:txBody>
          <a:bodyPr/>
          <a:lstStyle/>
          <a:p>
            <a:endParaRPr lang="en-US"/>
          </a:p>
        </p:txBody>
      </p:sp>
      <p:sp>
        <p:nvSpPr>
          <p:cNvPr id="21" name="Shape 19"/>
          <p:cNvSpPr/>
          <p:nvPr/>
        </p:nvSpPr>
        <p:spPr>
          <a:xfrm>
            <a:off x="658368" y="4251960"/>
            <a:ext cx="438912" cy="438912"/>
          </a:xfrm>
          <a:prstGeom prst="ellipse">
            <a:avLst/>
          </a:prstGeom>
          <a:solidFill>
            <a:srgbClr val="38A169"/>
          </a:solidFill>
          <a:ln/>
        </p:spPr>
        <p:txBody>
          <a:bodyPr/>
          <a:lstStyle/>
          <a:p>
            <a:endParaRPr lang="en-US"/>
          </a:p>
        </p:txBody>
      </p:sp>
      <p:sp>
        <p:nvSpPr>
          <p:cNvPr id="22" name="Text 20"/>
          <p:cNvSpPr/>
          <p:nvPr/>
        </p:nvSpPr>
        <p:spPr>
          <a:xfrm>
            <a:off x="658368" y="4251960"/>
            <a:ext cx="438912" cy="438912"/>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4</a:t>
            </a:r>
            <a:endParaRPr lang="en-US" sz="1400" dirty="0"/>
          </a:p>
        </p:txBody>
      </p:sp>
      <p:sp>
        <p:nvSpPr>
          <p:cNvPr id="23" name="Text 21"/>
          <p:cNvSpPr/>
          <p:nvPr/>
        </p:nvSpPr>
        <p:spPr>
          <a:xfrm>
            <a:off x="1280160" y="4105656"/>
            <a:ext cx="10332720" cy="731520"/>
          </a:xfrm>
          <a:prstGeom prst="rect">
            <a:avLst/>
          </a:prstGeom>
          <a:noFill/>
          <a:ln/>
        </p:spPr>
        <p:txBody>
          <a:bodyPr wrap="square" rtlCol="0" anchor="ctr"/>
          <a:lstStyle/>
          <a:p>
            <a:pPr marL="0" indent="0">
              <a:lnSpc>
                <a:spcPct val="105000"/>
              </a:lnSpc>
              <a:buNone/>
            </a:pPr>
            <a:r>
              <a:rPr lang="en-US" sz="1250" b="1" dirty="0">
                <a:solidFill>
                  <a:srgbClr val="1A202C"/>
                </a:solidFill>
                <a:latin typeface="Segoe UI" pitchFamily="34" charset="0"/>
                <a:ea typeface="Segoe UI" pitchFamily="34" charset="-122"/>
                <a:cs typeface="Segoe UI" pitchFamily="34" charset="-120"/>
              </a:rPr>
              <a:t>Multi-Institutional Validation   </a:t>
            </a:r>
            <a:r>
              <a:rPr lang="en-US" sz="1100" dirty="0">
                <a:solidFill>
                  <a:srgbClr val="4A5568"/>
                </a:solidFill>
                <a:latin typeface="Segoe UI" pitchFamily="34" charset="0"/>
                <a:ea typeface="Segoe UI" pitchFamily="34" charset="-122"/>
                <a:cs typeface="Segoe UI" pitchFamily="34" charset="-120"/>
              </a:rPr>
              <a:t>Apply the Bayesian Heuristic Miner to other tertiary hospitals' perioperative logs</a:t>
            </a:r>
            <a:endParaRPr lang="en-US" sz="1250" dirty="0"/>
          </a:p>
        </p:txBody>
      </p:sp>
      <p:sp>
        <p:nvSpPr>
          <p:cNvPr id="24" name="Shape 22"/>
          <p:cNvSpPr/>
          <p:nvPr/>
        </p:nvSpPr>
        <p:spPr>
          <a:xfrm>
            <a:off x="411480" y="5020056"/>
            <a:ext cx="11365992" cy="841248"/>
          </a:xfrm>
          <a:prstGeom prst="roundRect">
            <a:avLst>
              <a:gd name="adj" fmla="val 8696"/>
            </a:avLst>
          </a:prstGeom>
          <a:solidFill>
            <a:srgbClr val="F7FAFC"/>
          </a:solidFill>
          <a:ln w="9525">
            <a:solidFill>
              <a:srgbClr val="E2E8F0"/>
            </a:solidFill>
            <a:prstDash val="solid"/>
          </a:ln>
        </p:spPr>
        <p:txBody>
          <a:bodyPr/>
          <a:lstStyle/>
          <a:p>
            <a:endParaRPr lang="en-US"/>
          </a:p>
        </p:txBody>
      </p:sp>
      <p:sp>
        <p:nvSpPr>
          <p:cNvPr id="25" name="Shape 23"/>
          <p:cNvSpPr/>
          <p:nvPr/>
        </p:nvSpPr>
        <p:spPr>
          <a:xfrm>
            <a:off x="411480" y="5020056"/>
            <a:ext cx="64008" cy="841248"/>
          </a:xfrm>
          <a:prstGeom prst="roundRect">
            <a:avLst>
              <a:gd name="adj" fmla="val 42857"/>
            </a:avLst>
          </a:prstGeom>
          <a:solidFill>
            <a:srgbClr val="805AD5"/>
          </a:solidFill>
          <a:ln/>
        </p:spPr>
        <p:txBody>
          <a:bodyPr/>
          <a:lstStyle/>
          <a:p>
            <a:endParaRPr lang="en-US"/>
          </a:p>
        </p:txBody>
      </p:sp>
      <p:sp>
        <p:nvSpPr>
          <p:cNvPr id="26" name="Shape 24"/>
          <p:cNvSpPr/>
          <p:nvPr/>
        </p:nvSpPr>
        <p:spPr>
          <a:xfrm>
            <a:off x="658368" y="5221224"/>
            <a:ext cx="438912" cy="438912"/>
          </a:xfrm>
          <a:prstGeom prst="ellipse">
            <a:avLst/>
          </a:prstGeom>
          <a:solidFill>
            <a:srgbClr val="805AD5"/>
          </a:solidFill>
          <a:ln/>
        </p:spPr>
        <p:txBody>
          <a:bodyPr/>
          <a:lstStyle/>
          <a:p>
            <a:endParaRPr lang="en-US"/>
          </a:p>
        </p:txBody>
      </p:sp>
      <p:sp>
        <p:nvSpPr>
          <p:cNvPr id="27" name="Text 25"/>
          <p:cNvSpPr/>
          <p:nvPr/>
        </p:nvSpPr>
        <p:spPr>
          <a:xfrm>
            <a:off x="658368" y="5221224"/>
            <a:ext cx="438912" cy="438912"/>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5</a:t>
            </a:r>
            <a:endParaRPr lang="en-US" sz="1400" dirty="0"/>
          </a:p>
        </p:txBody>
      </p:sp>
      <p:sp>
        <p:nvSpPr>
          <p:cNvPr id="28" name="Text 26"/>
          <p:cNvSpPr/>
          <p:nvPr/>
        </p:nvSpPr>
        <p:spPr>
          <a:xfrm>
            <a:off x="1280160" y="5074920"/>
            <a:ext cx="10332720" cy="731520"/>
          </a:xfrm>
          <a:prstGeom prst="rect">
            <a:avLst/>
          </a:prstGeom>
          <a:noFill/>
          <a:ln/>
        </p:spPr>
        <p:txBody>
          <a:bodyPr wrap="square" rtlCol="0" anchor="ctr"/>
          <a:lstStyle/>
          <a:p>
            <a:pPr marL="0" indent="0">
              <a:lnSpc>
                <a:spcPct val="105000"/>
              </a:lnSpc>
              <a:buNone/>
            </a:pPr>
            <a:r>
              <a:rPr lang="en-US" sz="1250" b="1" dirty="0">
                <a:solidFill>
                  <a:srgbClr val="1A202C"/>
                </a:solidFill>
                <a:latin typeface="Segoe UI" pitchFamily="34" charset="0"/>
                <a:ea typeface="Segoe UI" pitchFamily="34" charset="-122"/>
                <a:cs typeface="Segoe UI" pitchFamily="34" charset="-120"/>
              </a:rPr>
              <a:t>Deployed Scheduling Dashboard   </a:t>
            </a:r>
            <a:r>
              <a:rPr lang="en-US" sz="1100" dirty="0">
                <a:solidFill>
                  <a:srgbClr val="4A5568"/>
                </a:solidFill>
                <a:latin typeface="Segoe UI" pitchFamily="34" charset="0"/>
                <a:ea typeface="Segoe UI" pitchFamily="34" charset="-122"/>
                <a:cs typeface="Segoe UI" pitchFamily="34" charset="-120"/>
              </a:rPr>
              <a:t>Live specialty-specific dashboard, phased: data quality → dashboard → alerts</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92608"/>
            <a:ext cx="64008" cy="475488"/>
          </a:xfrm>
          <a:prstGeom prst="rect">
            <a:avLst/>
          </a:prstGeom>
          <a:solidFill>
            <a:srgbClr val="2C5282"/>
          </a:solidFill>
          <a:ln/>
        </p:spPr>
        <p:txBody>
          <a:bodyPr/>
          <a:lstStyle/>
          <a:p>
            <a:endParaRPr lang="en-US"/>
          </a:p>
        </p:txBody>
      </p:sp>
      <p:sp>
        <p:nvSpPr>
          <p:cNvPr id="3" name="Text 1"/>
          <p:cNvSpPr/>
          <p:nvPr/>
        </p:nvSpPr>
        <p:spPr>
          <a:xfrm>
            <a:off x="566928" y="237744"/>
            <a:ext cx="11155680" cy="585216"/>
          </a:xfrm>
          <a:prstGeom prst="rect">
            <a:avLst/>
          </a:prstGeom>
          <a:noFill/>
          <a:ln/>
        </p:spPr>
        <p:txBody>
          <a:bodyPr wrap="square" rtlCol="0" anchor="ctr"/>
          <a:lstStyle/>
          <a:p>
            <a:pPr marL="0" indent="0" algn="l">
              <a:buNone/>
            </a:pPr>
            <a:r>
              <a:rPr lang="en-US" sz="2500" b="1" dirty="0">
                <a:solidFill>
                  <a:srgbClr val="1A365D"/>
                </a:solidFill>
                <a:latin typeface="Segoe UI" pitchFamily="34" charset="0"/>
                <a:ea typeface="Segoe UI" pitchFamily="34" charset="-122"/>
                <a:cs typeface="Segoe UI" pitchFamily="34" charset="-120"/>
              </a:rPr>
              <a:t>🏁  Conclusion: Three Takeaways</a:t>
            </a:r>
            <a:endParaRPr lang="en-US" sz="2500" dirty="0"/>
          </a:p>
        </p:txBody>
      </p:sp>
      <p:sp>
        <p:nvSpPr>
          <p:cNvPr id="4" name="Shape 2"/>
          <p:cNvSpPr/>
          <p:nvPr/>
        </p:nvSpPr>
        <p:spPr>
          <a:xfrm>
            <a:off x="411480" y="1143000"/>
            <a:ext cx="11365992" cy="1152144"/>
          </a:xfrm>
          <a:prstGeom prst="roundRect">
            <a:avLst>
              <a:gd name="adj" fmla="val 6349"/>
            </a:avLst>
          </a:prstGeom>
          <a:solidFill>
            <a:srgbClr val="EBF8FF"/>
          </a:solidFill>
          <a:ln w="9525">
            <a:solidFill>
              <a:srgbClr val="E2E8F0"/>
            </a:solidFill>
            <a:prstDash val="solid"/>
          </a:ln>
        </p:spPr>
        <p:txBody>
          <a:bodyPr/>
          <a:lstStyle/>
          <a:p>
            <a:endParaRPr lang="en-US"/>
          </a:p>
        </p:txBody>
      </p:sp>
      <p:sp>
        <p:nvSpPr>
          <p:cNvPr id="5" name="Shape 3"/>
          <p:cNvSpPr/>
          <p:nvPr/>
        </p:nvSpPr>
        <p:spPr>
          <a:xfrm>
            <a:off x="411480" y="1143000"/>
            <a:ext cx="64008" cy="1152144"/>
          </a:xfrm>
          <a:prstGeom prst="roundRect">
            <a:avLst>
              <a:gd name="adj" fmla="val 42857"/>
            </a:avLst>
          </a:prstGeom>
          <a:solidFill>
            <a:srgbClr val="3182CE"/>
          </a:solidFill>
          <a:ln/>
        </p:spPr>
        <p:txBody>
          <a:bodyPr/>
          <a:lstStyle/>
          <a:p>
            <a:endParaRPr lang="en-US"/>
          </a:p>
        </p:txBody>
      </p:sp>
      <p:sp>
        <p:nvSpPr>
          <p:cNvPr id="6" name="Shape 4"/>
          <p:cNvSpPr/>
          <p:nvPr/>
        </p:nvSpPr>
        <p:spPr>
          <a:xfrm>
            <a:off x="685800" y="1472184"/>
            <a:ext cx="493776" cy="493776"/>
          </a:xfrm>
          <a:prstGeom prst="ellipse">
            <a:avLst/>
          </a:prstGeom>
          <a:solidFill>
            <a:srgbClr val="3182CE"/>
          </a:solidFill>
          <a:ln/>
        </p:spPr>
        <p:txBody>
          <a:bodyPr/>
          <a:lstStyle/>
          <a:p>
            <a:endParaRPr lang="en-US"/>
          </a:p>
        </p:txBody>
      </p:sp>
      <p:sp>
        <p:nvSpPr>
          <p:cNvPr id="7" name="Text 5"/>
          <p:cNvSpPr/>
          <p:nvPr/>
        </p:nvSpPr>
        <p:spPr>
          <a:xfrm>
            <a:off x="685800" y="1472184"/>
            <a:ext cx="493776" cy="493776"/>
          </a:xfrm>
          <a:prstGeom prst="rect">
            <a:avLst/>
          </a:prstGeom>
          <a:noFill/>
          <a:ln/>
        </p:spPr>
        <p:txBody>
          <a:bodyPr wrap="square"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1</a:t>
            </a:r>
            <a:endParaRPr lang="en-US" sz="1500" dirty="0"/>
          </a:p>
        </p:txBody>
      </p:sp>
      <p:sp>
        <p:nvSpPr>
          <p:cNvPr id="8" name="Text 6"/>
          <p:cNvSpPr/>
          <p:nvPr/>
        </p:nvSpPr>
        <p:spPr>
          <a:xfrm>
            <a:off x="1371600" y="1252728"/>
            <a:ext cx="10241280" cy="384048"/>
          </a:xfrm>
          <a:prstGeom prst="rect">
            <a:avLst/>
          </a:prstGeom>
          <a:noFill/>
          <a:ln/>
        </p:spPr>
        <p:txBody>
          <a:bodyPr wrap="square" rtlCol="0" anchor="ctr"/>
          <a:lstStyle/>
          <a:p>
            <a:pPr marL="0" indent="0">
              <a:buNone/>
            </a:pPr>
            <a:r>
              <a:rPr lang="en-US" sz="1350" b="1" dirty="0">
                <a:solidFill>
                  <a:srgbClr val="1A202C"/>
                </a:solidFill>
                <a:latin typeface="Segoe UI" pitchFamily="34" charset="0"/>
                <a:ea typeface="Segoe UI" pitchFamily="34" charset="-122"/>
                <a:cs typeface="Segoe UI" pitchFamily="34" charset="-120"/>
              </a:rPr>
              <a:t>Surgical scheduling can be grounded in data, not guesswork</a:t>
            </a:r>
            <a:endParaRPr lang="en-US" sz="1350" dirty="0"/>
          </a:p>
        </p:txBody>
      </p:sp>
      <p:sp>
        <p:nvSpPr>
          <p:cNvPr id="9" name="Text 7"/>
          <p:cNvSpPr/>
          <p:nvPr/>
        </p:nvSpPr>
        <p:spPr>
          <a:xfrm>
            <a:off x="1371600" y="1655064"/>
            <a:ext cx="10241280" cy="566928"/>
          </a:xfrm>
          <a:prstGeom prst="rect">
            <a:avLst/>
          </a:prstGeom>
          <a:noFill/>
          <a:ln/>
        </p:spPr>
        <p:txBody>
          <a:bodyPr wrap="square" rtlCol="0" anchor="t"/>
          <a:lstStyle/>
          <a:p>
            <a:pPr marL="0" indent="0">
              <a:lnSpc>
                <a:spcPct val="105000"/>
              </a:lnSpc>
              <a:buNone/>
            </a:pPr>
            <a:r>
              <a:rPr lang="en-US" sz="1100" dirty="0">
                <a:solidFill>
                  <a:srgbClr val="4A5568"/>
                </a:solidFill>
                <a:latin typeface="Segoe UI" pitchFamily="34" charset="0"/>
                <a:ea typeface="Segoe UI" pitchFamily="34" charset="-122"/>
                <a:cs typeface="Segoe UI" pitchFamily="34" charset="-120"/>
              </a:rPr>
              <a:t>162,286 real cases → 83% canonical pathway + 17% structured exceptions; surgeon-level variation is measurable and actionable</a:t>
            </a:r>
            <a:endParaRPr lang="en-US" sz="1100" dirty="0"/>
          </a:p>
        </p:txBody>
      </p:sp>
      <p:sp>
        <p:nvSpPr>
          <p:cNvPr id="10" name="Shape 8"/>
          <p:cNvSpPr/>
          <p:nvPr/>
        </p:nvSpPr>
        <p:spPr>
          <a:xfrm>
            <a:off x="411480" y="2441448"/>
            <a:ext cx="11365992" cy="1152144"/>
          </a:xfrm>
          <a:prstGeom prst="roundRect">
            <a:avLst>
              <a:gd name="adj" fmla="val 6349"/>
            </a:avLst>
          </a:prstGeom>
          <a:solidFill>
            <a:srgbClr val="FFFAF0"/>
          </a:solidFill>
          <a:ln w="9525">
            <a:solidFill>
              <a:srgbClr val="E2E8F0"/>
            </a:solidFill>
            <a:prstDash val="solid"/>
          </a:ln>
        </p:spPr>
        <p:txBody>
          <a:bodyPr/>
          <a:lstStyle/>
          <a:p>
            <a:endParaRPr lang="en-US"/>
          </a:p>
        </p:txBody>
      </p:sp>
      <p:sp>
        <p:nvSpPr>
          <p:cNvPr id="11" name="Shape 9"/>
          <p:cNvSpPr/>
          <p:nvPr/>
        </p:nvSpPr>
        <p:spPr>
          <a:xfrm>
            <a:off x="411480" y="2441448"/>
            <a:ext cx="64008" cy="1152144"/>
          </a:xfrm>
          <a:prstGeom prst="roundRect">
            <a:avLst>
              <a:gd name="adj" fmla="val 42857"/>
            </a:avLst>
          </a:prstGeom>
          <a:solidFill>
            <a:srgbClr val="DD6B20"/>
          </a:solidFill>
          <a:ln/>
        </p:spPr>
        <p:txBody>
          <a:bodyPr/>
          <a:lstStyle/>
          <a:p>
            <a:endParaRPr lang="en-US"/>
          </a:p>
        </p:txBody>
      </p:sp>
      <p:sp>
        <p:nvSpPr>
          <p:cNvPr id="12" name="Shape 10"/>
          <p:cNvSpPr/>
          <p:nvPr/>
        </p:nvSpPr>
        <p:spPr>
          <a:xfrm>
            <a:off x="685800" y="2770632"/>
            <a:ext cx="493776" cy="493776"/>
          </a:xfrm>
          <a:prstGeom prst="ellipse">
            <a:avLst/>
          </a:prstGeom>
          <a:solidFill>
            <a:srgbClr val="DD6B20"/>
          </a:solidFill>
          <a:ln/>
        </p:spPr>
        <p:txBody>
          <a:bodyPr/>
          <a:lstStyle/>
          <a:p>
            <a:endParaRPr lang="en-US"/>
          </a:p>
        </p:txBody>
      </p:sp>
      <p:sp>
        <p:nvSpPr>
          <p:cNvPr id="13" name="Text 11"/>
          <p:cNvSpPr/>
          <p:nvPr/>
        </p:nvSpPr>
        <p:spPr>
          <a:xfrm>
            <a:off x="685800" y="2770632"/>
            <a:ext cx="493776" cy="493776"/>
          </a:xfrm>
          <a:prstGeom prst="rect">
            <a:avLst/>
          </a:prstGeom>
          <a:noFill/>
          <a:ln/>
        </p:spPr>
        <p:txBody>
          <a:bodyPr wrap="square"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2</a:t>
            </a:r>
            <a:endParaRPr lang="en-US" sz="1500" dirty="0"/>
          </a:p>
        </p:txBody>
      </p:sp>
      <p:sp>
        <p:nvSpPr>
          <p:cNvPr id="14" name="Text 12"/>
          <p:cNvSpPr/>
          <p:nvPr/>
        </p:nvSpPr>
        <p:spPr>
          <a:xfrm>
            <a:off x="1371600" y="2551176"/>
            <a:ext cx="10241280" cy="384048"/>
          </a:xfrm>
          <a:prstGeom prst="rect">
            <a:avLst/>
          </a:prstGeom>
          <a:noFill/>
          <a:ln/>
        </p:spPr>
        <p:txBody>
          <a:bodyPr wrap="square" rtlCol="0" anchor="ctr"/>
          <a:lstStyle/>
          <a:p>
            <a:pPr marL="0" indent="0">
              <a:buNone/>
            </a:pPr>
            <a:r>
              <a:rPr lang="en-US" sz="1350" b="1" dirty="0">
                <a:solidFill>
                  <a:srgbClr val="1A202C"/>
                </a:solidFill>
                <a:latin typeface="Segoe UI" pitchFamily="34" charset="0"/>
                <a:ea typeface="Segoe UI" pitchFamily="34" charset="-122"/>
                <a:cs typeface="Segoe UI" pitchFamily="34" charset="-120"/>
              </a:rPr>
              <a:t>Statistical calibration during discovery changes what we can say about rare events</a:t>
            </a:r>
            <a:endParaRPr lang="en-US" sz="1350" dirty="0"/>
          </a:p>
        </p:txBody>
      </p:sp>
      <p:sp>
        <p:nvSpPr>
          <p:cNvPr id="15" name="Text 13"/>
          <p:cNvSpPr/>
          <p:nvPr/>
        </p:nvSpPr>
        <p:spPr>
          <a:xfrm>
            <a:off x="1371600" y="2953512"/>
            <a:ext cx="10241280" cy="566928"/>
          </a:xfrm>
          <a:prstGeom prst="rect">
            <a:avLst/>
          </a:prstGeom>
          <a:noFill/>
          <a:ln/>
        </p:spPr>
        <p:txBody>
          <a:bodyPr wrap="square" rtlCol="0" anchor="t"/>
          <a:lstStyle/>
          <a:p>
            <a:pPr marL="0" indent="0">
              <a:lnSpc>
                <a:spcPct val="105000"/>
              </a:lnSpc>
              <a:buNone/>
            </a:pPr>
            <a:r>
              <a:rPr lang="en-US" sz="1100" dirty="0">
                <a:solidFill>
                  <a:srgbClr val="4A5568"/>
                </a:solidFill>
                <a:latin typeface="Segoe UI" pitchFamily="34" charset="0"/>
                <a:ea typeface="Segoe UI" pitchFamily="34" charset="-122"/>
                <a:cs typeface="Segoe UI" pitchFamily="34" charset="-120"/>
              </a:rPr>
              <a:t>Confirmed exceptions vs. noise — surfacing a checklist-sequencing deviation the frequency-only baseline missed entirely</a:t>
            </a:r>
            <a:endParaRPr lang="en-US" sz="1100" dirty="0"/>
          </a:p>
        </p:txBody>
      </p:sp>
      <p:sp>
        <p:nvSpPr>
          <p:cNvPr id="16" name="Shape 14"/>
          <p:cNvSpPr/>
          <p:nvPr/>
        </p:nvSpPr>
        <p:spPr>
          <a:xfrm>
            <a:off x="411480" y="3739896"/>
            <a:ext cx="11365992" cy="1152144"/>
          </a:xfrm>
          <a:prstGeom prst="roundRect">
            <a:avLst>
              <a:gd name="adj" fmla="val 6349"/>
            </a:avLst>
          </a:prstGeom>
          <a:solidFill>
            <a:srgbClr val="F0FFF4"/>
          </a:solidFill>
          <a:ln w="9525">
            <a:solidFill>
              <a:srgbClr val="E2E8F0"/>
            </a:solidFill>
            <a:prstDash val="solid"/>
          </a:ln>
        </p:spPr>
        <p:txBody>
          <a:bodyPr/>
          <a:lstStyle/>
          <a:p>
            <a:endParaRPr lang="en-US"/>
          </a:p>
        </p:txBody>
      </p:sp>
      <p:sp>
        <p:nvSpPr>
          <p:cNvPr id="17" name="Shape 15"/>
          <p:cNvSpPr/>
          <p:nvPr/>
        </p:nvSpPr>
        <p:spPr>
          <a:xfrm>
            <a:off x="411480" y="3739896"/>
            <a:ext cx="64008" cy="1152144"/>
          </a:xfrm>
          <a:prstGeom prst="roundRect">
            <a:avLst>
              <a:gd name="adj" fmla="val 42857"/>
            </a:avLst>
          </a:prstGeom>
          <a:solidFill>
            <a:srgbClr val="38A169"/>
          </a:solidFill>
          <a:ln/>
        </p:spPr>
        <p:txBody>
          <a:bodyPr/>
          <a:lstStyle/>
          <a:p>
            <a:endParaRPr lang="en-US"/>
          </a:p>
        </p:txBody>
      </p:sp>
      <p:sp>
        <p:nvSpPr>
          <p:cNvPr id="18" name="Shape 16"/>
          <p:cNvSpPr/>
          <p:nvPr/>
        </p:nvSpPr>
        <p:spPr>
          <a:xfrm>
            <a:off x="685800" y="4069080"/>
            <a:ext cx="493776" cy="493776"/>
          </a:xfrm>
          <a:prstGeom prst="ellipse">
            <a:avLst/>
          </a:prstGeom>
          <a:solidFill>
            <a:srgbClr val="38A169"/>
          </a:solidFill>
          <a:ln/>
        </p:spPr>
        <p:txBody>
          <a:bodyPr/>
          <a:lstStyle/>
          <a:p>
            <a:endParaRPr lang="en-US"/>
          </a:p>
        </p:txBody>
      </p:sp>
      <p:sp>
        <p:nvSpPr>
          <p:cNvPr id="19" name="Text 17"/>
          <p:cNvSpPr/>
          <p:nvPr/>
        </p:nvSpPr>
        <p:spPr>
          <a:xfrm>
            <a:off x="685800" y="4069080"/>
            <a:ext cx="493776" cy="493776"/>
          </a:xfrm>
          <a:prstGeom prst="rect">
            <a:avLst/>
          </a:prstGeom>
          <a:noFill/>
          <a:ln/>
        </p:spPr>
        <p:txBody>
          <a:bodyPr wrap="square"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3</a:t>
            </a:r>
            <a:endParaRPr lang="en-US" sz="1500" dirty="0"/>
          </a:p>
        </p:txBody>
      </p:sp>
      <p:sp>
        <p:nvSpPr>
          <p:cNvPr id="20" name="Text 18"/>
          <p:cNvSpPr/>
          <p:nvPr/>
        </p:nvSpPr>
        <p:spPr>
          <a:xfrm>
            <a:off x="1371600" y="3849624"/>
            <a:ext cx="10241280" cy="384048"/>
          </a:xfrm>
          <a:prstGeom prst="rect">
            <a:avLst/>
          </a:prstGeom>
          <a:noFill/>
          <a:ln/>
        </p:spPr>
        <p:txBody>
          <a:bodyPr wrap="square" rtlCol="0" anchor="ctr"/>
          <a:lstStyle/>
          <a:p>
            <a:pPr marL="0" indent="0">
              <a:buNone/>
            </a:pPr>
            <a:r>
              <a:rPr lang="en-US" sz="1350" b="1" dirty="0">
                <a:solidFill>
                  <a:srgbClr val="1A202C"/>
                </a:solidFill>
                <a:latin typeface="Segoe UI" pitchFamily="34" charset="0"/>
                <a:ea typeface="Segoe UI" pitchFamily="34" charset="-122"/>
                <a:cs typeface="Segoe UI" pitchFamily="34" charset="-120"/>
              </a:rPr>
              <a:t>Mean and median together prevent materially misleading conclusions</a:t>
            </a:r>
            <a:endParaRPr lang="en-US" sz="1350" dirty="0"/>
          </a:p>
        </p:txBody>
      </p:sp>
      <p:sp>
        <p:nvSpPr>
          <p:cNvPr id="21" name="Text 19"/>
          <p:cNvSpPr/>
          <p:nvPr/>
        </p:nvSpPr>
        <p:spPr>
          <a:xfrm>
            <a:off x="1371600" y="4251960"/>
            <a:ext cx="10241280" cy="566928"/>
          </a:xfrm>
          <a:prstGeom prst="rect">
            <a:avLst/>
          </a:prstGeom>
          <a:noFill/>
          <a:ln/>
        </p:spPr>
        <p:txBody>
          <a:bodyPr wrap="square" rtlCol="0" anchor="t"/>
          <a:lstStyle/>
          <a:p>
            <a:pPr marL="0" indent="0">
              <a:lnSpc>
                <a:spcPct val="105000"/>
              </a:lnSpc>
              <a:buNone/>
            </a:pPr>
            <a:r>
              <a:rPr lang="en-US" sz="1100" dirty="0">
                <a:solidFill>
                  <a:srgbClr val="4A5568"/>
                </a:solidFill>
                <a:latin typeface="Segoe UI" pitchFamily="34" charset="0"/>
                <a:ea typeface="Segoe UI" pitchFamily="34" charset="-122"/>
                <a:cs typeface="Segoe UI" pitchFamily="34" charset="-120"/>
              </a:rPr>
              <a:t>10-day mean vs. 10-minute median on the same transition — independently corroborated in unrelated hospital data</a:t>
            </a:r>
            <a:endParaRPr lang="en-US" sz="1100" dirty="0"/>
          </a:p>
        </p:txBody>
      </p:sp>
      <p:sp>
        <p:nvSpPr>
          <p:cNvPr id="22" name="Shape 20"/>
          <p:cNvSpPr/>
          <p:nvPr/>
        </p:nvSpPr>
        <p:spPr>
          <a:xfrm>
            <a:off x="411480" y="5166360"/>
            <a:ext cx="11365992" cy="1234440"/>
          </a:xfrm>
          <a:prstGeom prst="roundRect">
            <a:avLst>
              <a:gd name="adj" fmla="val 7407"/>
            </a:avLst>
          </a:prstGeom>
          <a:solidFill>
            <a:srgbClr val="1A365D"/>
          </a:solidFill>
          <a:ln/>
        </p:spPr>
        <p:txBody>
          <a:bodyPr/>
          <a:lstStyle/>
          <a:p>
            <a:endParaRPr lang="en-US"/>
          </a:p>
        </p:txBody>
      </p:sp>
      <p:sp>
        <p:nvSpPr>
          <p:cNvPr id="23" name="Text 21"/>
          <p:cNvSpPr/>
          <p:nvPr/>
        </p:nvSpPr>
        <p:spPr>
          <a:xfrm>
            <a:off x="777240" y="5257800"/>
            <a:ext cx="10652760" cy="1051560"/>
          </a:xfrm>
          <a:prstGeom prst="rect">
            <a:avLst/>
          </a:prstGeom>
          <a:noFill/>
          <a:ln/>
        </p:spPr>
        <p:txBody>
          <a:bodyPr wrap="square" rtlCol="0" anchor="ctr"/>
          <a:lstStyle/>
          <a:p>
            <a:pPr marL="0" indent="0" algn="ctr">
              <a:lnSpc>
                <a:spcPct val="115000"/>
              </a:lnSpc>
              <a:buNone/>
            </a:pPr>
            <a:r>
              <a:rPr lang="en-US" sz="1300" i="1" dirty="0">
                <a:solidFill>
                  <a:srgbClr val="FFFFFF"/>
                </a:solidFill>
                <a:latin typeface="Segoe UI" pitchFamily="34" charset="0"/>
                <a:ea typeface="Segoe UI" pitchFamily="34" charset="-122"/>
                <a:cs typeface="Segoe UI" pitchFamily="34" charset="-120"/>
              </a:rPr>
              <a:t>“A well-targeted statistical correction to an existing, trusted discovery algorithm, applied to data a hospital already collects, can surface specific, actionable findings that neither informal clinical experience nor an uncorrected frequency count could reveal.”</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365D"/>
        </a:solidFill>
        <a:effectLst/>
      </p:bgPr>
    </p:bg>
    <p:spTree>
      <p:nvGrpSpPr>
        <p:cNvPr id="1" name=""/>
        <p:cNvGrpSpPr/>
        <p:nvPr/>
      </p:nvGrpSpPr>
      <p:grpSpPr>
        <a:xfrm>
          <a:off x="0" y="0"/>
          <a:ext cx="0" cy="0"/>
          <a:chOff x="0" y="0"/>
          <a:chExt cx="0" cy="0"/>
        </a:xfrm>
      </p:grpSpPr>
      <p:sp>
        <p:nvSpPr>
          <p:cNvPr id="2" name="Text 0"/>
          <p:cNvSpPr/>
          <p:nvPr/>
        </p:nvSpPr>
        <p:spPr>
          <a:xfrm>
            <a:off x="822960" y="1554480"/>
            <a:ext cx="10515600" cy="914400"/>
          </a:xfrm>
          <a:prstGeom prst="rect">
            <a:avLst/>
          </a:prstGeom>
          <a:noFill/>
          <a:ln/>
        </p:spPr>
        <p:txBody>
          <a:bodyPr wrap="square" rtlCol="0" anchor="ctr"/>
          <a:lstStyle/>
          <a:p>
            <a:pPr marL="0" indent="0" algn="ctr">
              <a:buNone/>
            </a:pPr>
            <a:r>
              <a:rPr lang="en-US" sz="4800" b="1" dirty="0">
                <a:solidFill>
                  <a:srgbClr val="FFFFFF"/>
                </a:solidFill>
                <a:latin typeface="Segoe UI" pitchFamily="34" charset="0"/>
                <a:ea typeface="Segoe UI" pitchFamily="34" charset="-122"/>
                <a:cs typeface="Segoe UI" pitchFamily="34" charset="-120"/>
              </a:rPr>
              <a:t>Thank You</a:t>
            </a:r>
            <a:endParaRPr lang="en-US" sz="4800" dirty="0"/>
          </a:p>
        </p:txBody>
      </p:sp>
      <p:sp>
        <p:nvSpPr>
          <p:cNvPr id="3" name="Text 1"/>
          <p:cNvSpPr/>
          <p:nvPr/>
        </p:nvSpPr>
        <p:spPr>
          <a:xfrm>
            <a:off x="822960" y="2514600"/>
            <a:ext cx="10515600" cy="502920"/>
          </a:xfrm>
          <a:prstGeom prst="rect">
            <a:avLst/>
          </a:prstGeom>
          <a:noFill/>
          <a:ln/>
        </p:spPr>
        <p:txBody>
          <a:bodyPr wrap="square" rtlCol="0" anchor="ctr"/>
          <a:lstStyle/>
          <a:p>
            <a:pPr marL="0" indent="0" algn="ctr">
              <a:buNone/>
            </a:pPr>
            <a:r>
              <a:rPr lang="en-US" sz="2000" dirty="0">
                <a:solidFill>
                  <a:srgbClr val="90CDF4"/>
                </a:solidFill>
                <a:latin typeface="Segoe UI" pitchFamily="34" charset="0"/>
                <a:ea typeface="Segoe UI" pitchFamily="34" charset="-122"/>
                <a:cs typeface="Segoe UI" pitchFamily="34" charset="-120"/>
              </a:rPr>
              <a:t>Questions &amp; Discussion</a:t>
            </a:r>
            <a:endParaRPr lang="en-US" sz="2000" dirty="0"/>
          </a:p>
        </p:txBody>
      </p:sp>
      <p:sp>
        <p:nvSpPr>
          <p:cNvPr id="4" name="Shape 2"/>
          <p:cNvSpPr/>
          <p:nvPr/>
        </p:nvSpPr>
        <p:spPr>
          <a:xfrm>
            <a:off x="640080" y="3840480"/>
            <a:ext cx="2057400" cy="1371600"/>
          </a:xfrm>
          <a:prstGeom prst="roundRect">
            <a:avLst>
              <a:gd name="adj" fmla="val 5333"/>
            </a:avLst>
          </a:prstGeom>
          <a:solidFill>
            <a:srgbClr val="2C5282"/>
          </a:solidFill>
          <a:ln w="9525">
            <a:solidFill>
              <a:srgbClr val="63B3ED"/>
            </a:solidFill>
            <a:prstDash val="solid"/>
          </a:ln>
        </p:spPr>
        <p:txBody>
          <a:bodyPr/>
          <a:lstStyle/>
          <a:p>
            <a:endParaRPr lang="en-US"/>
          </a:p>
        </p:txBody>
      </p:sp>
      <p:sp>
        <p:nvSpPr>
          <p:cNvPr id="5" name="Text 3"/>
          <p:cNvSpPr/>
          <p:nvPr/>
        </p:nvSpPr>
        <p:spPr>
          <a:xfrm>
            <a:off x="640080" y="4041648"/>
            <a:ext cx="2057400" cy="548640"/>
          </a:xfrm>
          <a:prstGeom prst="rect">
            <a:avLst/>
          </a:prstGeom>
          <a:noFill/>
          <a:ln/>
        </p:spPr>
        <p:txBody>
          <a:bodyPr wrap="square" rtlCol="0" anchor="ctr"/>
          <a:lstStyle/>
          <a:p>
            <a:pPr marL="0" indent="0" algn="ctr">
              <a:buNone/>
            </a:pPr>
            <a:r>
              <a:rPr lang="en-US" sz="1700" b="1" dirty="0">
                <a:solidFill>
                  <a:srgbClr val="FFFFFF"/>
                </a:solidFill>
                <a:latin typeface="Segoe UI" pitchFamily="34" charset="0"/>
                <a:ea typeface="Segoe UI" pitchFamily="34" charset="-122"/>
                <a:cs typeface="Segoe UI" pitchFamily="34" charset="-120"/>
              </a:rPr>
              <a:t>162,286</a:t>
            </a:r>
            <a:endParaRPr lang="en-US" sz="1700" dirty="0"/>
          </a:p>
        </p:txBody>
      </p:sp>
      <p:sp>
        <p:nvSpPr>
          <p:cNvPr id="6" name="Text 4"/>
          <p:cNvSpPr/>
          <p:nvPr/>
        </p:nvSpPr>
        <p:spPr>
          <a:xfrm>
            <a:off x="640080" y="4617720"/>
            <a:ext cx="2057400" cy="365760"/>
          </a:xfrm>
          <a:prstGeom prst="rect">
            <a:avLst/>
          </a:prstGeom>
          <a:noFill/>
          <a:ln/>
        </p:spPr>
        <p:txBody>
          <a:bodyPr wrap="square" rtlCol="0" anchor="ctr"/>
          <a:lstStyle/>
          <a:p>
            <a:pPr marL="0" indent="0" algn="ctr">
              <a:buNone/>
            </a:pPr>
            <a:r>
              <a:rPr lang="en-US" sz="1000" dirty="0">
                <a:solidFill>
                  <a:srgbClr val="BEE3F8"/>
                </a:solidFill>
                <a:latin typeface="Segoe UI" pitchFamily="34" charset="0"/>
                <a:ea typeface="Segoe UI" pitchFamily="34" charset="-122"/>
                <a:cs typeface="Segoe UI" pitchFamily="34" charset="-120"/>
              </a:rPr>
              <a:t>cases analyzed</a:t>
            </a:r>
            <a:endParaRPr lang="en-US" sz="1000" dirty="0"/>
          </a:p>
        </p:txBody>
      </p:sp>
      <p:sp>
        <p:nvSpPr>
          <p:cNvPr id="7" name="Shape 5"/>
          <p:cNvSpPr/>
          <p:nvPr/>
        </p:nvSpPr>
        <p:spPr>
          <a:xfrm>
            <a:off x="2880360" y="3840480"/>
            <a:ext cx="2057400" cy="1371600"/>
          </a:xfrm>
          <a:prstGeom prst="roundRect">
            <a:avLst>
              <a:gd name="adj" fmla="val 5333"/>
            </a:avLst>
          </a:prstGeom>
          <a:solidFill>
            <a:srgbClr val="2C5282"/>
          </a:solidFill>
          <a:ln w="9525">
            <a:solidFill>
              <a:srgbClr val="63B3ED"/>
            </a:solidFill>
            <a:prstDash val="solid"/>
          </a:ln>
        </p:spPr>
        <p:txBody>
          <a:bodyPr/>
          <a:lstStyle/>
          <a:p>
            <a:endParaRPr lang="en-US"/>
          </a:p>
        </p:txBody>
      </p:sp>
      <p:sp>
        <p:nvSpPr>
          <p:cNvPr id="8" name="Text 6"/>
          <p:cNvSpPr/>
          <p:nvPr/>
        </p:nvSpPr>
        <p:spPr>
          <a:xfrm>
            <a:off x="2880360" y="4041648"/>
            <a:ext cx="2057400" cy="548640"/>
          </a:xfrm>
          <a:prstGeom prst="rect">
            <a:avLst/>
          </a:prstGeom>
          <a:noFill/>
          <a:ln/>
        </p:spPr>
        <p:txBody>
          <a:bodyPr wrap="square" rtlCol="0" anchor="ctr"/>
          <a:lstStyle/>
          <a:p>
            <a:pPr marL="0" indent="0" algn="ctr">
              <a:buNone/>
            </a:pPr>
            <a:r>
              <a:rPr lang="en-US" sz="1700" b="1" dirty="0">
                <a:solidFill>
                  <a:srgbClr val="FFFFFF"/>
                </a:solidFill>
                <a:latin typeface="Segoe UI" pitchFamily="34" charset="0"/>
                <a:ea typeface="Segoe UI" pitchFamily="34" charset="-122"/>
                <a:cs typeface="Segoe UI" pitchFamily="34" charset="-120"/>
              </a:rPr>
              <a:t>17 → 32</a:t>
            </a:r>
            <a:endParaRPr lang="en-US" sz="1700" dirty="0"/>
          </a:p>
        </p:txBody>
      </p:sp>
      <p:sp>
        <p:nvSpPr>
          <p:cNvPr id="9" name="Text 7"/>
          <p:cNvSpPr/>
          <p:nvPr/>
        </p:nvSpPr>
        <p:spPr>
          <a:xfrm>
            <a:off x="2880360" y="4617720"/>
            <a:ext cx="2057400" cy="365760"/>
          </a:xfrm>
          <a:prstGeom prst="rect">
            <a:avLst/>
          </a:prstGeom>
          <a:noFill/>
          <a:ln/>
        </p:spPr>
        <p:txBody>
          <a:bodyPr wrap="square" rtlCol="0" anchor="ctr"/>
          <a:lstStyle/>
          <a:p>
            <a:pPr marL="0" indent="0" algn="ctr">
              <a:buNone/>
            </a:pPr>
            <a:r>
              <a:rPr lang="en-US" sz="1000" dirty="0">
                <a:solidFill>
                  <a:srgbClr val="BEE3F8"/>
                </a:solidFill>
                <a:latin typeface="Segoe UI" pitchFamily="34" charset="0"/>
                <a:ea typeface="Segoe UI" pitchFamily="34" charset="-122"/>
                <a:cs typeface="Segoe UI" pitchFamily="34" charset="-120"/>
              </a:rPr>
              <a:t>edges discovered</a:t>
            </a:r>
            <a:endParaRPr lang="en-US" sz="1000" dirty="0"/>
          </a:p>
        </p:txBody>
      </p:sp>
      <p:sp>
        <p:nvSpPr>
          <p:cNvPr id="10" name="Shape 8"/>
          <p:cNvSpPr/>
          <p:nvPr/>
        </p:nvSpPr>
        <p:spPr>
          <a:xfrm>
            <a:off x="5120640" y="3840480"/>
            <a:ext cx="2057400" cy="1371600"/>
          </a:xfrm>
          <a:prstGeom prst="roundRect">
            <a:avLst>
              <a:gd name="adj" fmla="val 5333"/>
            </a:avLst>
          </a:prstGeom>
          <a:solidFill>
            <a:srgbClr val="2C5282"/>
          </a:solidFill>
          <a:ln w="9525">
            <a:solidFill>
              <a:srgbClr val="63B3ED"/>
            </a:solidFill>
            <a:prstDash val="solid"/>
          </a:ln>
        </p:spPr>
        <p:txBody>
          <a:bodyPr/>
          <a:lstStyle/>
          <a:p>
            <a:endParaRPr lang="en-US"/>
          </a:p>
        </p:txBody>
      </p:sp>
      <p:sp>
        <p:nvSpPr>
          <p:cNvPr id="11" name="Text 9"/>
          <p:cNvSpPr/>
          <p:nvPr/>
        </p:nvSpPr>
        <p:spPr>
          <a:xfrm>
            <a:off x="5120640" y="4041648"/>
            <a:ext cx="2057400" cy="548640"/>
          </a:xfrm>
          <a:prstGeom prst="rect">
            <a:avLst/>
          </a:prstGeom>
          <a:noFill/>
          <a:ln/>
        </p:spPr>
        <p:txBody>
          <a:bodyPr wrap="square" rtlCol="0" anchor="ctr"/>
          <a:lstStyle/>
          <a:p>
            <a:pPr marL="0" indent="0" algn="ctr">
              <a:buNone/>
            </a:pPr>
            <a:r>
              <a:rPr lang="en-US" sz="1700" b="1" dirty="0">
                <a:solidFill>
                  <a:srgbClr val="FFFFFF"/>
                </a:solidFill>
                <a:latin typeface="Segoe UI" pitchFamily="34" charset="0"/>
                <a:ea typeface="Segoe UI" pitchFamily="34" charset="-122"/>
                <a:cs typeface="Segoe UI" pitchFamily="34" charset="-120"/>
              </a:rPr>
              <a:t>83%</a:t>
            </a:r>
            <a:endParaRPr lang="en-US" sz="1700" dirty="0"/>
          </a:p>
        </p:txBody>
      </p:sp>
      <p:sp>
        <p:nvSpPr>
          <p:cNvPr id="12" name="Text 10"/>
          <p:cNvSpPr/>
          <p:nvPr/>
        </p:nvSpPr>
        <p:spPr>
          <a:xfrm>
            <a:off x="5120640" y="4617720"/>
            <a:ext cx="2057400" cy="365760"/>
          </a:xfrm>
          <a:prstGeom prst="rect">
            <a:avLst/>
          </a:prstGeom>
          <a:noFill/>
          <a:ln/>
        </p:spPr>
        <p:txBody>
          <a:bodyPr wrap="square" rtlCol="0" anchor="ctr"/>
          <a:lstStyle/>
          <a:p>
            <a:pPr marL="0" indent="0" algn="ctr">
              <a:buNone/>
            </a:pPr>
            <a:r>
              <a:rPr lang="en-US" sz="1000" dirty="0">
                <a:solidFill>
                  <a:srgbClr val="BEE3F8"/>
                </a:solidFill>
                <a:latin typeface="Segoe UI" pitchFamily="34" charset="0"/>
                <a:ea typeface="Segoe UI" pitchFamily="34" charset="-122"/>
                <a:cs typeface="Segoe UI" pitchFamily="34" charset="-120"/>
              </a:rPr>
              <a:t>canonical pathway</a:t>
            </a:r>
            <a:endParaRPr lang="en-US" sz="1000" dirty="0"/>
          </a:p>
        </p:txBody>
      </p:sp>
      <p:sp>
        <p:nvSpPr>
          <p:cNvPr id="13" name="Shape 11"/>
          <p:cNvSpPr/>
          <p:nvPr/>
        </p:nvSpPr>
        <p:spPr>
          <a:xfrm>
            <a:off x="7360920" y="3840480"/>
            <a:ext cx="2057400" cy="1371600"/>
          </a:xfrm>
          <a:prstGeom prst="roundRect">
            <a:avLst>
              <a:gd name="adj" fmla="val 5333"/>
            </a:avLst>
          </a:prstGeom>
          <a:solidFill>
            <a:srgbClr val="2C5282"/>
          </a:solidFill>
          <a:ln w="9525">
            <a:solidFill>
              <a:srgbClr val="63B3ED"/>
            </a:solidFill>
            <a:prstDash val="solid"/>
          </a:ln>
        </p:spPr>
        <p:txBody>
          <a:bodyPr/>
          <a:lstStyle/>
          <a:p>
            <a:endParaRPr lang="en-US"/>
          </a:p>
        </p:txBody>
      </p:sp>
      <p:sp>
        <p:nvSpPr>
          <p:cNvPr id="14" name="Text 12"/>
          <p:cNvSpPr/>
          <p:nvPr/>
        </p:nvSpPr>
        <p:spPr>
          <a:xfrm>
            <a:off x="7360920" y="4041648"/>
            <a:ext cx="2057400" cy="548640"/>
          </a:xfrm>
          <a:prstGeom prst="rect">
            <a:avLst/>
          </a:prstGeom>
          <a:noFill/>
          <a:ln/>
        </p:spPr>
        <p:txBody>
          <a:bodyPr wrap="square" rtlCol="0" anchor="ctr"/>
          <a:lstStyle/>
          <a:p>
            <a:pPr marL="0" indent="0" algn="ctr">
              <a:buNone/>
            </a:pPr>
            <a:r>
              <a:rPr lang="en-US" sz="1700" b="1" dirty="0">
                <a:solidFill>
                  <a:srgbClr val="FFFFFF"/>
                </a:solidFill>
                <a:latin typeface="Segoe UI" pitchFamily="34" charset="0"/>
                <a:ea typeface="Segoe UI" pitchFamily="34" charset="-122"/>
                <a:cs typeface="Segoe UI" pitchFamily="34" charset="-120"/>
              </a:rPr>
              <a:t>10d vs 10min</a:t>
            </a:r>
            <a:endParaRPr lang="en-US" sz="1700" dirty="0"/>
          </a:p>
        </p:txBody>
      </p:sp>
      <p:sp>
        <p:nvSpPr>
          <p:cNvPr id="15" name="Text 13"/>
          <p:cNvSpPr/>
          <p:nvPr/>
        </p:nvSpPr>
        <p:spPr>
          <a:xfrm>
            <a:off x="7360920" y="4617720"/>
            <a:ext cx="2057400" cy="365760"/>
          </a:xfrm>
          <a:prstGeom prst="rect">
            <a:avLst/>
          </a:prstGeom>
          <a:noFill/>
          <a:ln/>
        </p:spPr>
        <p:txBody>
          <a:bodyPr wrap="square" rtlCol="0" anchor="ctr"/>
          <a:lstStyle/>
          <a:p>
            <a:pPr marL="0" indent="0" algn="ctr">
              <a:buNone/>
            </a:pPr>
            <a:r>
              <a:rPr lang="en-US" sz="1000" dirty="0">
                <a:solidFill>
                  <a:srgbClr val="BEE3F8"/>
                </a:solidFill>
                <a:latin typeface="Segoe UI" pitchFamily="34" charset="0"/>
                <a:ea typeface="Segoe UI" pitchFamily="34" charset="-122"/>
                <a:cs typeface="Segoe UI" pitchFamily="34" charset="-120"/>
              </a:rPr>
              <a:t>mean vs median</a:t>
            </a:r>
            <a:endParaRPr lang="en-US" sz="1000" dirty="0"/>
          </a:p>
        </p:txBody>
      </p:sp>
      <p:sp>
        <p:nvSpPr>
          <p:cNvPr id="16" name="Shape 14"/>
          <p:cNvSpPr/>
          <p:nvPr/>
        </p:nvSpPr>
        <p:spPr>
          <a:xfrm>
            <a:off x="9601200" y="3840480"/>
            <a:ext cx="2057400" cy="1371600"/>
          </a:xfrm>
          <a:prstGeom prst="roundRect">
            <a:avLst>
              <a:gd name="adj" fmla="val 5333"/>
            </a:avLst>
          </a:prstGeom>
          <a:solidFill>
            <a:srgbClr val="2C5282"/>
          </a:solidFill>
          <a:ln w="9525">
            <a:solidFill>
              <a:srgbClr val="63B3ED"/>
            </a:solidFill>
            <a:prstDash val="solid"/>
          </a:ln>
        </p:spPr>
        <p:txBody>
          <a:bodyPr/>
          <a:lstStyle/>
          <a:p>
            <a:endParaRPr lang="en-US"/>
          </a:p>
        </p:txBody>
      </p:sp>
      <p:sp>
        <p:nvSpPr>
          <p:cNvPr id="17" name="Text 15"/>
          <p:cNvSpPr/>
          <p:nvPr/>
        </p:nvSpPr>
        <p:spPr>
          <a:xfrm>
            <a:off x="9601200" y="4041648"/>
            <a:ext cx="2057400" cy="548640"/>
          </a:xfrm>
          <a:prstGeom prst="rect">
            <a:avLst/>
          </a:prstGeom>
          <a:noFill/>
          <a:ln/>
        </p:spPr>
        <p:txBody>
          <a:bodyPr wrap="square" rtlCol="0" anchor="ctr"/>
          <a:lstStyle/>
          <a:p>
            <a:pPr marL="0" indent="0" algn="ctr">
              <a:buNone/>
            </a:pPr>
            <a:r>
              <a:rPr lang="en-US" sz="1700" b="1" dirty="0">
                <a:solidFill>
                  <a:srgbClr val="FFFFFF"/>
                </a:solidFill>
                <a:latin typeface="Segoe UI" pitchFamily="34" charset="0"/>
                <a:ea typeface="Segoe UI" pitchFamily="34" charset="-122"/>
                <a:cs typeface="Segoe UI" pitchFamily="34" charset="-120"/>
              </a:rPr>
              <a:t>16</a:t>
            </a:r>
            <a:endParaRPr lang="en-US" sz="1700" dirty="0"/>
          </a:p>
        </p:txBody>
      </p:sp>
      <p:sp>
        <p:nvSpPr>
          <p:cNvPr id="18" name="Text 16"/>
          <p:cNvSpPr/>
          <p:nvPr/>
        </p:nvSpPr>
        <p:spPr>
          <a:xfrm>
            <a:off x="9601200" y="4617720"/>
            <a:ext cx="2057400" cy="365760"/>
          </a:xfrm>
          <a:prstGeom prst="rect">
            <a:avLst/>
          </a:prstGeom>
          <a:noFill/>
          <a:ln/>
        </p:spPr>
        <p:txBody>
          <a:bodyPr wrap="square" rtlCol="0" anchor="ctr"/>
          <a:lstStyle/>
          <a:p>
            <a:pPr marL="0" indent="0" algn="ctr">
              <a:buNone/>
            </a:pPr>
            <a:r>
              <a:rPr lang="en-US" sz="1000" dirty="0">
                <a:solidFill>
                  <a:srgbClr val="BEE3F8"/>
                </a:solidFill>
                <a:latin typeface="Segoe UI" pitchFamily="34" charset="0"/>
                <a:ea typeface="Segoe UI" pitchFamily="34" charset="-122"/>
                <a:cs typeface="Segoe UI" pitchFamily="34" charset="-120"/>
              </a:rPr>
              <a:t>recommendations</a:t>
            </a:r>
            <a:endParaRPr lang="en-US" sz="1000" dirty="0"/>
          </a:p>
        </p:txBody>
      </p:sp>
      <p:sp>
        <p:nvSpPr>
          <p:cNvPr id="19" name="Text 17"/>
          <p:cNvSpPr/>
          <p:nvPr/>
        </p:nvSpPr>
        <p:spPr>
          <a:xfrm>
            <a:off x="822960" y="5760720"/>
            <a:ext cx="10515600" cy="365760"/>
          </a:xfrm>
          <a:prstGeom prst="rect">
            <a:avLst/>
          </a:prstGeom>
          <a:noFill/>
          <a:ln/>
        </p:spPr>
        <p:txBody>
          <a:bodyPr wrap="square" rtlCol="0" anchor="ctr"/>
          <a:lstStyle/>
          <a:p>
            <a:pPr marL="0" indent="0" algn="ctr">
              <a:buNone/>
            </a:pPr>
            <a:r>
              <a:rPr lang="en-US" sz="1200" dirty="0">
                <a:solidFill>
                  <a:srgbClr val="BEE3F8"/>
                </a:solidFill>
                <a:latin typeface="Segoe UI" pitchFamily="34" charset="0"/>
                <a:ea typeface="Segoe UI" pitchFamily="34" charset="-122"/>
                <a:cs typeface="Segoe UI" pitchFamily="34" charset="-120"/>
              </a:rPr>
              <a:t>Hina Farheen  |  Supervised by Dr. Tariq Mahmood  |  IBA Karachi  |  Fall 2025</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2845</TotalTime>
  <Words>8233</Words>
  <Application>Microsoft Office PowerPoint</Application>
  <PresentationFormat>Custom</PresentationFormat>
  <Paragraphs>355</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Hina Farheen</cp:lastModifiedBy>
  <cp:revision>3</cp:revision>
  <dcterms:created xsi:type="dcterms:W3CDTF">2026-07-08T06:51:39Z</dcterms:created>
  <dcterms:modified xsi:type="dcterms:W3CDTF">2026-07-10T06:30:16Z</dcterms:modified>
</cp:coreProperties>
</file>